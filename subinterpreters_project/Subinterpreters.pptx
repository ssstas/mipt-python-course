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5dc779695ec6256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5dc779695ec6256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0143910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0143910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01439101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01439101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01439101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01439101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01439101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b01439101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01439101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01439101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01439101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01439101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01439101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01439101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01439101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01439101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066010c6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066010c6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01439101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01439101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066010c6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066010c6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0143910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0143910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01439101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b01439101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066010c6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066010c6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01439101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01439101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066010c6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b066010c6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01439101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b01439101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01439101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01439101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066010c6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066010c6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01439101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b01439101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peps.python.org/pep-0554/" TargetMode="External"/><Relationship Id="rId4" Type="http://schemas.openxmlformats.org/officeDocument/2006/relationships/hyperlink" Target="https://peps.python.org/pep-0683/" TargetMode="External"/><Relationship Id="rId11" Type="http://schemas.openxmlformats.org/officeDocument/2006/relationships/hyperlink" Target="https://gist.github.com/sobolevn/149a461c629f6e03aef3a772c7422b2e" TargetMode="External"/><Relationship Id="rId10" Type="http://schemas.openxmlformats.org/officeDocument/2006/relationships/hyperlink" Target="https://youtu.be/VBiaNNpLzWA?si=yLqYuN3pbb5TpHGe" TargetMode="External"/><Relationship Id="rId9" Type="http://schemas.openxmlformats.org/officeDocument/2006/relationships/hyperlink" Target="https://habr.com/ru/companies/timeweb/articles/922314/" TargetMode="External"/><Relationship Id="rId5" Type="http://schemas.openxmlformats.org/officeDocument/2006/relationships/hyperlink" Target="https://peps.python.org/pep-0684/" TargetMode="External"/><Relationship Id="rId6" Type="http://schemas.openxmlformats.org/officeDocument/2006/relationships/hyperlink" Target="https://peps.python.org/pep-0687/" TargetMode="External"/><Relationship Id="rId7" Type="http://schemas.openxmlformats.org/officeDocument/2006/relationships/hyperlink" Target="https://peps.python.org/pep-0734/" TargetMode="External"/><Relationship Id="rId8" Type="http://schemas.openxmlformats.org/officeDocument/2006/relationships/hyperlink" Target="https://docs.python.org/3/library/concurrent.interpreters.html#module-concurrent.interpreter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t>Subinterpreters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Definition</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Subinterpreters are isolated copies of the CPython interpreter running within a single process. Each subinterpreter has its own state, including modules, global variables, and GIL (Global Interpreter Lock). They also run in their own isolated sections of the main </a:t>
            </a:r>
            <a:r>
              <a:rPr lang="ru"/>
              <a:t>processes</a:t>
            </a:r>
            <a:r>
              <a:rPr lang="ru"/>
              <a:t> shared memory.</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lang="ru"/>
              <a:t>G</a:t>
            </a:r>
            <a:r>
              <a:rPr lang="ru"/>
              <a:t>oal: help achieve true parallelism without the overhead of creating separate processes, while maintaining context isolation.</a:t>
            </a:r>
            <a:endParaRPr/>
          </a:p>
        </p:txBody>
      </p:sp>
      <p:sp>
        <p:nvSpPr>
          <p:cNvPr id="61" name="Google Shape;6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Development history</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1997 - the first subinterpreters in CPython. Subinterpreters appeared almost at the same time as early versions of CPython as an internal mechanism. Initially, they were not intended for parallelism, but </a:t>
            </a:r>
            <a:r>
              <a:rPr b="1" lang="ru"/>
              <a:t>for </a:t>
            </a:r>
            <a:r>
              <a:rPr b="1" lang="ru"/>
              <a:t>isolating execution environments</a:t>
            </a:r>
            <a:r>
              <a:rPr lang="ru"/>
              <a:t>.</a:t>
            </a:r>
            <a:endParaRPr/>
          </a:p>
          <a:p>
            <a:pPr indent="-342900" lvl="0" marL="457200" rtl="0" algn="l">
              <a:spcBef>
                <a:spcPts val="0"/>
              </a:spcBef>
              <a:spcAft>
                <a:spcPts val="0"/>
              </a:spcAft>
              <a:buSzPts val="1800"/>
              <a:buChar char="●"/>
            </a:pPr>
            <a:r>
              <a:rPr lang="ru"/>
              <a:t>Sep. 2017 - PEP 554 introduced the idea of a public </a:t>
            </a:r>
            <a:r>
              <a:rPr b="1" lang="ru"/>
              <a:t>stdlib API </a:t>
            </a:r>
            <a:r>
              <a:rPr lang="ru"/>
              <a:t>for subinterpreters with message-passing communication, laying the groundwork for later isolation and per-interpreter GIL developments.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68" name="Google Shape;6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Development history</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Feb. 2022 - PEP 683 introduced </a:t>
            </a:r>
            <a:r>
              <a:rPr b="1" lang="ru"/>
              <a:t>immortal objects</a:t>
            </a:r>
            <a:r>
              <a:rPr lang="ru"/>
              <a:t> in CPython, making selected objects truly immutable by fixing their reference count, thereby reducing refcount overhead and enabling safer and more scalable designs such as per-interpreter GILs. </a:t>
            </a:r>
            <a:endParaRPr/>
          </a:p>
          <a:p>
            <a:pPr indent="-342900" lvl="0" marL="457200" rtl="0" algn="l">
              <a:spcBef>
                <a:spcPts val="0"/>
              </a:spcBef>
              <a:spcAft>
                <a:spcPts val="0"/>
              </a:spcAft>
              <a:buSzPts val="1800"/>
              <a:buChar char="●"/>
            </a:pPr>
            <a:r>
              <a:rPr lang="ru"/>
              <a:t>Mar. 2022 - PEP 684 introduced a </a:t>
            </a:r>
            <a:r>
              <a:rPr b="1" lang="ru"/>
              <a:t>per-interpreter GIL</a:t>
            </a:r>
            <a:r>
              <a:rPr lang="ru"/>
              <a:t> by isolating CPython runtime state, enabling </a:t>
            </a:r>
            <a:r>
              <a:rPr b="1" lang="ru"/>
              <a:t>true multi-core parallelism</a:t>
            </a:r>
            <a:r>
              <a:rPr lang="ru"/>
              <a:t> between subinterpreters while preventing unsafe sharing of global state.</a:t>
            </a:r>
            <a:endParaRPr/>
          </a:p>
          <a:p>
            <a:pPr indent="-342900" lvl="0" marL="457200" rtl="0" algn="l">
              <a:spcBef>
                <a:spcPts val="0"/>
              </a:spcBef>
              <a:spcAft>
                <a:spcPts val="0"/>
              </a:spcAft>
              <a:buSzPts val="1800"/>
              <a:buChar char="●"/>
            </a:pPr>
            <a:r>
              <a:rPr lang="ru"/>
              <a:t>Apr. 2022 - PEP 687 completed stdlib module isolation by eliminating shared global state and enabling safe multi-interpreter execution.</a:t>
            </a:r>
            <a:endParaRPr/>
          </a:p>
        </p:txBody>
      </p:sp>
      <p:sp>
        <p:nvSpPr>
          <p:cNvPr id="75" name="Google Shape;7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Development history</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Nov. 2023 - PEP 734 introduced a </a:t>
            </a:r>
            <a:r>
              <a:rPr b="1" lang="ru"/>
              <a:t>public standard-library API (interpreters)</a:t>
            </a:r>
            <a:r>
              <a:rPr lang="ru"/>
              <a:t> for creating, managing, and running multiple isolated subinterpreters with message-based communication and an </a:t>
            </a:r>
            <a:r>
              <a:rPr lang="ru"/>
              <a:t>InterpreterPoolExecutor.</a:t>
            </a:r>
            <a:r>
              <a:rPr lang="ru"/>
              <a:t> </a:t>
            </a:r>
            <a:endParaRPr/>
          </a:p>
          <a:p>
            <a:pPr indent="-342900" lvl="0" marL="457200" rtl="0" algn="l">
              <a:spcBef>
                <a:spcPts val="0"/>
              </a:spcBef>
              <a:spcAft>
                <a:spcPts val="0"/>
              </a:spcAft>
              <a:buSzPts val="1800"/>
              <a:buChar char="●"/>
            </a:pPr>
            <a:r>
              <a:rPr lang="ru"/>
              <a:t>Jun. 2025 - </a:t>
            </a:r>
            <a:r>
              <a:rPr lang="ru"/>
              <a:t>concurrent.interpreters (Python 3.14)</a:t>
            </a:r>
            <a:r>
              <a:rPr lang="ru"/>
              <a:t> provides a </a:t>
            </a:r>
            <a:r>
              <a:rPr b="1" lang="ru"/>
              <a:t>high-level standard-library API</a:t>
            </a:r>
            <a:r>
              <a:rPr lang="ru"/>
              <a:t> for creating and managing isolated subinterpreters and, when combined with threads, enables true multi-core parallelism via per-interpreter GILs.</a:t>
            </a:r>
            <a:endParaRPr/>
          </a:p>
        </p:txBody>
      </p:sp>
      <p:sp>
        <p:nvSpPr>
          <p:cNvPr id="82" name="Google Shape;8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H</a:t>
            </a:r>
            <a:r>
              <a:rPr lang="ru"/>
              <a:t>ow parallelism works</a:t>
            </a:r>
            <a:endParaRPr/>
          </a:p>
        </p:txBody>
      </p:sp>
      <p:pic>
        <p:nvPicPr>
          <p:cNvPr id="88" name="Google Shape;88;p18"/>
          <p:cNvPicPr preferRelativeResize="0"/>
          <p:nvPr/>
        </p:nvPicPr>
        <p:blipFill>
          <a:blip r:embed="rId3">
            <a:alphaModFix/>
          </a:blip>
          <a:stretch>
            <a:fillRect/>
          </a:stretch>
        </p:blipFill>
        <p:spPr>
          <a:xfrm>
            <a:off x="2121675" y="1017725"/>
            <a:ext cx="4900650" cy="3820975"/>
          </a:xfrm>
          <a:prstGeom prst="rect">
            <a:avLst/>
          </a:prstGeom>
          <a:noFill/>
          <a:ln>
            <a:noFill/>
          </a:ln>
        </p:spPr>
      </p:pic>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H</a:t>
            </a:r>
            <a:r>
              <a:rPr lang="ru"/>
              <a:t>ow to run code on a subinterpreter</a:t>
            </a:r>
            <a:endParaRPr/>
          </a:p>
        </p:txBody>
      </p:sp>
      <p:sp>
        <p:nvSpPr>
          <p:cNvPr id="95" name="Google Shape;95;p19"/>
          <p:cNvSpPr txBox="1"/>
          <p:nvPr>
            <p:ph idx="1" type="body"/>
          </p:nvPr>
        </p:nvSpPr>
        <p:spPr>
          <a:xfrm>
            <a:off x="356375" y="1152475"/>
            <a:ext cx="3698700" cy="2238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lang="ru" sz="1050">
                <a:solidFill>
                  <a:srgbClr val="B5200D"/>
                </a:solidFill>
                <a:highlight>
                  <a:srgbClr val="FFFFFF"/>
                </a:highlight>
                <a:latin typeface="Courier New"/>
                <a:ea typeface="Courier New"/>
                <a:cs typeface="Courier New"/>
                <a:sym typeface="Courier New"/>
              </a:rPr>
              <a:t>from</a:t>
            </a:r>
            <a:r>
              <a:rPr lang="ru" sz="1050">
                <a:solidFill>
                  <a:srgbClr val="292929"/>
                </a:solidFill>
                <a:highlight>
                  <a:srgbClr val="FFFFFF"/>
                </a:highlight>
                <a:latin typeface="Courier New"/>
                <a:ea typeface="Courier New"/>
                <a:cs typeface="Courier New"/>
                <a:sym typeface="Courier New"/>
              </a:rPr>
              <a:t> concurrent </a:t>
            </a:r>
            <a:r>
              <a:rPr lang="ru" sz="1050">
                <a:solidFill>
                  <a:srgbClr val="B5200D"/>
                </a:solidFill>
                <a:highlight>
                  <a:srgbClr val="FFFFFF"/>
                </a:highlight>
                <a:latin typeface="Courier New"/>
                <a:ea typeface="Courier New"/>
                <a:cs typeface="Courier New"/>
                <a:sym typeface="Courier New"/>
              </a:rPr>
              <a:t>import</a:t>
            </a:r>
            <a:r>
              <a:rPr lang="ru" sz="1050">
                <a:solidFill>
                  <a:srgbClr val="292929"/>
                </a:solidFill>
                <a:highlight>
                  <a:srgbClr val="FFFFFF"/>
                </a:highlight>
                <a:latin typeface="Courier New"/>
                <a:ea typeface="Courier New"/>
                <a:cs typeface="Courier New"/>
                <a:sym typeface="Courier New"/>
              </a:rPr>
              <a:t> interpreters</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interp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interpreters.create()</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interp.exec(</a:t>
            </a:r>
            <a:r>
              <a:rPr lang="ru" sz="1050">
                <a:solidFill>
                  <a:srgbClr val="0F4A85"/>
                </a:solidFill>
                <a:highlight>
                  <a:srgbClr val="FFFFFF"/>
                </a:highlight>
                <a:latin typeface="Courier New"/>
                <a:ea typeface="Courier New"/>
                <a:cs typeface="Courier New"/>
                <a:sym typeface="Courier New"/>
              </a:rPr>
              <a:t>"print('Hello, world!')"</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interp.close()</a:t>
            </a:r>
            <a:endParaRPr/>
          </a:p>
        </p:txBody>
      </p:sp>
      <p:sp>
        <p:nvSpPr>
          <p:cNvPr id="96" name="Google Shape;96;p19"/>
          <p:cNvSpPr txBox="1"/>
          <p:nvPr>
            <p:ph idx="1" type="body"/>
          </p:nvPr>
        </p:nvSpPr>
        <p:spPr>
          <a:xfrm>
            <a:off x="4238100" y="1152475"/>
            <a:ext cx="4594200" cy="2238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lnSpc>
                <a:spcPct val="135714"/>
              </a:lnSpc>
              <a:spcBef>
                <a:spcPts val="0"/>
              </a:spcBef>
              <a:spcAft>
                <a:spcPts val="0"/>
              </a:spcAft>
              <a:buNone/>
            </a:pPr>
            <a:r>
              <a:rPr lang="ru" sz="1050">
                <a:solidFill>
                  <a:srgbClr val="B5200D"/>
                </a:solidFill>
                <a:highlight>
                  <a:srgbClr val="FFFFFF"/>
                </a:highlight>
                <a:latin typeface="Courier New"/>
                <a:ea typeface="Courier New"/>
                <a:cs typeface="Courier New"/>
                <a:sym typeface="Courier New"/>
              </a:rPr>
              <a:t>from</a:t>
            </a:r>
            <a:r>
              <a:rPr lang="ru" sz="1050">
                <a:solidFill>
                  <a:srgbClr val="292929"/>
                </a:solidFill>
                <a:highlight>
                  <a:srgbClr val="FFFFFF"/>
                </a:highlight>
                <a:latin typeface="Courier New"/>
                <a:ea typeface="Courier New"/>
                <a:cs typeface="Courier New"/>
                <a:sym typeface="Courier New"/>
              </a:rPr>
              <a:t> concurrent </a:t>
            </a:r>
            <a:r>
              <a:rPr lang="ru" sz="1050">
                <a:solidFill>
                  <a:srgbClr val="B5200D"/>
                </a:solidFill>
                <a:highlight>
                  <a:srgbClr val="FFFFFF"/>
                </a:highlight>
                <a:latin typeface="Courier New"/>
                <a:ea typeface="Courier New"/>
                <a:cs typeface="Courier New"/>
                <a:sym typeface="Courier New"/>
              </a:rPr>
              <a:t>import</a:t>
            </a:r>
            <a:r>
              <a:rPr lang="ru" sz="1050">
                <a:solidFill>
                  <a:srgbClr val="292929"/>
                </a:solidFill>
                <a:highlight>
                  <a:srgbClr val="FFFFFF"/>
                </a:highlight>
                <a:latin typeface="Courier New"/>
                <a:ea typeface="Courier New"/>
                <a:cs typeface="Courier New"/>
                <a:sym typeface="Courier New"/>
              </a:rPr>
              <a:t> interpreters</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0F4A85"/>
                </a:solidFill>
                <a:highlight>
                  <a:srgbClr val="FFFFFF"/>
                </a:highlight>
                <a:latin typeface="Courier New"/>
                <a:ea typeface="Courier New"/>
                <a:cs typeface="Courier New"/>
                <a:sym typeface="Courier New"/>
              </a:rPr>
              <a:t>def</a:t>
            </a: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func</a:t>
            </a:r>
            <a:r>
              <a:rPr lang="ru" sz="1050">
                <a:solidFill>
                  <a:srgbClr val="292929"/>
                </a:solidFill>
                <a:highlight>
                  <a:srgbClr val="FFFFFF"/>
                </a:highlight>
                <a:latin typeface="Courier New"/>
                <a:ea typeface="Courier New"/>
                <a:cs typeface="Courier New"/>
                <a:sym typeface="Courier New"/>
              </a:rPr>
              <a:t>(</a:t>
            </a:r>
            <a:r>
              <a:rPr lang="ru" sz="1050">
                <a:solidFill>
                  <a:srgbClr val="001080"/>
                </a:solidFill>
                <a:highlight>
                  <a:srgbClr val="FFFFFF"/>
                </a:highlight>
                <a:latin typeface="Courier New"/>
                <a:ea typeface="Courier New"/>
                <a:cs typeface="Courier New"/>
                <a:sym typeface="Courier New"/>
              </a:rPr>
              <a:t>arg1</a:t>
            </a:r>
            <a:r>
              <a:rPr lang="ru" sz="1050">
                <a:solidFill>
                  <a:srgbClr val="292929"/>
                </a:solidFill>
                <a:highlight>
                  <a:srgbClr val="FFFFFF"/>
                </a:highlight>
                <a:latin typeface="Courier New"/>
                <a:ea typeface="Courier New"/>
                <a:cs typeface="Courier New"/>
                <a:sym typeface="Courier New"/>
              </a:rPr>
              <a:t>: </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 </a:t>
            </a:r>
            <a:r>
              <a:rPr lang="ru" sz="1050">
                <a:solidFill>
                  <a:srgbClr val="001080"/>
                </a:solidFill>
                <a:highlight>
                  <a:srgbClr val="FFFFFF"/>
                </a:highlight>
                <a:latin typeface="Courier New"/>
                <a:ea typeface="Courier New"/>
                <a:cs typeface="Courier New"/>
                <a:sym typeface="Courier New"/>
              </a:rPr>
              <a:t>arg2</a:t>
            </a:r>
            <a:r>
              <a:rPr lang="ru" sz="1050">
                <a:solidFill>
                  <a:srgbClr val="292929"/>
                </a:solidFill>
                <a:highlight>
                  <a:srgbClr val="FFFFFF"/>
                </a:highlight>
                <a:latin typeface="Courier New"/>
                <a:ea typeface="Courier New"/>
                <a:cs typeface="Courier New"/>
                <a:sym typeface="Courier New"/>
              </a:rPr>
              <a:t>: </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 -&gt; </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    res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arg1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arg2</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    </a:t>
            </a:r>
            <a:r>
              <a:rPr lang="ru" sz="1050">
                <a:solidFill>
                  <a:srgbClr val="B5200D"/>
                </a:solidFill>
                <a:highlight>
                  <a:srgbClr val="FFFFFF"/>
                </a:highlight>
                <a:latin typeface="Courier New"/>
                <a:ea typeface="Courier New"/>
                <a:cs typeface="Courier New"/>
                <a:sym typeface="Courier New"/>
              </a:rPr>
              <a:t>return</a:t>
            </a:r>
            <a:r>
              <a:rPr lang="ru" sz="1050">
                <a:solidFill>
                  <a:srgbClr val="292929"/>
                </a:solidFill>
                <a:highlight>
                  <a:srgbClr val="FFFFFF"/>
                </a:highlight>
                <a:latin typeface="Courier New"/>
                <a:ea typeface="Courier New"/>
                <a:cs typeface="Courier New"/>
                <a:sym typeface="Courier New"/>
              </a:rPr>
              <a:t> res</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interp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interpreters.create()</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a, b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t>
            </a:r>
            <a:r>
              <a:rPr lang="ru" sz="1050">
                <a:solidFill>
                  <a:srgbClr val="096D48"/>
                </a:solidFill>
                <a:highlight>
                  <a:srgbClr val="FFFFFF"/>
                </a:highlight>
                <a:latin typeface="Courier New"/>
                <a:ea typeface="Courier New"/>
                <a:cs typeface="Courier New"/>
                <a:sym typeface="Courier New"/>
              </a:rPr>
              <a:t>1</a:t>
            </a:r>
            <a:r>
              <a:rPr lang="ru" sz="1050">
                <a:solidFill>
                  <a:srgbClr val="292929"/>
                </a:solidFill>
                <a:highlight>
                  <a:srgbClr val="FFFFFF"/>
                </a:highlight>
                <a:latin typeface="Courier New"/>
                <a:ea typeface="Courier New"/>
                <a:cs typeface="Courier New"/>
                <a:sym typeface="Courier New"/>
              </a:rPr>
              <a:t>, </a:t>
            </a:r>
            <a:r>
              <a:rPr lang="ru" sz="1050">
                <a:solidFill>
                  <a:srgbClr val="096D48"/>
                </a:solidFill>
                <a:highlight>
                  <a:srgbClr val="FFFFFF"/>
                </a:highlight>
                <a:latin typeface="Courier New"/>
                <a:ea typeface="Courier New"/>
                <a:cs typeface="Courier New"/>
                <a:sym typeface="Courier New"/>
              </a:rPr>
              <a:t>2</a:t>
            </a:r>
            <a:endParaRPr sz="1050">
              <a:solidFill>
                <a:srgbClr val="096D48"/>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c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interp.call(func, a, b)</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5E2CBC"/>
                </a:solidFill>
                <a:highlight>
                  <a:srgbClr val="FFFFFF"/>
                </a:highlight>
                <a:latin typeface="Courier New"/>
                <a:ea typeface="Courier New"/>
                <a:cs typeface="Courier New"/>
                <a:sym typeface="Courier New"/>
              </a:rPr>
              <a:t>print</a:t>
            </a:r>
            <a:r>
              <a:rPr lang="ru" sz="1050">
                <a:solidFill>
                  <a:srgbClr val="292929"/>
                </a:solidFill>
                <a:highlight>
                  <a:srgbClr val="FFFFFF"/>
                </a:highlight>
                <a:latin typeface="Courier New"/>
                <a:ea typeface="Courier New"/>
                <a:cs typeface="Courier New"/>
                <a:sym typeface="Courier New"/>
              </a:rPr>
              <a:t>(c)</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interp.close()</a:t>
            </a:r>
            <a:endParaRPr/>
          </a:p>
        </p:txBody>
      </p:sp>
      <p:sp>
        <p:nvSpPr>
          <p:cNvPr id="97" name="Google Shape;97;p19"/>
          <p:cNvSpPr txBox="1"/>
          <p:nvPr>
            <p:ph idx="1" type="body"/>
          </p:nvPr>
        </p:nvSpPr>
        <p:spPr>
          <a:xfrm>
            <a:off x="356375" y="3525225"/>
            <a:ext cx="3698700" cy="14931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1200"/>
              </a:spcAft>
              <a:buClr>
                <a:schemeClr val="dk1"/>
              </a:buClr>
              <a:buSzPct val="63152"/>
              <a:buFont typeface="Arial"/>
              <a:buNone/>
            </a:pPr>
            <a:r>
              <a:rPr b="1" lang="ru" sz="1741"/>
              <a:t>Interpreter.exec()</a:t>
            </a:r>
            <a:r>
              <a:rPr lang="ru" sz="1741"/>
              <a:t> executes the given source code in the interpreter (in the current OS thread), using its __main__ module. It doesn’t return anything. The code running in the current OS thread (a different interpreter) is effectively paused until </a:t>
            </a:r>
            <a:r>
              <a:rPr b="1" lang="ru" sz="1741"/>
              <a:t>Interpreter.exec()</a:t>
            </a:r>
            <a:r>
              <a:rPr lang="ru" sz="1741"/>
              <a:t> finishes.</a:t>
            </a:r>
            <a:endParaRPr/>
          </a:p>
        </p:txBody>
      </p:sp>
      <p:sp>
        <p:nvSpPr>
          <p:cNvPr id="98" name="Google Shape;98;p19"/>
          <p:cNvSpPr txBox="1"/>
          <p:nvPr>
            <p:ph idx="1" type="body"/>
          </p:nvPr>
        </p:nvSpPr>
        <p:spPr>
          <a:xfrm>
            <a:off x="4238100" y="3525225"/>
            <a:ext cx="4594200" cy="149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b="1" lang="ru" sz="1200"/>
              <a:t>Interpreter.call()</a:t>
            </a:r>
            <a:r>
              <a:rPr lang="ru" sz="1200"/>
              <a:t> runs the callable object in the interpreter (in the current OS thread). Return the result of calling running the given function. If the callable raises an exception then it gets propagated as an </a:t>
            </a:r>
            <a:r>
              <a:rPr b="1" lang="ru" sz="1200"/>
              <a:t>ExecutionFailed </a:t>
            </a:r>
            <a:r>
              <a:rPr lang="ru" sz="1200"/>
              <a:t>exception, in the same way as </a:t>
            </a:r>
            <a:r>
              <a:rPr b="1" lang="ru" sz="1200"/>
              <a:t>Interpreter.exec()</a:t>
            </a:r>
            <a:r>
              <a:rPr lang="ru" sz="1200"/>
              <a:t>.</a:t>
            </a:r>
            <a:endParaRPr sz="1200"/>
          </a:p>
        </p:txBody>
      </p:sp>
      <p:sp>
        <p:nvSpPr>
          <p:cNvPr id="99" name="Google Shape;9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How to run code on a subinterpreter in a new thread</a:t>
            </a:r>
            <a:endParaRPr/>
          </a:p>
        </p:txBody>
      </p:sp>
      <p:sp>
        <p:nvSpPr>
          <p:cNvPr id="105" name="Google Shape;105;p20"/>
          <p:cNvSpPr txBox="1"/>
          <p:nvPr>
            <p:ph idx="1" type="body"/>
          </p:nvPr>
        </p:nvSpPr>
        <p:spPr>
          <a:xfrm>
            <a:off x="513975" y="4074475"/>
            <a:ext cx="4594200" cy="8511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Clr>
                <a:schemeClr val="dk1"/>
              </a:buClr>
              <a:buSzPts val="935"/>
              <a:buFont typeface="Arial"/>
              <a:buNone/>
            </a:pPr>
            <a:r>
              <a:rPr b="1" lang="ru" sz="1430"/>
              <a:t>I</a:t>
            </a:r>
            <a:r>
              <a:rPr b="1" lang="ru" sz="1430"/>
              <a:t>nterpreter.call_in_thread()</a:t>
            </a:r>
            <a:r>
              <a:rPr lang="ru" sz="1430"/>
              <a:t> runs the given function in the interpreter (in a new thread). Function return values are discarded.</a:t>
            </a:r>
            <a:endParaRPr sz="1430"/>
          </a:p>
        </p:txBody>
      </p:sp>
      <p:sp>
        <p:nvSpPr>
          <p:cNvPr id="106" name="Google Shape;106;p20"/>
          <p:cNvSpPr txBox="1"/>
          <p:nvPr>
            <p:ph idx="1" type="body"/>
          </p:nvPr>
        </p:nvSpPr>
        <p:spPr>
          <a:xfrm>
            <a:off x="513975" y="1085100"/>
            <a:ext cx="4594200" cy="2922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lnSpc>
                <a:spcPct val="135714"/>
              </a:lnSpc>
              <a:spcBef>
                <a:spcPts val="0"/>
              </a:spcBef>
              <a:spcAft>
                <a:spcPts val="0"/>
              </a:spcAft>
              <a:buNone/>
            </a:pPr>
            <a:r>
              <a:rPr lang="ru" sz="1050">
                <a:solidFill>
                  <a:srgbClr val="B5200D"/>
                </a:solidFill>
                <a:highlight>
                  <a:srgbClr val="FFFFFF"/>
                </a:highlight>
                <a:latin typeface="Courier New"/>
                <a:ea typeface="Courier New"/>
                <a:cs typeface="Courier New"/>
                <a:sym typeface="Courier New"/>
              </a:rPr>
              <a:t>from</a:t>
            </a:r>
            <a:r>
              <a:rPr lang="ru" sz="1050">
                <a:solidFill>
                  <a:srgbClr val="292929"/>
                </a:solidFill>
                <a:highlight>
                  <a:srgbClr val="FFFFFF"/>
                </a:highlight>
                <a:latin typeface="Courier New"/>
                <a:ea typeface="Courier New"/>
                <a:cs typeface="Courier New"/>
                <a:sym typeface="Courier New"/>
              </a:rPr>
              <a:t> concurrent </a:t>
            </a:r>
            <a:r>
              <a:rPr lang="ru" sz="1050">
                <a:solidFill>
                  <a:srgbClr val="B5200D"/>
                </a:solidFill>
                <a:highlight>
                  <a:srgbClr val="FFFFFF"/>
                </a:highlight>
                <a:latin typeface="Courier New"/>
                <a:ea typeface="Courier New"/>
                <a:cs typeface="Courier New"/>
                <a:sym typeface="Courier New"/>
              </a:rPr>
              <a:t>import</a:t>
            </a:r>
            <a:r>
              <a:rPr lang="ru" sz="1050">
                <a:solidFill>
                  <a:srgbClr val="292929"/>
                </a:solidFill>
                <a:highlight>
                  <a:srgbClr val="FFFFFF"/>
                </a:highlight>
                <a:latin typeface="Courier New"/>
                <a:ea typeface="Courier New"/>
                <a:cs typeface="Courier New"/>
                <a:sym typeface="Courier New"/>
              </a:rPr>
              <a:t> interpreters</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0F4A85"/>
                </a:solidFill>
                <a:highlight>
                  <a:srgbClr val="FFFFFF"/>
                </a:highlight>
                <a:latin typeface="Courier New"/>
                <a:ea typeface="Courier New"/>
                <a:cs typeface="Courier New"/>
                <a:sym typeface="Courier New"/>
              </a:rPr>
              <a:t>def</a:t>
            </a: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func</a:t>
            </a:r>
            <a:r>
              <a:rPr lang="ru" sz="1050">
                <a:solidFill>
                  <a:srgbClr val="292929"/>
                </a:solidFill>
                <a:highlight>
                  <a:srgbClr val="FFFFFF"/>
                </a:highlight>
                <a:latin typeface="Courier New"/>
                <a:ea typeface="Courier New"/>
                <a:cs typeface="Courier New"/>
                <a:sym typeface="Courier New"/>
              </a:rPr>
              <a:t>(</a:t>
            </a:r>
            <a:r>
              <a:rPr lang="ru" sz="1050">
                <a:solidFill>
                  <a:srgbClr val="001080"/>
                </a:solidFill>
                <a:highlight>
                  <a:srgbClr val="FFFFFF"/>
                </a:highlight>
                <a:latin typeface="Courier New"/>
                <a:ea typeface="Courier New"/>
                <a:cs typeface="Courier New"/>
                <a:sym typeface="Courier New"/>
              </a:rPr>
              <a:t>arg1</a:t>
            </a:r>
            <a:r>
              <a:rPr lang="ru" sz="1050">
                <a:solidFill>
                  <a:srgbClr val="292929"/>
                </a:solidFill>
                <a:highlight>
                  <a:srgbClr val="FFFFFF"/>
                </a:highlight>
                <a:latin typeface="Courier New"/>
                <a:ea typeface="Courier New"/>
                <a:cs typeface="Courier New"/>
                <a:sym typeface="Courier New"/>
              </a:rPr>
              <a:t>: </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 </a:t>
            </a:r>
            <a:r>
              <a:rPr lang="ru" sz="1050">
                <a:solidFill>
                  <a:srgbClr val="001080"/>
                </a:solidFill>
                <a:highlight>
                  <a:srgbClr val="FFFFFF"/>
                </a:highlight>
                <a:latin typeface="Courier New"/>
                <a:ea typeface="Courier New"/>
                <a:cs typeface="Courier New"/>
                <a:sym typeface="Courier New"/>
              </a:rPr>
              <a:t>arg2</a:t>
            </a:r>
            <a:r>
              <a:rPr lang="ru" sz="1050">
                <a:solidFill>
                  <a:srgbClr val="292929"/>
                </a:solidFill>
                <a:highlight>
                  <a:srgbClr val="FFFFFF"/>
                </a:highlight>
                <a:latin typeface="Courier New"/>
                <a:ea typeface="Courier New"/>
                <a:cs typeface="Courier New"/>
                <a:sym typeface="Courier New"/>
              </a:rPr>
              <a:t>: </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 -&gt; </a:t>
            </a:r>
            <a:r>
              <a:rPr lang="ru" sz="1050">
                <a:solidFill>
                  <a:srgbClr val="0F4A85"/>
                </a:solidFill>
                <a:highlight>
                  <a:srgbClr val="FFFFFF"/>
                </a:highlight>
                <a:latin typeface="Courier New"/>
                <a:ea typeface="Courier New"/>
                <a:cs typeface="Courier New"/>
                <a:sym typeface="Courier New"/>
              </a:rPr>
              <a:t>None</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    res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arg1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arg2</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print</a:t>
            </a:r>
            <a:r>
              <a:rPr lang="ru" sz="1050">
                <a:solidFill>
                  <a:srgbClr val="292929"/>
                </a:solidFill>
                <a:highlight>
                  <a:srgbClr val="FFFFFF"/>
                </a:highlight>
                <a:latin typeface="Courier New"/>
                <a:ea typeface="Courier New"/>
                <a:cs typeface="Courier New"/>
                <a:sym typeface="Courier New"/>
              </a:rPr>
              <a:t>(res)</a:t>
            </a:r>
            <a:endParaRPr sz="1050">
              <a:solidFill>
                <a:srgbClr val="0F4A8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interp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interpreters.create()</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a, b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t>
            </a:r>
            <a:r>
              <a:rPr lang="ru" sz="1050">
                <a:solidFill>
                  <a:srgbClr val="096D48"/>
                </a:solidFill>
                <a:highlight>
                  <a:srgbClr val="FFFFFF"/>
                </a:highlight>
                <a:latin typeface="Courier New"/>
                <a:ea typeface="Courier New"/>
                <a:cs typeface="Courier New"/>
                <a:sym typeface="Courier New"/>
              </a:rPr>
              <a:t>1</a:t>
            </a:r>
            <a:r>
              <a:rPr lang="ru" sz="1050">
                <a:solidFill>
                  <a:srgbClr val="292929"/>
                </a:solidFill>
                <a:highlight>
                  <a:srgbClr val="FFFFFF"/>
                </a:highlight>
                <a:latin typeface="Courier New"/>
                <a:ea typeface="Courier New"/>
                <a:cs typeface="Courier New"/>
                <a:sym typeface="Courier New"/>
              </a:rPr>
              <a:t>, </a:t>
            </a:r>
            <a:r>
              <a:rPr lang="ru" sz="1050">
                <a:solidFill>
                  <a:srgbClr val="096D48"/>
                </a:solidFill>
                <a:highlight>
                  <a:srgbClr val="FFFFFF"/>
                </a:highlight>
                <a:latin typeface="Courier New"/>
                <a:ea typeface="Courier New"/>
                <a:cs typeface="Courier New"/>
                <a:sym typeface="Courier New"/>
              </a:rPr>
              <a:t>2</a:t>
            </a:r>
            <a:endParaRPr sz="1050">
              <a:solidFill>
                <a:srgbClr val="096D48"/>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new_thread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interp.call_in_thread(func, a, b)</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new_thread.join()</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interp.close()</a:t>
            </a:r>
            <a:endParaRPr sz="1050">
              <a:solidFill>
                <a:srgbClr val="292929"/>
              </a:solidFill>
              <a:highlight>
                <a:srgbClr val="FFFFFF"/>
              </a:highlight>
              <a:latin typeface="Courier New"/>
              <a:ea typeface="Courier New"/>
              <a:cs typeface="Courier New"/>
              <a:sym typeface="Courier New"/>
            </a:endParaRPr>
          </a:p>
        </p:txBody>
      </p:sp>
      <p:sp>
        <p:nvSpPr>
          <p:cNvPr id="107" name="Google Shape;107;p20"/>
          <p:cNvSpPr txBox="1"/>
          <p:nvPr>
            <p:ph idx="1" type="body"/>
          </p:nvPr>
        </p:nvSpPr>
        <p:spPr>
          <a:xfrm>
            <a:off x="5241750" y="1085100"/>
            <a:ext cx="3359700" cy="1666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ru" sz="1448"/>
              <a:t>Interpreter.call_in_thread()</a:t>
            </a:r>
            <a:r>
              <a:rPr lang="ru" sz="1448"/>
              <a:t> is roughly equivalent to:</a:t>
            </a:r>
            <a:endParaRPr sz="950">
              <a:solidFill>
                <a:srgbClr val="0F4A85"/>
              </a:solidFill>
              <a:highlight>
                <a:srgbClr val="FFFFFF"/>
              </a:highlight>
              <a:latin typeface="Courier New"/>
              <a:ea typeface="Courier New"/>
              <a:cs typeface="Courier New"/>
              <a:sym typeface="Courier New"/>
            </a:endParaRPr>
          </a:p>
          <a:p>
            <a:pPr indent="0" lvl="0" marL="0" rtl="0" algn="l">
              <a:lnSpc>
                <a:spcPct val="135714"/>
              </a:lnSpc>
              <a:spcBef>
                <a:spcPts val="1200"/>
              </a:spcBef>
              <a:spcAft>
                <a:spcPts val="0"/>
              </a:spcAft>
              <a:buClr>
                <a:schemeClr val="dk1"/>
              </a:buClr>
              <a:buSzPts val="1100"/>
              <a:buFont typeface="Arial"/>
              <a:buNone/>
            </a:pPr>
            <a:r>
              <a:rPr lang="ru" sz="1050">
                <a:solidFill>
                  <a:srgbClr val="0F4A85"/>
                </a:solidFill>
                <a:highlight>
                  <a:srgbClr val="FFFFFF"/>
                </a:highlight>
                <a:latin typeface="Courier New"/>
                <a:ea typeface="Courier New"/>
                <a:cs typeface="Courier New"/>
                <a:sym typeface="Courier New"/>
              </a:rPr>
              <a:t>def</a:t>
            </a: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task</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    interp.call(func)</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1050">
                <a:solidFill>
                  <a:srgbClr val="292929"/>
                </a:solidFill>
                <a:highlight>
                  <a:srgbClr val="FFFFFF"/>
                </a:highlight>
                <a:latin typeface="Courier New"/>
                <a:ea typeface="Courier New"/>
                <a:cs typeface="Courier New"/>
                <a:sym typeface="Courier New"/>
              </a:rPr>
              <a:t>t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threading.Thread(</a:t>
            </a:r>
            <a:r>
              <a:rPr lang="ru" sz="1050">
                <a:solidFill>
                  <a:srgbClr val="001080"/>
                </a:solidFill>
                <a:highlight>
                  <a:srgbClr val="FFFFFF"/>
                </a:highlight>
                <a:latin typeface="Courier New"/>
                <a:ea typeface="Courier New"/>
                <a:cs typeface="Courier New"/>
                <a:sym typeface="Courier New"/>
              </a:rPr>
              <a:t>target</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task)</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t.start()</a:t>
            </a:r>
            <a:endParaRPr sz="1050">
              <a:solidFill>
                <a:srgbClr val="292929"/>
              </a:solidFill>
              <a:highlight>
                <a:srgbClr val="FFFFFF"/>
              </a:highlight>
              <a:latin typeface="Courier New"/>
              <a:ea typeface="Courier New"/>
              <a:cs typeface="Courier New"/>
              <a:sym typeface="Courier New"/>
            </a:endParaRPr>
          </a:p>
        </p:txBody>
      </p:sp>
      <p:sp>
        <p:nvSpPr>
          <p:cNvPr id="108" name="Google Shape;10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D</a:t>
            </a:r>
            <a:r>
              <a:rPr lang="ru"/>
              <a:t>ata transfer between interpreters</a:t>
            </a:r>
            <a:endParaRPr/>
          </a:p>
        </p:txBody>
      </p:sp>
      <p:sp>
        <p:nvSpPr>
          <p:cNvPr id="114" name="Google Shape;114;p21"/>
          <p:cNvSpPr txBox="1"/>
          <p:nvPr>
            <p:ph idx="1" type="body"/>
          </p:nvPr>
        </p:nvSpPr>
        <p:spPr>
          <a:xfrm>
            <a:off x="311700" y="1152475"/>
            <a:ext cx="8520600" cy="3769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ru" sz="1500"/>
              <a:t>concurrent.interpreters.Queue</a:t>
            </a:r>
            <a:r>
              <a:rPr lang="ru" sz="1500"/>
              <a:t> is a wrapper around a low-level, cross-interpreter queue, which implements the </a:t>
            </a:r>
            <a:r>
              <a:rPr b="1" lang="ru" sz="1500"/>
              <a:t>queue.Queue</a:t>
            </a:r>
            <a:r>
              <a:rPr lang="ru" sz="1500"/>
              <a:t> interface. The underlying queue can only be created through </a:t>
            </a:r>
            <a:r>
              <a:rPr b="1" lang="ru" sz="1500"/>
              <a:t>create_queue()</a:t>
            </a:r>
            <a:r>
              <a:rPr lang="ru" sz="1500"/>
              <a:t>.</a:t>
            </a:r>
            <a:endParaRPr sz="1500"/>
          </a:p>
          <a:p>
            <a:pPr indent="0" lvl="0" marL="0" rtl="0" algn="l">
              <a:spcBef>
                <a:spcPts val="1200"/>
              </a:spcBef>
              <a:spcAft>
                <a:spcPts val="0"/>
              </a:spcAft>
              <a:buClr>
                <a:schemeClr val="dk1"/>
              </a:buClr>
              <a:buSzPts val="1100"/>
              <a:buFont typeface="Arial"/>
              <a:buNone/>
            </a:pPr>
            <a:r>
              <a:rPr lang="ru" sz="1500"/>
              <a:t>Some objects are actually shared (for example, </a:t>
            </a:r>
            <a:r>
              <a:rPr b="1" lang="ru" sz="1500"/>
              <a:t>memoryview</a:t>
            </a:r>
            <a:r>
              <a:rPr lang="ru" sz="1500"/>
              <a:t> and </a:t>
            </a:r>
            <a:r>
              <a:rPr b="1" lang="ru" sz="1500"/>
              <a:t>Queue</a:t>
            </a:r>
            <a:r>
              <a:rPr lang="ru" sz="1500"/>
              <a:t>), but most are copied via </a:t>
            </a:r>
            <a:r>
              <a:rPr b="1" lang="ru" sz="1500"/>
              <a:t>pickle</a:t>
            </a:r>
            <a:r>
              <a:rPr lang="ru" sz="1500"/>
              <a:t>.</a:t>
            </a:r>
            <a:r>
              <a:rPr lang="ru"/>
              <a:t> </a:t>
            </a:r>
            <a:r>
              <a:rPr lang="ru" sz="1500"/>
              <a:t>However, nearly all of the immutable builtin objects are either directly shared or copied efficiently. For example:</a:t>
            </a:r>
            <a:endParaRPr sz="1500"/>
          </a:p>
          <a:p>
            <a:pPr indent="-330200" lvl="0" marL="457200" rtl="0" algn="l">
              <a:spcBef>
                <a:spcPts val="1200"/>
              </a:spcBef>
              <a:spcAft>
                <a:spcPts val="0"/>
              </a:spcAft>
              <a:buSzPts val="1600"/>
              <a:buChar char="●"/>
            </a:pPr>
            <a:r>
              <a:rPr lang="ru" sz="1600"/>
              <a:t>None</a:t>
            </a:r>
            <a:endParaRPr sz="1600"/>
          </a:p>
          <a:p>
            <a:pPr indent="-330200" lvl="0" marL="457200" rtl="0" algn="l">
              <a:spcBef>
                <a:spcPts val="0"/>
              </a:spcBef>
              <a:spcAft>
                <a:spcPts val="0"/>
              </a:spcAft>
              <a:buSzPts val="1600"/>
              <a:buChar char="●"/>
            </a:pPr>
            <a:r>
              <a:rPr lang="ru" sz="1600"/>
              <a:t>bool (True and False)</a:t>
            </a:r>
            <a:endParaRPr sz="1600"/>
          </a:p>
          <a:p>
            <a:pPr indent="-330200" lvl="0" marL="457200" rtl="0" algn="l">
              <a:spcBef>
                <a:spcPts val="0"/>
              </a:spcBef>
              <a:spcAft>
                <a:spcPts val="0"/>
              </a:spcAft>
              <a:buSzPts val="1600"/>
              <a:buChar char="●"/>
            </a:pPr>
            <a:r>
              <a:rPr lang="ru" sz="1600"/>
              <a:t>bytes</a:t>
            </a:r>
            <a:endParaRPr sz="1600"/>
          </a:p>
          <a:p>
            <a:pPr indent="-330200" lvl="0" marL="457200" rtl="0" algn="l">
              <a:spcBef>
                <a:spcPts val="0"/>
              </a:spcBef>
              <a:spcAft>
                <a:spcPts val="0"/>
              </a:spcAft>
              <a:buSzPts val="1600"/>
              <a:buChar char="●"/>
            </a:pPr>
            <a:r>
              <a:rPr lang="ru" sz="1600"/>
              <a:t>str</a:t>
            </a:r>
            <a:endParaRPr sz="1600"/>
          </a:p>
          <a:p>
            <a:pPr indent="-330200" lvl="0" marL="457200" rtl="0" algn="l">
              <a:spcBef>
                <a:spcPts val="0"/>
              </a:spcBef>
              <a:spcAft>
                <a:spcPts val="0"/>
              </a:spcAft>
              <a:buSzPts val="1600"/>
              <a:buChar char="●"/>
            </a:pPr>
            <a:r>
              <a:rPr lang="ru" sz="1600"/>
              <a:t>int</a:t>
            </a:r>
            <a:endParaRPr sz="1600"/>
          </a:p>
          <a:p>
            <a:pPr indent="-330200" lvl="0" marL="457200" rtl="0" algn="l">
              <a:spcBef>
                <a:spcPts val="0"/>
              </a:spcBef>
              <a:spcAft>
                <a:spcPts val="0"/>
              </a:spcAft>
              <a:buSzPts val="1600"/>
              <a:buChar char="●"/>
            </a:pPr>
            <a:r>
              <a:rPr lang="ru" sz="1600"/>
              <a:t>float</a:t>
            </a:r>
            <a:endParaRPr sz="1600"/>
          </a:p>
          <a:p>
            <a:pPr indent="-330200" lvl="0" marL="457200" rtl="0" algn="l">
              <a:spcBef>
                <a:spcPts val="0"/>
              </a:spcBef>
              <a:spcAft>
                <a:spcPts val="0"/>
              </a:spcAft>
              <a:buSzPts val="1600"/>
              <a:buChar char="●"/>
            </a:pPr>
            <a:r>
              <a:rPr lang="ru" sz="1600"/>
              <a:t>tuple (of similarly supported objects)</a:t>
            </a:r>
            <a:endParaRPr sz="1600"/>
          </a:p>
        </p:txBody>
      </p:sp>
      <p:sp>
        <p:nvSpPr>
          <p:cNvPr id="115" name="Google Shape;11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Alternatives</a:t>
            </a:r>
            <a:endParaRPr/>
          </a:p>
        </p:txBody>
      </p:sp>
      <p:sp>
        <p:nvSpPr>
          <p:cNvPr id="121" name="Google Shape;121;p22"/>
          <p:cNvSpPr txBox="1"/>
          <p:nvPr>
            <p:ph idx="1" type="body"/>
          </p:nvPr>
        </p:nvSpPr>
        <p:spPr>
          <a:xfrm>
            <a:off x="3388200" y="1152475"/>
            <a:ext cx="2367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ru" sz="2200"/>
              <a:t>noGIL</a:t>
            </a:r>
            <a:endParaRPr sz="2200"/>
          </a:p>
          <a:p>
            <a:pPr indent="-336550" lvl="0" marL="457200" rtl="0" algn="l">
              <a:spcBef>
                <a:spcPts val="1200"/>
              </a:spcBef>
              <a:spcAft>
                <a:spcPts val="0"/>
              </a:spcAft>
              <a:buSzPts val="1700"/>
              <a:buChar char="●"/>
            </a:pPr>
            <a:r>
              <a:rPr lang="ru" sz="1700"/>
              <a:t>Single interpreter</a:t>
            </a:r>
            <a:endParaRPr sz="1700"/>
          </a:p>
          <a:p>
            <a:pPr indent="-336550" lvl="0" marL="457200" rtl="0" algn="l">
              <a:spcBef>
                <a:spcPts val="0"/>
              </a:spcBef>
              <a:spcAft>
                <a:spcPts val="0"/>
              </a:spcAft>
              <a:buSzPts val="1700"/>
              <a:buChar char="●"/>
            </a:pPr>
            <a:r>
              <a:rPr lang="ru" sz="1700"/>
              <a:t>True shared-memory threading</a:t>
            </a:r>
            <a:endParaRPr sz="1700"/>
          </a:p>
          <a:p>
            <a:pPr indent="-336550" lvl="0" marL="457200" rtl="0" algn="l">
              <a:spcBef>
                <a:spcPts val="0"/>
              </a:spcBef>
              <a:spcAft>
                <a:spcPts val="0"/>
              </a:spcAft>
              <a:buSzPts val="1700"/>
              <a:buChar char="●"/>
            </a:pPr>
            <a:r>
              <a:rPr lang="ru" sz="1700"/>
              <a:t>No GIL; atomics and explicit locking</a:t>
            </a:r>
            <a:endParaRPr sz="1700"/>
          </a:p>
        </p:txBody>
      </p:sp>
      <p:sp>
        <p:nvSpPr>
          <p:cNvPr id="122" name="Google Shape;122;p22"/>
          <p:cNvSpPr txBox="1"/>
          <p:nvPr>
            <p:ph idx="1" type="body"/>
          </p:nvPr>
        </p:nvSpPr>
        <p:spPr>
          <a:xfrm>
            <a:off x="419975" y="1152475"/>
            <a:ext cx="2367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ru" sz="2200"/>
              <a:t>Subinterpreters</a:t>
            </a:r>
            <a:endParaRPr sz="2200"/>
          </a:p>
          <a:p>
            <a:pPr indent="-336550" lvl="0" marL="457200" rtl="0" algn="l">
              <a:spcBef>
                <a:spcPts val="1200"/>
              </a:spcBef>
              <a:spcAft>
                <a:spcPts val="0"/>
              </a:spcAft>
              <a:buSzPts val="1700"/>
              <a:buChar char="●"/>
            </a:pPr>
            <a:r>
              <a:rPr lang="ru" sz="1700"/>
              <a:t>One process, multiple interpreters</a:t>
            </a:r>
            <a:endParaRPr sz="1700"/>
          </a:p>
          <a:p>
            <a:pPr indent="-336550" lvl="0" marL="457200" rtl="0" algn="l">
              <a:spcBef>
                <a:spcPts val="0"/>
              </a:spcBef>
              <a:spcAft>
                <a:spcPts val="0"/>
              </a:spcAft>
              <a:buSzPts val="1700"/>
              <a:buChar char="●"/>
            </a:pPr>
            <a:r>
              <a:rPr lang="ru" sz="1700"/>
              <a:t>Separate GIL per interpreter</a:t>
            </a:r>
            <a:endParaRPr sz="1700"/>
          </a:p>
          <a:p>
            <a:pPr indent="-336550" lvl="0" marL="457200" rtl="0" algn="l">
              <a:spcBef>
                <a:spcPts val="0"/>
              </a:spcBef>
              <a:spcAft>
                <a:spcPts val="0"/>
              </a:spcAft>
              <a:buSzPts val="1700"/>
              <a:buChar char="●"/>
            </a:pPr>
            <a:r>
              <a:rPr lang="ru" sz="1700"/>
              <a:t>No shared Python objects</a:t>
            </a:r>
            <a:endParaRPr sz="1700"/>
          </a:p>
        </p:txBody>
      </p:sp>
      <p:sp>
        <p:nvSpPr>
          <p:cNvPr id="123" name="Google Shape;123;p22"/>
          <p:cNvSpPr txBox="1"/>
          <p:nvPr>
            <p:ph idx="1" type="body"/>
          </p:nvPr>
        </p:nvSpPr>
        <p:spPr>
          <a:xfrm>
            <a:off x="6356425" y="1152475"/>
            <a:ext cx="2367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ru" sz="2200"/>
              <a:t>Multiprocessing</a:t>
            </a:r>
            <a:endParaRPr sz="1700"/>
          </a:p>
          <a:p>
            <a:pPr indent="-336550" lvl="0" marL="457200" rtl="0" algn="l">
              <a:spcBef>
                <a:spcPts val="1200"/>
              </a:spcBef>
              <a:spcAft>
                <a:spcPts val="0"/>
              </a:spcAft>
              <a:buSzPts val="1700"/>
              <a:buChar char="●"/>
            </a:pPr>
            <a:r>
              <a:rPr lang="ru" sz="1700"/>
              <a:t>Multiple OS processes</a:t>
            </a:r>
            <a:endParaRPr sz="1700"/>
          </a:p>
          <a:p>
            <a:pPr indent="-336550" lvl="0" marL="457200" rtl="0" algn="l">
              <a:spcBef>
                <a:spcPts val="0"/>
              </a:spcBef>
              <a:spcAft>
                <a:spcPts val="0"/>
              </a:spcAft>
              <a:buSzPts val="1700"/>
              <a:buChar char="●"/>
            </a:pPr>
            <a:r>
              <a:rPr lang="ru" sz="1700"/>
              <a:t>Full memory isolation</a:t>
            </a:r>
            <a:endParaRPr sz="1700"/>
          </a:p>
          <a:p>
            <a:pPr indent="-336550" lvl="0" marL="457200" rtl="0" algn="l">
              <a:spcBef>
                <a:spcPts val="0"/>
              </a:spcBef>
              <a:spcAft>
                <a:spcPts val="0"/>
              </a:spcAft>
              <a:buSzPts val="1700"/>
              <a:buChar char="●"/>
            </a:pPr>
            <a:r>
              <a:rPr lang="ru" sz="1700"/>
              <a:t>Serialization required</a:t>
            </a:r>
            <a:endParaRPr sz="1700"/>
          </a:p>
        </p:txBody>
      </p:sp>
      <p:sp>
        <p:nvSpPr>
          <p:cNvPr id="124" name="Google Shape;124;p22"/>
          <p:cNvSpPr txBox="1"/>
          <p:nvPr>
            <p:ph idx="1" type="body"/>
          </p:nvPr>
        </p:nvSpPr>
        <p:spPr>
          <a:xfrm>
            <a:off x="2873238" y="2636575"/>
            <a:ext cx="429300" cy="448200"/>
          </a:xfrm>
          <a:prstGeom prst="rect">
            <a:avLst/>
          </a:prstGeom>
          <a:ln>
            <a:noFill/>
          </a:ln>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ru"/>
              <a:t>vs</a:t>
            </a:r>
            <a:endParaRPr/>
          </a:p>
        </p:txBody>
      </p:sp>
      <p:sp>
        <p:nvSpPr>
          <p:cNvPr id="125" name="Google Shape;125;p22"/>
          <p:cNvSpPr txBox="1"/>
          <p:nvPr>
            <p:ph idx="1" type="body"/>
          </p:nvPr>
        </p:nvSpPr>
        <p:spPr>
          <a:xfrm>
            <a:off x="5841450" y="2636575"/>
            <a:ext cx="429300" cy="448200"/>
          </a:xfrm>
          <a:prstGeom prst="rect">
            <a:avLst/>
          </a:prstGeom>
          <a:ln>
            <a:noFill/>
          </a:ln>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ru"/>
              <a:t>vs</a:t>
            </a:r>
            <a:endParaRPr/>
          </a:p>
        </p:txBody>
      </p:sp>
      <p:sp>
        <p:nvSpPr>
          <p:cNvPr id="126" name="Google Shape;12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Start-Stop Time Test</a:t>
            </a:r>
            <a:endParaRPr/>
          </a:p>
        </p:txBody>
      </p:sp>
      <p:sp>
        <p:nvSpPr>
          <p:cNvPr id="132" name="Google Shape;132;p23"/>
          <p:cNvSpPr txBox="1"/>
          <p:nvPr>
            <p:ph idx="1" type="body"/>
          </p:nvPr>
        </p:nvSpPr>
        <p:spPr>
          <a:xfrm>
            <a:off x="311700" y="3366375"/>
            <a:ext cx="6161100" cy="111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This test checks the time it takes for the program to create a new subinterpreter/thread/process, execute an empty function on it, and then delete it.</a:t>
            </a:r>
            <a:endParaRPr/>
          </a:p>
        </p:txBody>
      </p:sp>
      <p:sp>
        <p:nvSpPr>
          <p:cNvPr id="133" name="Google Shape;133;p23"/>
          <p:cNvSpPr txBox="1"/>
          <p:nvPr>
            <p:ph idx="1" type="body"/>
          </p:nvPr>
        </p:nvSpPr>
        <p:spPr>
          <a:xfrm>
            <a:off x="3302550" y="1152475"/>
            <a:ext cx="2698200" cy="1640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ru"/>
              <a:t>Threading with GIL and noGIL:</a:t>
            </a:r>
            <a:endParaRPr/>
          </a:p>
          <a:p>
            <a:pPr indent="0" lvl="0" marL="0" rtl="0" algn="l">
              <a:lnSpc>
                <a:spcPct val="135714"/>
              </a:lnSpc>
              <a:spcBef>
                <a:spcPts val="1200"/>
              </a:spcBef>
              <a:spcAft>
                <a:spcPts val="0"/>
              </a:spcAft>
              <a:buClr>
                <a:schemeClr val="dk1"/>
              </a:buClr>
              <a:buSzPts val="1100"/>
              <a:buFont typeface="Arial"/>
              <a:buNone/>
            </a:pPr>
            <a:r>
              <a:rPr lang="ru" sz="750">
                <a:solidFill>
                  <a:srgbClr val="0F4A85"/>
                </a:solidFill>
                <a:highlight>
                  <a:srgbClr val="FFFFFF"/>
                </a:highlight>
                <a:latin typeface="Courier New"/>
                <a:ea typeface="Courier New"/>
                <a:cs typeface="Courier New"/>
                <a:sym typeface="Courier New"/>
              </a:rPr>
              <a:t>def</a:t>
            </a:r>
            <a:r>
              <a:rPr lang="ru" sz="750">
                <a:solidFill>
                  <a:srgbClr val="292929"/>
                </a:solidFill>
                <a:highlight>
                  <a:srgbClr val="FFFFFF"/>
                </a:highlight>
                <a:latin typeface="Courier New"/>
                <a:ea typeface="Courier New"/>
                <a:cs typeface="Courier New"/>
                <a:sym typeface="Courier New"/>
              </a:rPr>
              <a:t> </a:t>
            </a:r>
            <a:r>
              <a:rPr lang="ru" sz="750">
                <a:solidFill>
                  <a:srgbClr val="5E2CBC"/>
                </a:solidFill>
                <a:highlight>
                  <a:srgbClr val="FFFFFF"/>
                </a:highlight>
                <a:latin typeface="Courier New"/>
                <a:ea typeface="Courier New"/>
                <a:cs typeface="Courier New"/>
                <a:sym typeface="Courier New"/>
              </a:rPr>
              <a:t>bench_thread</a:t>
            </a:r>
            <a:r>
              <a:rPr lang="ru" sz="750">
                <a:solidFill>
                  <a:srgbClr val="292929"/>
                </a:solidFill>
                <a:highlight>
                  <a:srgbClr val="FFFFFF"/>
                </a:highlight>
                <a:latin typeface="Courier New"/>
                <a:ea typeface="Courier New"/>
                <a:cs typeface="Courier New"/>
                <a:sym typeface="Courier New"/>
              </a:rPr>
              <a:t>() -&gt; </a:t>
            </a:r>
            <a:r>
              <a:rPr lang="ru" sz="750">
                <a:solidFill>
                  <a:srgbClr val="0F4A85"/>
                </a:solidFill>
                <a:highlight>
                  <a:srgbClr val="FFFFFF"/>
                </a:highlight>
                <a:latin typeface="Courier New"/>
                <a:ea typeface="Courier New"/>
                <a:cs typeface="Courier New"/>
                <a:sym typeface="Courier New"/>
              </a:rPr>
              <a:t>None</a:t>
            </a:r>
            <a:r>
              <a:rPr lang="ru" sz="750">
                <a:solidFill>
                  <a:srgbClr val="292929"/>
                </a:solidFill>
                <a:highlight>
                  <a:srgbClr val="FFFFFF"/>
                </a:highlight>
                <a:latin typeface="Courier New"/>
                <a:ea typeface="Courier New"/>
                <a:cs typeface="Courier New"/>
                <a:sym typeface="Courier New"/>
              </a:rPr>
              <a:t>:</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t </a:t>
            </a:r>
            <a:r>
              <a:rPr lang="ru" sz="750">
                <a:solidFill>
                  <a:schemeClr val="dk1"/>
                </a:solidFill>
                <a:highlight>
                  <a:srgbClr val="FFFFFF"/>
                </a:highlight>
                <a:latin typeface="Courier New"/>
                <a:ea typeface="Courier New"/>
                <a:cs typeface="Courier New"/>
                <a:sym typeface="Courier New"/>
              </a:rPr>
              <a:t>=</a:t>
            </a:r>
            <a:r>
              <a:rPr lang="ru" sz="750">
                <a:solidFill>
                  <a:srgbClr val="292929"/>
                </a:solidFill>
                <a:highlight>
                  <a:srgbClr val="FFFFFF"/>
                </a:highlight>
                <a:latin typeface="Courier New"/>
                <a:ea typeface="Courier New"/>
                <a:cs typeface="Courier New"/>
                <a:sym typeface="Courier New"/>
              </a:rPr>
              <a:t> threading.Thread(</a:t>
            </a:r>
            <a:r>
              <a:rPr lang="ru" sz="750">
                <a:solidFill>
                  <a:srgbClr val="001080"/>
                </a:solidFill>
                <a:highlight>
                  <a:srgbClr val="FFFFFF"/>
                </a:highlight>
                <a:latin typeface="Courier New"/>
                <a:ea typeface="Courier New"/>
                <a:cs typeface="Courier New"/>
                <a:sym typeface="Courier New"/>
              </a:rPr>
              <a:t>target</a:t>
            </a:r>
            <a:r>
              <a:rPr lang="ru" sz="750">
                <a:solidFill>
                  <a:schemeClr val="dk1"/>
                </a:solidFill>
                <a:highlight>
                  <a:srgbClr val="FFFFFF"/>
                </a:highlight>
                <a:latin typeface="Courier New"/>
                <a:ea typeface="Courier New"/>
                <a:cs typeface="Courier New"/>
                <a:sym typeface="Courier New"/>
              </a:rPr>
              <a:t>=</a:t>
            </a:r>
            <a:r>
              <a:rPr lang="ru" sz="750">
                <a:solidFill>
                  <a:srgbClr val="292929"/>
                </a:solidFill>
                <a:highlight>
                  <a:srgbClr val="FFFFFF"/>
                </a:highlight>
                <a:latin typeface="Courier New"/>
                <a:ea typeface="Courier New"/>
                <a:cs typeface="Courier New"/>
                <a:sym typeface="Courier New"/>
              </a:rPr>
              <a:t>empty_func)</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t.start()</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750">
                <a:solidFill>
                  <a:srgbClr val="292929"/>
                </a:solidFill>
                <a:highlight>
                  <a:srgbClr val="FFFFFF"/>
                </a:highlight>
                <a:latin typeface="Courier New"/>
                <a:ea typeface="Courier New"/>
                <a:cs typeface="Courier New"/>
                <a:sym typeface="Courier New"/>
              </a:rPr>
              <a:t>    t.join()</a:t>
            </a:r>
            <a:endParaRPr/>
          </a:p>
        </p:txBody>
      </p:sp>
      <p:sp>
        <p:nvSpPr>
          <p:cNvPr id="134" name="Google Shape;134;p23"/>
          <p:cNvSpPr txBox="1"/>
          <p:nvPr>
            <p:ph idx="1" type="body"/>
          </p:nvPr>
        </p:nvSpPr>
        <p:spPr>
          <a:xfrm>
            <a:off x="250425" y="1152475"/>
            <a:ext cx="2537100" cy="1640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ru"/>
              <a:t>Subinterpreters:</a:t>
            </a:r>
            <a:endParaRPr/>
          </a:p>
          <a:p>
            <a:pPr indent="0" lvl="0" marL="0" rtl="0" algn="l">
              <a:lnSpc>
                <a:spcPct val="135714"/>
              </a:lnSpc>
              <a:spcBef>
                <a:spcPts val="1200"/>
              </a:spcBef>
              <a:spcAft>
                <a:spcPts val="0"/>
              </a:spcAft>
              <a:buClr>
                <a:schemeClr val="dk1"/>
              </a:buClr>
              <a:buSzPts val="1100"/>
              <a:buFont typeface="Arial"/>
              <a:buNone/>
            </a:pPr>
            <a:r>
              <a:rPr lang="ru" sz="750">
                <a:solidFill>
                  <a:srgbClr val="0F4A85"/>
                </a:solidFill>
                <a:highlight>
                  <a:srgbClr val="FFFFFF"/>
                </a:highlight>
                <a:latin typeface="Courier New"/>
                <a:ea typeface="Courier New"/>
                <a:cs typeface="Courier New"/>
                <a:sym typeface="Courier New"/>
              </a:rPr>
              <a:t>def</a:t>
            </a:r>
            <a:r>
              <a:rPr lang="ru" sz="750">
                <a:solidFill>
                  <a:srgbClr val="292929"/>
                </a:solidFill>
                <a:highlight>
                  <a:srgbClr val="FFFFFF"/>
                </a:highlight>
                <a:latin typeface="Courier New"/>
                <a:ea typeface="Courier New"/>
                <a:cs typeface="Courier New"/>
                <a:sym typeface="Courier New"/>
              </a:rPr>
              <a:t> </a:t>
            </a:r>
            <a:r>
              <a:rPr lang="ru" sz="750">
                <a:solidFill>
                  <a:srgbClr val="5E2CBC"/>
                </a:solidFill>
                <a:highlight>
                  <a:srgbClr val="FFFFFF"/>
                </a:highlight>
                <a:latin typeface="Courier New"/>
                <a:ea typeface="Courier New"/>
                <a:cs typeface="Courier New"/>
                <a:sym typeface="Courier New"/>
              </a:rPr>
              <a:t>bench_subinterp</a:t>
            </a:r>
            <a:r>
              <a:rPr lang="ru" sz="750">
                <a:solidFill>
                  <a:srgbClr val="292929"/>
                </a:solidFill>
                <a:highlight>
                  <a:srgbClr val="FFFFFF"/>
                </a:highlight>
                <a:latin typeface="Courier New"/>
                <a:ea typeface="Courier New"/>
                <a:cs typeface="Courier New"/>
                <a:sym typeface="Courier New"/>
              </a:rPr>
              <a:t>() -&gt; </a:t>
            </a:r>
            <a:r>
              <a:rPr lang="ru" sz="750">
                <a:solidFill>
                  <a:srgbClr val="0F4A85"/>
                </a:solidFill>
                <a:highlight>
                  <a:srgbClr val="FFFFFF"/>
                </a:highlight>
                <a:latin typeface="Courier New"/>
                <a:ea typeface="Courier New"/>
                <a:cs typeface="Courier New"/>
                <a:sym typeface="Courier New"/>
              </a:rPr>
              <a:t>None</a:t>
            </a:r>
            <a:r>
              <a:rPr lang="ru" sz="750">
                <a:solidFill>
                  <a:srgbClr val="292929"/>
                </a:solidFill>
                <a:highlight>
                  <a:srgbClr val="FFFFFF"/>
                </a:highlight>
                <a:latin typeface="Courier New"/>
                <a:ea typeface="Courier New"/>
                <a:cs typeface="Courier New"/>
                <a:sym typeface="Courier New"/>
              </a:rPr>
              <a:t>:</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interp </a:t>
            </a:r>
            <a:r>
              <a:rPr lang="ru" sz="750">
                <a:solidFill>
                  <a:schemeClr val="dk1"/>
                </a:solidFill>
                <a:highlight>
                  <a:srgbClr val="FFFFFF"/>
                </a:highlight>
                <a:latin typeface="Courier New"/>
                <a:ea typeface="Courier New"/>
                <a:cs typeface="Courier New"/>
                <a:sym typeface="Courier New"/>
              </a:rPr>
              <a:t>=</a:t>
            </a:r>
            <a:r>
              <a:rPr lang="ru" sz="750">
                <a:solidFill>
                  <a:srgbClr val="292929"/>
                </a:solidFill>
                <a:highlight>
                  <a:srgbClr val="FFFFFF"/>
                </a:highlight>
                <a:latin typeface="Courier New"/>
                <a:ea typeface="Courier New"/>
                <a:cs typeface="Courier New"/>
                <a:sym typeface="Courier New"/>
              </a:rPr>
              <a:t> interpreters.create()</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t = interp.call_in_thread(empty_func)</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t.join()</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750">
                <a:solidFill>
                  <a:srgbClr val="292929"/>
                </a:solidFill>
                <a:highlight>
                  <a:srgbClr val="FFFFFF"/>
                </a:highlight>
                <a:latin typeface="Courier New"/>
                <a:ea typeface="Courier New"/>
                <a:cs typeface="Courier New"/>
                <a:sym typeface="Courier New"/>
              </a:rPr>
              <a:t>    interp.close()</a:t>
            </a:r>
            <a:endParaRPr/>
          </a:p>
        </p:txBody>
      </p:sp>
      <p:sp>
        <p:nvSpPr>
          <p:cNvPr id="135" name="Google Shape;135;p23"/>
          <p:cNvSpPr txBox="1"/>
          <p:nvPr>
            <p:ph idx="1" type="body"/>
          </p:nvPr>
        </p:nvSpPr>
        <p:spPr>
          <a:xfrm>
            <a:off x="6515775" y="1152475"/>
            <a:ext cx="2367600" cy="1640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ru"/>
              <a:t>Multiprocessing:</a:t>
            </a:r>
            <a:endParaRPr/>
          </a:p>
          <a:p>
            <a:pPr indent="0" lvl="0" marL="0" rtl="0" algn="l">
              <a:lnSpc>
                <a:spcPct val="135714"/>
              </a:lnSpc>
              <a:spcBef>
                <a:spcPts val="1200"/>
              </a:spcBef>
              <a:spcAft>
                <a:spcPts val="0"/>
              </a:spcAft>
              <a:buClr>
                <a:schemeClr val="dk1"/>
              </a:buClr>
              <a:buSzPts val="1100"/>
              <a:buFont typeface="Arial"/>
              <a:buNone/>
            </a:pPr>
            <a:r>
              <a:rPr lang="ru" sz="750">
                <a:solidFill>
                  <a:srgbClr val="0F4A85"/>
                </a:solidFill>
                <a:highlight>
                  <a:srgbClr val="FFFFFF"/>
                </a:highlight>
                <a:latin typeface="Courier New"/>
                <a:ea typeface="Courier New"/>
                <a:cs typeface="Courier New"/>
                <a:sym typeface="Courier New"/>
              </a:rPr>
              <a:t>def</a:t>
            </a:r>
            <a:r>
              <a:rPr lang="ru" sz="750">
                <a:solidFill>
                  <a:srgbClr val="292929"/>
                </a:solidFill>
                <a:highlight>
                  <a:srgbClr val="FFFFFF"/>
                </a:highlight>
                <a:latin typeface="Courier New"/>
                <a:ea typeface="Courier New"/>
                <a:cs typeface="Courier New"/>
                <a:sym typeface="Courier New"/>
              </a:rPr>
              <a:t> </a:t>
            </a:r>
            <a:r>
              <a:rPr lang="ru" sz="750">
                <a:solidFill>
                  <a:srgbClr val="5E2CBC"/>
                </a:solidFill>
                <a:highlight>
                  <a:srgbClr val="FFFFFF"/>
                </a:highlight>
                <a:latin typeface="Courier New"/>
                <a:ea typeface="Courier New"/>
                <a:cs typeface="Courier New"/>
                <a:sym typeface="Courier New"/>
              </a:rPr>
              <a:t>bench_mp</a:t>
            </a:r>
            <a:r>
              <a:rPr lang="ru" sz="750">
                <a:solidFill>
                  <a:srgbClr val="292929"/>
                </a:solidFill>
                <a:highlight>
                  <a:srgbClr val="FFFFFF"/>
                </a:highlight>
                <a:latin typeface="Courier New"/>
                <a:ea typeface="Courier New"/>
                <a:cs typeface="Courier New"/>
                <a:sym typeface="Courier New"/>
              </a:rPr>
              <a:t>() -&gt; </a:t>
            </a:r>
            <a:r>
              <a:rPr lang="ru" sz="750">
                <a:solidFill>
                  <a:srgbClr val="0F4A85"/>
                </a:solidFill>
                <a:highlight>
                  <a:srgbClr val="FFFFFF"/>
                </a:highlight>
                <a:latin typeface="Courier New"/>
                <a:ea typeface="Courier New"/>
                <a:cs typeface="Courier New"/>
                <a:sym typeface="Courier New"/>
              </a:rPr>
              <a:t>None</a:t>
            </a:r>
            <a:r>
              <a:rPr lang="ru" sz="750">
                <a:solidFill>
                  <a:srgbClr val="292929"/>
                </a:solidFill>
                <a:highlight>
                  <a:srgbClr val="FFFFFF"/>
                </a:highlight>
                <a:latin typeface="Courier New"/>
                <a:ea typeface="Courier New"/>
                <a:cs typeface="Courier New"/>
                <a:sym typeface="Courier New"/>
              </a:rPr>
              <a:t>:</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ctx </a:t>
            </a:r>
            <a:r>
              <a:rPr lang="ru" sz="750">
                <a:solidFill>
                  <a:schemeClr val="dk1"/>
                </a:solidFill>
                <a:highlight>
                  <a:srgbClr val="FFFFFF"/>
                </a:highlight>
                <a:latin typeface="Courier New"/>
                <a:ea typeface="Courier New"/>
                <a:cs typeface="Courier New"/>
                <a:sym typeface="Courier New"/>
              </a:rPr>
              <a:t>=</a:t>
            </a:r>
            <a:r>
              <a:rPr lang="ru" sz="750">
                <a:solidFill>
                  <a:srgbClr val="292929"/>
                </a:solidFill>
                <a:highlight>
                  <a:srgbClr val="FFFFFF"/>
                </a:highlight>
                <a:latin typeface="Courier New"/>
                <a:ea typeface="Courier New"/>
                <a:cs typeface="Courier New"/>
                <a:sym typeface="Courier New"/>
              </a:rPr>
              <a:t> mp.get_context(</a:t>
            </a:r>
            <a:r>
              <a:rPr lang="ru" sz="750">
                <a:solidFill>
                  <a:srgbClr val="0F4A85"/>
                </a:solidFill>
                <a:highlight>
                  <a:srgbClr val="FFFFFF"/>
                </a:highlight>
                <a:latin typeface="Courier New"/>
                <a:ea typeface="Courier New"/>
                <a:cs typeface="Courier New"/>
                <a:sym typeface="Courier New"/>
              </a:rPr>
              <a:t>"spawn"</a:t>
            </a:r>
            <a:r>
              <a:rPr lang="ru" sz="750">
                <a:solidFill>
                  <a:srgbClr val="292929"/>
                </a:solidFill>
                <a:highlight>
                  <a:srgbClr val="FFFFFF"/>
                </a:highlight>
                <a:latin typeface="Courier New"/>
                <a:ea typeface="Courier New"/>
                <a:cs typeface="Courier New"/>
                <a:sym typeface="Courier New"/>
              </a:rPr>
              <a:t>)</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p </a:t>
            </a:r>
            <a:r>
              <a:rPr lang="ru" sz="750">
                <a:solidFill>
                  <a:schemeClr val="dk1"/>
                </a:solidFill>
                <a:highlight>
                  <a:srgbClr val="FFFFFF"/>
                </a:highlight>
                <a:latin typeface="Courier New"/>
                <a:ea typeface="Courier New"/>
                <a:cs typeface="Courier New"/>
                <a:sym typeface="Courier New"/>
              </a:rPr>
              <a:t>=</a:t>
            </a:r>
            <a:r>
              <a:rPr lang="ru" sz="750">
                <a:solidFill>
                  <a:srgbClr val="292929"/>
                </a:solidFill>
                <a:highlight>
                  <a:srgbClr val="FFFFFF"/>
                </a:highlight>
                <a:latin typeface="Courier New"/>
                <a:ea typeface="Courier New"/>
                <a:cs typeface="Courier New"/>
                <a:sym typeface="Courier New"/>
              </a:rPr>
              <a:t> ctx.Process(</a:t>
            </a:r>
            <a:r>
              <a:rPr lang="ru" sz="750">
                <a:solidFill>
                  <a:srgbClr val="001080"/>
                </a:solidFill>
                <a:highlight>
                  <a:srgbClr val="FFFFFF"/>
                </a:highlight>
                <a:latin typeface="Courier New"/>
                <a:ea typeface="Courier New"/>
                <a:cs typeface="Courier New"/>
                <a:sym typeface="Courier New"/>
              </a:rPr>
              <a:t>target</a:t>
            </a:r>
            <a:r>
              <a:rPr lang="ru" sz="750">
                <a:solidFill>
                  <a:schemeClr val="dk1"/>
                </a:solidFill>
                <a:highlight>
                  <a:srgbClr val="FFFFFF"/>
                </a:highlight>
                <a:latin typeface="Courier New"/>
                <a:ea typeface="Courier New"/>
                <a:cs typeface="Courier New"/>
                <a:sym typeface="Courier New"/>
              </a:rPr>
              <a:t>=</a:t>
            </a:r>
            <a:r>
              <a:rPr lang="ru" sz="750">
                <a:solidFill>
                  <a:srgbClr val="292929"/>
                </a:solidFill>
                <a:highlight>
                  <a:srgbClr val="FFFFFF"/>
                </a:highlight>
                <a:latin typeface="Courier New"/>
                <a:ea typeface="Courier New"/>
                <a:cs typeface="Courier New"/>
                <a:sym typeface="Courier New"/>
              </a:rPr>
              <a:t>empty_func)</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p.start()</a:t>
            </a:r>
            <a:endParaRPr sz="7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ru" sz="750">
                <a:solidFill>
                  <a:srgbClr val="292929"/>
                </a:solidFill>
                <a:highlight>
                  <a:srgbClr val="FFFFFF"/>
                </a:highlight>
                <a:latin typeface="Courier New"/>
                <a:ea typeface="Courier New"/>
                <a:cs typeface="Courier New"/>
                <a:sym typeface="Courier New"/>
              </a:rPr>
              <a:t>    p.join()</a:t>
            </a:r>
            <a:endParaRPr sz="750">
              <a:solidFill>
                <a:srgbClr val="292929"/>
              </a:solidFill>
              <a:highlight>
                <a:srgbClr val="FFFFFF"/>
              </a:highlight>
              <a:latin typeface="Courier New"/>
              <a:ea typeface="Courier New"/>
              <a:cs typeface="Courier New"/>
              <a:sym typeface="Courier New"/>
            </a:endParaRPr>
          </a:p>
          <a:p>
            <a:pPr indent="0" lvl="0" marL="0" rtl="0" algn="l">
              <a:spcBef>
                <a:spcPts val="0"/>
              </a:spcBef>
              <a:spcAft>
                <a:spcPts val="1200"/>
              </a:spcAft>
              <a:buNone/>
            </a:pPr>
            <a:r>
              <a:t/>
            </a:r>
            <a:endParaRPr/>
          </a:p>
        </p:txBody>
      </p:sp>
      <p:sp>
        <p:nvSpPr>
          <p:cNvPr id="136" name="Google Shape;136;p23"/>
          <p:cNvSpPr txBox="1"/>
          <p:nvPr>
            <p:ph idx="1" type="body"/>
          </p:nvPr>
        </p:nvSpPr>
        <p:spPr>
          <a:xfrm>
            <a:off x="2830375" y="1748725"/>
            <a:ext cx="429300" cy="448200"/>
          </a:xfrm>
          <a:prstGeom prst="rect">
            <a:avLst/>
          </a:prstGeom>
          <a:ln>
            <a:noFill/>
          </a:ln>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ru"/>
              <a:t>vs</a:t>
            </a:r>
            <a:endParaRPr/>
          </a:p>
        </p:txBody>
      </p:sp>
      <p:sp>
        <p:nvSpPr>
          <p:cNvPr id="137" name="Google Shape;137;p23"/>
          <p:cNvSpPr txBox="1"/>
          <p:nvPr>
            <p:ph idx="1" type="body"/>
          </p:nvPr>
        </p:nvSpPr>
        <p:spPr>
          <a:xfrm>
            <a:off x="6043613" y="1748725"/>
            <a:ext cx="429300" cy="448200"/>
          </a:xfrm>
          <a:prstGeom prst="rect">
            <a:avLst/>
          </a:prstGeom>
          <a:ln>
            <a:noFill/>
          </a:ln>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ru"/>
              <a:t>vs</a:t>
            </a:r>
            <a:endParaRPr/>
          </a:p>
        </p:txBody>
      </p:sp>
      <p:sp>
        <p:nvSpPr>
          <p:cNvPr id="138" name="Google Shape;138;p23"/>
          <p:cNvSpPr txBox="1"/>
          <p:nvPr>
            <p:ph idx="1" type="body"/>
          </p:nvPr>
        </p:nvSpPr>
        <p:spPr>
          <a:xfrm>
            <a:off x="6886575" y="3544575"/>
            <a:ext cx="1626000" cy="664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35714"/>
              </a:lnSpc>
              <a:spcBef>
                <a:spcPts val="0"/>
              </a:spcBef>
              <a:spcAft>
                <a:spcPts val="0"/>
              </a:spcAft>
              <a:buClr>
                <a:schemeClr val="dk1"/>
              </a:buClr>
              <a:buSzPts val="1100"/>
              <a:buFont typeface="Arial"/>
              <a:buNone/>
            </a:pPr>
            <a:r>
              <a:rPr lang="ru" sz="1050">
                <a:solidFill>
                  <a:srgbClr val="0F4A85"/>
                </a:solidFill>
                <a:highlight>
                  <a:srgbClr val="FFFFFF"/>
                </a:highlight>
                <a:latin typeface="Courier New"/>
                <a:ea typeface="Courier New"/>
                <a:cs typeface="Courier New"/>
                <a:sym typeface="Courier New"/>
              </a:rPr>
              <a:t>def</a:t>
            </a: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empty_func</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    </a:t>
            </a:r>
            <a:r>
              <a:rPr lang="ru" sz="1050">
                <a:solidFill>
                  <a:srgbClr val="B5200D"/>
                </a:solidFill>
                <a:highlight>
                  <a:srgbClr val="FFFFFF"/>
                </a:highlight>
                <a:latin typeface="Courier New"/>
                <a:ea typeface="Courier New"/>
                <a:cs typeface="Courier New"/>
                <a:sym typeface="Courier New"/>
              </a:rPr>
              <a:t>pass</a:t>
            </a:r>
            <a:endParaRPr/>
          </a:p>
        </p:txBody>
      </p:sp>
      <p:sp>
        <p:nvSpPr>
          <p:cNvPr id="139" name="Google Shape;13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Start-Stop Time: Results</a:t>
            </a:r>
            <a:endParaRPr/>
          </a:p>
        </p:txBody>
      </p:sp>
      <p:pic>
        <p:nvPicPr>
          <p:cNvPr id="145" name="Google Shape;145;p24"/>
          <p:cNvPicPr preferRelativeResize="0"/>
          <p:nvPr/>
        </p:nvPicPr>
        <p:blipFill>
          <a:blip r:embed="rId3">
            <a:alphaModFix/>
          </a:blip>
          <a:stretch>
            <a:fillRect/>
          </a:stretch>
        </p:blipFill>
        <p:spPr>
          <a:xfrm>
            <a:off x="170950" y="1213625"/>
            <a:ext cx="8802099" cy="2716249"/>
          </a:xfrm>
          <a:prstGeom prst="rect">
            <a:avLst/>
          </a:prstGeom>
          <a:noFill/>
          <a:ln>
            <a:noFill/>
          </a:ln>
        </p:spPr>
      </p:pic>
      <p:sp>
        <p:nvSpPr>
          <p:cNvPr id="146" name="Google Shape;146;p24"/>
          <p:cNvSpPr txBox="1"/>
          <p:nvPr>
            <p:ph idx="1" type="body"/>
          </p:nvPr>
        </p:nvSpPr>
        <p:spPr>
          <a:xfrm>
            <a:off x="6678300" y="4767900"/>
            <a:ext cx="2154000" cy="37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000"/>
              <a:t>Runs on AMD Ryzen 7 7840HS</a:t>
            </a:r>
            <a:endParaRPr sz="1000"/>
          </a:p>
        </p:txBody>
      </p:sp>
      <p:sp>
        <p:nvSpPr>
          <p:cNvPr id="147" name="Google Shape;14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Inter-Worker Time (Ping-Pong test)</a:t>
            </a:r>
            <a:endParaRPr/>
          </a:p>
        </p:txBody>
      </p:sp>
      <p:sp>
        <p:nvSpPr>
          <p:cNvPr id="153" name="Google Shape;153;p25"/>
          <p:cNvSpPr txBox="1"/>
          <p:nvPr>
            <p:ph idx="1" type="body"/>
          </p:nvPr>
        </p:nvSpPr>
        <p:spPr>
          <a:xfrm>
            <a:off x="311700" y="2904125"/>
            <a:ext cx="85206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In this test, only one additional </a:t>
            </a:r>
            <a:r>
              <a:rPr b="1" lang="ru"/>
              <a:t>Worker</a:t>
            </a:r>
            <a:r>
              <a:rPr lang="ru"/>
              <a:t> thread/process is created, after which the time is measured for the </a:t>
            </a:r>
            <a:r>
              <a:rPr b="1" lang="ru"/>
              <a:t>Main</a:t>
            </a:r>
            <a:r>
              <a:rPr lang="ru"/>
              <a:t> thread/process to send a non-zero message of size </a:t>
            </a:r>
            <a:r>
              <a:rPr b="1" lang="ru"/>
              <a:t>k bytes</a:t>
            </a:r>
            <a:r>
              <a:rPr lang="ru"/>
              <a:t> to the </a:t>
            </a:r>
            <a:r>
              <a:rPr b="1" lang="ru"/>
              <a:t>Worker</a:t>
            </a:r>
            <a:r>
              <a:rPr lang="ru"/>
              <a:t> via </a:t>
            </a:r>
            <a:r>
              <a:rPr b="1" lang="ru"/>
              <a:t>queue_in</a:t>
            </a:r>
            <a:r>
              <a:rPr lang="ru"/>
              <a:t> and receive another non-zero message of size </a:t>
            </a:r>
            <a:r>
              <a:rPr b="1" lang="ru"/>
              <a:t>k bytes</a:t>
            </a:r>
            <a:r>
              <a:rPr lang="ru"/>
              <a:t> from the </a:t>
            </a:r>
            <a:r>
              <a:rPr b="1" lang="ru"/>
              <a:t>Worker</a:t>
            </a:r>
            <a:r>
              <a:rPr lang="ru"/>
              <a:t> via </a:t>
            </a:r>
            <a:r>
              <a:rPr b="1" lang="ru"/>
              <a:t>queue_out</a:t>
            </a:r>
            <a:r>
              <a:rPr lang="ru"/>
              <a:t>.</a:t>
            </a:r>
            <a:endParaRPr/>
          </a:p>
        </p:txBody>
      </p:sp>
      <p:pic>
        <p:nvPicPr>
          <p:cNvPr id="154" name="Google Shape;154;p25"/>
          <p:cNvPicPr preferRelativeResize="0"/>
          <p:nvPr/>
        </p:nvPicPr>
        <p:blipFill>
          <a:blip r:embed="rId3">
            <a:alphaModFix/>
          </a:blip>
          <a:stretch>
            <a:fillRect/>
          </a:stretch>
        </p:blipFill>
        <p:spPr>
          <a:xfrm>
            <a:off x="2294576" y="1202600"/>
            <a:ext cx="4554845" cy="1664750"/>
          </a:xfrm>
          <a:prstGeom prst="rect">
            <a:avLst/>
          </a:prstGeom>
          <a:noFill/>
          <a:ln>
            <a:noFill/>
          </a:ln>
        </p:spPr>
      </p:pic>
      <p:sp>
        <p:nvSpPr>
          <p:cNvPr id="155" name="Google Shape;15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Inter-Worker Time (Ping-Pong test): Results</a:t>
            </a:r>
            <a:endParaRPr/>
          </a:p>
        </p:txBody>
      </p:sp>
      <p:pic>
        <p:nvPicPr>
          <p:cNvPr id="161" name="Google Shape;161;p26"/>
          <p:cNvPicPr preferRelativeResize="0"/>
          <p:nvPr/>
        </p:nvPicPr>
        <p:blipFill>
          <a:blip r:embed="rId3">
            <a:alphaModFix/>
          </a:blip>
          <a:stretch>
            <a:fillRect/>
          </a:stretch>
        </p:blipFill>
        <p:spPr>
          <a:xfrm>
            <a:off x="152400" y="1225088"/>
            <a:ext cx="8839203" cy="2693336"/>
          </a:xfrm>
          <a:prstGeom prst="rect">
            <a:avLst/>
          </a:prstGeom>
          <a:noFill/>
          <a:ln>
            <a:noFill/>
          </a:ln>
        </p:spPr>
      </p:pic>
      <p:sp>
        <p:nvSpPr>
          <p:cNvPr id="162" name="Google Shape;162;p26"/>
          <p:cNvSpPr txBox="1"/>
          <p:nvPr>
            <p:ph idx="1" type="body"/>
          </p:nvPr>
        </p:nvSpPr>
        <p:spPr>
          <a:xfrm>
            <a:off x="6678300" y="4767900"/>
            <a:ext cx="2154000" cy="37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000"/>
              <a:t>Runs on AMD Ryzen 7 7840HS</a:t>
            </a:r>
            <a:endParaRPr sz="1000"/>
          </a:p>
        </p:txBody>
      </p:sp>
      <p:sp>
        <p:nvSpPr>
          <p:cNvPr id="163" name="Google Shape;16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Inter-Worker Time (Ping-Pong test): Results</a:t>
            </a:r>
            <a:endParaRPr/>
          </a:p>
        </p:txBody>
      </p:sp>
      <p:pic>
        <p:nvPicPr>
          <p:cNvPr id="169" name="Google Shape;169;p27"/>
          <p:cNvPicPr preferRelativeResize="0"/>
          <p:nvPr/>
        </p:nvPicPr>
        <p:blipFill>
          <a:blip r:embed="rId3">
            <a:alphaModFix/>
          </a:blip>
          <a:stretch>
            <a:fillRect/>
          </a:stretch>
        </p:blipFill>
        <p:spPr>
          <a:xfrm>
            <a:off x="152400" y="1253550"/>
            <a:ext cx="8839200" cy="2636411"/>
          </a:xfrm>
          <a:prstGeom prst="rect">
            <a:avLst/>
          </a:prstGeom>
          <a:noFill/>
          <a:ln>
            <a:noFill/>
          </a:ln>
        </p:spPr>
      </p:pic>
      <p:sp>
        <p:nvSpPr>
          <p:cNvPr id="170" name="Google Shape;170;p27"/>
          <p:cNvSpPr txBox="1"/>
          <p:nvPr>
            <p:ph idx="1" type="body"/>
          </p:nvPr>
        </p:nvSpPr>
        <p:spPr>
          <a:xfrm>
            <a:off x="6678300" y="4767900"/>
            <a:ext cx="2154000" cy="37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000"/>
              <a:t>Runs on AMD Ryzen 7 7840HS</a:t>
            </a:r>
            <a:endParaRPr sz="1000"/>
          </a:p>
        </p:txBody>
      </p:sp>
      <p:sp>
        <p:nvSpPr>
          <p:cNvPr id="171" name="Google Shape;17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Full program work test: Calculation of a definite integral</a:t>
            </a:r>
            <a:endParaRPr/>
          </a:p>
        </p:txBody>
      </p:sp>
      <p:sp>
        <p:nvSpPr>
          <p:cNvPr id="177" name="Google Shape;177;p28"/>
          <p:cNvSpPr txBox="1"/>
          <p:nvPr>
            <p:ph idx="1" type="body"/>
          </p:nvPr>
        </p:nvSpPr>
        <p:spPr>
          <a:xfrm>
            <a:off x="311700" y="3779175"/>
            <a:ext cx="8520600" cy="1219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ru"/>
              <a:t>This test checks the running time of a program that calculates a definite integral using </a:t>
            </a:r>
            <a:r>
              <a:rPr b="1" lang="ru"/>
              <a:t>the trapezoidal rule</a:t>
            </a:r>
            <a:r>
              <a:rPr lang="ru"/>
              <a:t>. The calculations are divided between several threads/processes </a:t>
            </a:r>
            <a:r>
              <a:rPr b="1" lang="ru"/>
              <a:t>(from 1 to 16 workers)</a:t>
            </a:r>
            <a:r>
              <a:rPr lang="ru"/>
              <a:t>. The integral is defined on the interval </a:t>
            </a:r>
            <a:r>
              <a:rPr b="1" lang="ru"/>
              <a:t>[-1.0; 1.0]</a:t>
            </a:r>
            <a:r>
              <a:rPr lang="ru"/>
              <a:t>. The number of divisions is </a:t>
            </a:r>
            <a:r>
              <a:rPr b="1" lang="ru"/>
              <a:t>N = 2000000</a:t>
            </a:r>
            <a:r>
              <a:rPr lang="ru"/>
              <a:t>.</a:t>
            </a:r>
            <a:endParaRPr/>
          </a:p>
        </p:txBody>
      </p:sp>
      <p:pic>
        <p:nvPicPr>
          <p:cNvPr id="178" name="Google Shape;178;p28"/>
          <p:cNvPicPr preferRelativeResize="0"/>
          <p:nvPr/>
        </p:nvPicPr>
        <p:blipFill>
          <a:blip r:embed="rId3">
            <a:alphaModFix/>
          </a:blip>
          <a:stretch>
            <a:fillRect/>
          </a:stretch>
        </p:blipFill>
        <p:spPr>
          <a:xfrm>
            <a:off x="924326" y="1175250"/>
            <a:ext cx="3231574" cy="2446400"/>
          </a:xfrm>
          <a:prstGeom prst="rect">
            <a:avLst/>
          </a:prstGeom>
          <a:noFill/>
          <a:ln>
            <a:noFill/>
          </a:ln>
        </p:spPr>
      </p:pic>
      <p:pic>
        <p:nvPicPr>
          <p:cNvPr id="179" name="Google Shape;179;p28"/>
          <p:cNvPicPr preferRelativeResize="0"/>
          <p:nvPr/>
        </p:nvPicPr>
        <p:blipFill>
          <a:blip r:embed="rId4">
            <a:alphaModFix/>
          </a:blip>
          <a:stretch>
            <a:fillRect/>
          </a:stretch>
        </p:blipFill>
        <p:spPr>
          <a:xfrm>
            <a:off x="5361917" y="1175250"/>
            <a:ext cx="2210991" cy="2446399"/>
          </a:xfrm>
          <a:prstGeom prst="rect">
            <a:avLst/>
          </a:prstGeom>
          <a:noFill/>
          <a:ln>
            <a:noFill/>
          </a:ln>
        </p:spPr>
      </p:pic>
      <p:sp>
        <p:nvSpPr>
          <p:cNvPr id="180" name="Google Shape;18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Full program work test: Results</a:t>
            </a:r>
            <a:endParaRPr/>
          </a:p>
        </p:txBody>
      </p:sp>
      <p:pic>
        <p:nvPicPr>
          <p:cNvPr id="186" name="Google Shape;186;p29"/>
          <p:cNvPicPr preferRelativeResize="0"/>
          <p:nvPr/>
        </p:nvPicPr>
        <p:blipFill>
          <a:blip r:embed="rId3">
            <a:alphaModFix/>
          </a:blip>
          <a:stretch>
            <a:fillRect/>
          </a:stretch>
        </p:blipFill>
        <p:spPr>
          <a:xfrm>
            <a:off x="311700" y="1303188"/>
            <a:ext cx="8520599" cy="2537124"/>
          </a:xfrm>
          <a:prstGeom prst="rect">
            <a:avLst/>
          </a:prstGeom>
          <a:noFill/>
          <a:ln>
            <a:noFill/>
          </a:ln>
        </p:spPr>
      </p:pic>
      <p:sp>
        <p:nvSpPr>
          <p:cNvPr id="187" name="Google Shape;187;p29"/>
          <p:cNvSpPr txBox="1"/>
          <p:nvPr>
            <p:ph idx="1" type="body"/>
          </p:nvPr>
        </p:nvSpPr>
        <p:spPr>
          <a:xfrm>
            <a:off x="6678300" y="4767900"/>
            <a:ext cx="2154000" cy="37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000"/>
              <a:t>Runs on AMD Ryzen 7 7840HS</a:t>
            </a:r>
            <a:endParaRPr sz="1000"/>
          </a:p>
        </p:txBody>
      </p:sp>
      <p:sp>
        <p:nvSpPr>
          <p:cNvPr id="188" name="Google Shape;18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a:t>
            </a:r>
            <a:r>
              <a:rPr lang="ru"/>
              <a:t>ound benchmarks</a:t>
            </a:r>
            <a:endParaRPr/>
          </a:p>
        </p:txBody>
      </p:sp>
      <p:sp>
        <p:nvSpPr>
          <p:cNvPr id="194" name="Google Shape;194;p30"/>
          <p:cNvSpPr txBox="1"/>
          <p:nvPr>
            <p:ph idx="1" type="body"/>
          </p:nvPr>
        </p:nvSpPr>
        <p:spPr>
          <a:xfrm>
            <a:off x="147950" y="1951925"/>
            <a:ext cx="3242400" cy="1727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lnSpc>
                <a:spcPct val="135714"/>
              </a:lnSpc>
              <a:spcBef>
                <a:spcPts val="0"/>
              </a:spcBef>
              <a:spcAft>
                <a:spcPts val="0"/>
              </a:spcAft>
              <a:buNone/>
            </a:pPr>
            <a:r>
              <a:rPr lang="ru" sz="1050">
                <a:solidFill>
                  <a:srgbClr val="0000FF"/>
                </a:solidFill>
                <a:highlight>
                  <a:srgbClr val="FFFFFF"/>
                </a:highlight>
                <a:latin typeface="Courier New"/>
                <a:ea typeface="Courier New"/>
                <a:cs typeface="Courier New"/>
                <a:sym typeface="Courier New"/>
              </a:rPr>
              <a:t>def</a:t>
            </a:r>
            <a:r>
              <a:rPr lang="ru" sz="1050">
                <a:solidFill>
                  <a:schemeClr val="dk1"/>
                </a:solidFill>
                <a:highlight>
                  <a:srgbClr val="FFFFFF"/>
                </a:highlight>
                <a:latin typeface="Courier New"/>
                <a:ea typeface="Courier New"/>
                <a:cs typeface="Courier New"/>
                <a:sym typeface="Courier New"/>
              </a:rPr>
              <a:t> </a:t>
            </a:r>
            <a:r>
              <a:rPr lang="ru" sz="1050">
                <a:solidFill>
                  <a:srgbClr val="74531F"/>
                </a:solidFill>
                <a:highlight>
                  <a:srgbClr val="FFFFFF"/>
                </a:highlight>
                <a:latin typeface="Courier New"/>
                <a:ea typeface="Courier New"/>
                <a:cs typeface="Courier New"/>
                <a:sym typeface="Courier New"/>
              </a:rPr>
              <a:t>worker_cpu</a:t>
            </a:r>
            <a:r>
              <a:rPr lang="ru" sz="1050">
                <a:solidFill>
                  <a:schemeClr val="dk1"/>
                </a:solidFill>
                <a:highlight>
                  <a:srgbClr val="FFFFFF"/>
                </a:highlight>
                <a:latin typeface="Courier New"/>
                <a:ea typeface="Courier New"/>
                <a:cs typeface="Courier New"/>
                <a:sym typeface="Courier New"/>
              </a:rPr>
              <a:t>(</a:t>
            </a:r>
            <a:r>
              <a:rPr lang="ru" sz="1050">
                <a:solidFill>
                  <a:srgbClr val="808080"/>
                </a:solidFill>
                <a:highlight>
                  <a:srgbClr val="FFFFFF"/>
                </a:highlight>
                <a:latin typeface="Courier New"/>
                <a:ea typeface="Courier New"/>
                <a:cs typeface="Courier New"/>
                <a:sym typeface="Courier New"/>
              </a:rPr>
              <a:t>arg</a:t>
            </a:r>
            <a:r>
              <a:rPr lang="ru" sz="1050">
                <a:solidFill>
                  <a:schemeClr val="dk1"/>
                </a:solidFill>
                <a:highlight>
                  <a:srgbClr val="FFFFFF"/>
                </a:highlight>
                <a:latin typeface="Courier New"/>
                <a:ea typeface="Courier New"/>
                <a:cs typeface="Courier New"/>
                <a:sym typeface="Courier New"/>
              </a:rPr>
              <a:t>: </a:t>
            </a:r>
            <a:r>
              <a:rPr lang="ru" sz="1050">
                <a:solidFill>
                  <a:srgbClr val="2B91AF"/>
                </a:solidFill>
                <a:highlight>
                  <a:srgbClr val="FFFFFF"/>
                </a:highlight>
                <a:latin typeface="Courier New"/>
                <a:ea typeface="Courier New"/>
                <a:cs typeface="Courier New"/>
                <a:sym typeface="Courier New"/>
              </a:rPr>
              <a:t>tuple</a:t>
            </a:r>
            <a:r>
              <a:rPr lang="ru" sz="1050">
                <a:solidFill>
                  <a:schemeClr val="dk1"/>
                </a:solidFill>
                <a:highlight>
                  <a:srgbClr val="FFFFFF"/>
                </a:highlight>
                <a:latin typeface="Courier New"/>
                <a:ea typeface="Courier New"/>
                <a:cs typeface="Courier New"/>
                <a:sym typeface="Courier New"/>
              </a:rPr>
              <a:t>[</a:t>
            </a:r>
            <a:r>
              <a:rPr lang="ru" sz="1050">
                <a:solidFill>
                  <a:srgbClr val="2B91AF"/>
                </a:solidFill>
                <a:highlight>
                  <a:srgbClr val="FFFFFF"/>
                </a:highlight>
                <a:latin typeface="Courier New"/>
                <a:ea typeface="Courier New"/>
                <a:cs typeface="Courier New"/>
                <a:sym typeface="Courier New"/>
              </a:rPr>
              <a:t>int</a:t>
            </a:r>
            <a:r>
              <a:rPr lang="ru" sz="1050">
                <a:solidFill>
                  <a:schemeClr val="dk1"/>
                </a:solidFill>
                <a:highlight>
                  <a:srgbClr val="FFFFFF"/>
                </a:highlight>
                <a:latin typeface="Courier New"/>
                <a:ea typeface="Courier New"/>
                <a:cs typeface="Courier New"/>
                <a:sym typeface="Courier New"/>
              </a:rPr>
              <a:t>, </a:t>
            </a:r>
            <a:r>
              <a:rPr lang="ru" sz="1050">
                <a:solidFill>
                  <a:srgbClr val="2B91AF"/>
                </a:solidFill>
                <a:highlight>
                  <a:srgbClr val="FFFFFF"/>
                </a:highlight>
                <a:latin typeface="Courier New"/>
                <a:ea typeface="Courier New"/>
                <a:cs typeface="Courier New"/>
                <a:sym typeface="Courier New"/>
              </a:rPr>
              <a:t>int</a:t>
            </a:r>
            <a:r>
              <a:rPr lang="ru" sz="1050">
                <a:solidFill>
                  <a:schemeClr val="dk1"/>
                </a:solidFill>
                <a:highlight>
                  <a:srgbClr val="FFFFFF"/>
                </a:highlight>
                <a:latin typeface="Courier New"/>
                <a:ea typeface="Courier New"/>
                <a:cs typeface="Courier New"/>
                <a:sym typeface="Courier New"/>
              </a:rPr>
              <a:t>]):</a:t>
            </a:r>
            <a:endParaRPr sz="10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chemeClr val="dk1"/>
                </a:solidFill>
                <a:highlight>
                  <a:srgbClr val="FFFFFF"/>
                </a:highlight>
                <a:latin typeface="Courier New"/>
                <a:ea typeface="Courier New"/>
                <a:cs typeface="Courier New"/>
                <a:sym typeface="Courier New"/>
              </a:rPr>
              <a:t>    </a:t>
            </a:r>
            <a:r>
              <a:rPr lang="ru" sz="1050">
                <a:solidFill>
                  <a:srgbClr val="1F377F"/>
                </a:solidFill>
                <a:highlight>
                  <a:srgbClr val="FFFFFF"/>
                </a:highlight>
                <a:latin typeface="Courier New"/>
                <a:ea typeface="Courier New"/>
                <a:cs typeface="Courier New"/>
                <a:sym typeface="Courier New"/>
              </a:rPr>
              <a:t>start</a:t>
            </a:r>
            <a:r>
              <a:rPr lang="ru" sz="1050">
                <a:solidFill>
                  <a:schemeClr val="dk1"/>
                </a:solidFill>
                <a:highlight>
                  <a:srgbClr val="FFFFFF"/>
                </a:highlight>
                <a:latin typeface="Courier New"/>
                <a:ea typeface="Courier New"/>
                <a:cs typeface="Courier New"/>
                <a:sym typeface="Courier New"/>
              </a:rPr>
              <a:t>, </a:t>
            </a:r>
            <a:r>
              <a:rPr lang="ru" sz="1050">
                <a:solidFill>
                  <a:srgbClr val="1F377F"/>
                </a:solidFill>
                <a:highlight>
                  <a:srgbClr val="FFFFFF"/>
                </a:highlight>
                <a:latin typeface="Courier New"/>
                <a:ea typeface="Courier New"/>
                <a:cs typeface="Courier New"/>
                <a:sym typeface="Courier New"/>
              </a:rPr>
              <a:t>end</a:t>
            </a:r>
            <a:r>
              <a:rPr lang="ru" sz="1050">
                <a:solidFill>
                  <a:schemeClr val="dk1"/>
                </a:solidFill>
                <a:highlight>
                  <a:srgbClr val="FFFFFF"/>
                </a:highlight>
                <a:latin typeface="Courier New"/>
                <a:ea typeface="Courier New"/>
                <a:cs typeface="Courier New"/>
                <a:sym typeface="Courier New"/>
              </a:rPr>
              <a:t> = </a:t>
            </a:r>
            <a:r>
              <a:rPr lang="ru" sz="1050">
                <a:solidFill>
                  <a:srgbClr val="808080"/>
                </a:solidFill>
                <a:highlight>
                  <a:srgbClr val="FFFFFF"/>
                </a:highlight>
                <a:latin typeface="Courier New"/>
                <a:ea typeface="Courier New"/>
                <a:cs typeface="Courier New"/>
                <a:sym typeface="Courier New"/>
              </a:rPr>
              <a:t>arg</a:t>
            </a:r>
            <a:endParaRPr sz="1050">
              <a:solidFill>
                <a:srgbClr val="80808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chemeClr val="dk1"/>
                </a:solidFill>
                <a:highlight>
                  <a:srgbClr val="FFFFFF"/>
                </a:highlight>
                <a:latin typeface="Courier New"/>
                <a:ea typeface="Courier New"/>
                <a:cs typeface="Courier New"/>
                <a:sym typeface="Courier New"/>
              </a:rPr>
              <a:t>    </a:t>
            </a:r>
            <a:r>
              <a:rPr lang="ru" sz="1050">
                <a:solidFill>
                  <a:srgbClr val="1F377F"/>
                </a:solidFill>
                <a:highlight>
                  <a:srgbClr val="FFFFFF"/>
                </a:highlight>
                <a:latin typeface="Courier New"/>
                <a:ea typeface="Courier New"/>
                <a:cs typeface="Courier New"/>
                <a:sym typeface="Courier New"/>
              </a:rPr>
              <a:t>fact</a:t>
            </a:r>
            <a:r>
              <a:rPr lang="ru" sz="1050">
                <a:solidFill>
                  <a:schemeClr val="dk1"/>
                </a:solidFill>
                <a:highlight>
                  <a:srgbClr val="FFFFFF"/>
                </a:highlight>
                <a:latin typeface="Courier New"/>
                <a:ea typeface="Courier New"/>
                <a:cs typeface="Courier New"/>
                <a:sym typeface="Courier New"/>
              </a:rPr>
              <a:t> = </a:t>
            </a:r>
            <a:r>
              <a:rPr lang="ru" sz="1050">
                <a:solidFill>
                  <a:srgbClr val="098658"/>
                </a:solidFill>
                <a:highlight>
                  <a:srgbClr val="FFFFFF"/>
                </a:highlight>
                <a:latin typeface="Courier New"/>
                <a:ea typeface="Courier New"/>
                <a:cs typeface="Courier New"/>
                <a:sym typeface="Courier New"/>
              </a:rPr>
              <a:t>1</a:t>
            </a:r>
            <a:endParaRPr sz="1050">
              <a:solidFill>
                <a:srgbClr val="098658"/>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chemeClr val="dk1"/>
                </a:solidFill>
                <a:highlight>
                  <a:srgbClr val="FFFFFF"/>
                </a:highlight>
                <a:latin typeface="Courier New"/>
                <a:ea typeface="Courier New"/>
                <a:cs typeface="Courier New"/>
                <a:sym typeface="Courier New"/>
              </a:rPr>
              <a:t>    </a:t>
            </a:r>
            <a:r>
              <a:rPr lang="ru" sz="1050">
                <a:solidFill>
                  <a:srgbClr val="8F08C4"/>
                </a:solidFill>
                <a:highlight>
                  <a:srgbClr val="FFFFFF"/>
                </a:highlight>
                <a:latin typeface="Courier New"/>
                <a:ea typeface="Courier New"/>
                <a:cs typeface="Courier New"/>
                <a:sym typeface="Courier New"/>
              </a:rPr>
              <a:t>for</a:t>
            </a:r>
            <a:r>
              <a:rPr lang="ru" sz="1050">
                <a:solidFill>
                  <a:schemeClr val="dk1"/>
                </a:solidFill>
                <a:highlight>
                  <a:srgbClr val="FFFFFF"/>
                </a:highlight>
                <a:latin typeface="Courier New"/>
                <a:ea typeface="Courier New"/>
                <a:cs typeface="Courier New"/>
                <a:sym typeface="Courier New"/>
              </a:rPr>
              <a:t> </a:t>
            </a:r>
            <a:r>
              <a:rPr lang="ru" sz="1050">
                <a:solidFill>
                  <a:srgbClr val="1F377F"/>
                </a:solidFill>
                <a:highlight>
                  <a:srgbClr val="FFFFFF"/>
                </a:highlight>
                <a:latin typeface="Courier New"/>
                <a:ea typeface="Courier New"/>
                <a:cs typeface="Courier New"/>
                <a:sym typeface="Courier New"/>
              </a:rPr>
              <a:t>i</a:t>
            </a:r>
            <a:r>
              <a:rPr lang="ru" sz="1050">
                <a:solidFill>
                  <a:schemeClr val="dk1"/>
                </a:solidFill>
                <a:highlight>
                  <a:srgbClr val="FFFFFF"/>
                </a:highlight>
                <a:latin typeface="Courier New"/>
                <a:ea typeface="Courier New"/>
                <a:cs typeface="Courier New"/>
                <a:sym typeface="Courier New"/>
              </a:rPr>
              <a:t> </a:t>
            </a:r>
            <a:r>
              <a:rPr lang="ru" sz="1050">
                <a:solidFill>
                  <a:srgbClr val="8F08C4"/>
                </a:solidFill>
                <a:highlight>
                  <a:srgbClr val="FFFFFF"/>
                </a:highlight>
                <a:latin typeface="Courier New"/>
                <a:ea typeface="Courier New"/>
                <a:cs typeface="Courier New"/>
                <a:sym typeface="Courier New"/>
              </a:rPr>
              <a:t>in</a:t>
            </a:r>
            <a:r>
              <a:rPr lang="ru" sz="1050">
                <a:solidFill>
                  <a:schemeClr val="dk1"/>
                </a:solidFill>
                <a:highlight>
                  <a:srgbClr val="FFFFFF"/>
                </a:highlight>
                <a:latin typeface="Courier New"/>
                <a:ea typeface="Courier New"/>
                <a:cs typeface="Courier New"/>
                <a:sym typeface="Courier New"/>
              </a:rPr>
              <a:t> </a:t>
            </a:r>
            <a:r>
              <a:rPr lang="ru" sz="1050">
                <a:solidFill>
                  <a:srgbClr val="2B91AF"/>
                </a:solidFill>
                <a:highlight>
                  <a:srgbClr val="FFFFFF"/>
                </a:highlight>
                <a:latin typeface="Courier New"/>
                <a:ea typeface="Courier New"/>
                <a:cs typeface="Courier New"/>
                <a:sym typeface="Courier New"/>
              </a:rPr>
              <a:t>range</a:t>
            </a:r>
            <a:r>
              <a:rPr lang="ru" sz="1050">
                <a:solidFill>
                  <a:schemeClr val="dk1"/>
                </a:solidFill>
                <a:highlight>
                  <a:srgbClr val="FFFFFF"/>
                </a:highlight>
                <a:latin typeface="Courier New"/>
                <a:ea typeface="Courier New"/>
                <a:cs typeface="Courier New"/>
                <a:sym typeface="Courier New"/>
              </a:rPr>
              <a:t>(</a:t>
            </a:r>
            <a:r>
              <a:rPr lang="ru" sz="1050">
                <a:solidFill>
                  <a:srgbClr val="1F377F"/>
                </a:solidFill>
                <a:highlight>
                  <a:srgbClr val="FFFFFF"/>
                </a:highlight>
                <a:latin typeface="Courier New"/>
                <a:ea typeface="Courier New"/>
                <a:cs typeface="Courier New"/>
                <a:sym typeface="Courier New"/>
              </a:rPr>
              <a:t>start</a:t>
            </a:r>
            <a:r>
              <a:rPr lang="ru" sz="1050">
                <a:solidFill>
                  <a:schemeClr val="dk1"/>
                </a:solidFill>
                <a:highlight>
                  <a:srgbClr val="FFFFFF"/>
                </a:highlight>
                <a:latin typeface="Courier New"/>
                <a:ea typeface="Courier New"/>
                <a:cs typeface="Courier New"/>
                <a:sym typeface="Courier New"/>
              </a:rPr>
              <a:t>, </a:t>
            </a:r>
            <a:r>
              <a:rPr lang="ru" sz="1050">
                <a:solidFill>
                  <a:srgbClr val="1F377F"/>
                </a:solidFill>
                <a:highlight>
                  <a:srgbClr val="FFFFFF"/>
                </a:highlight>
                <a:latin typeface="Courier New"/>
                <a:ea typeface="Courier New"/>
                <a:cs typeface="Courier New"/>
                <a:sym typeface="Courier New"/>
              </a:rPr>
              <a:t>end</a:t>
            </a:r>
            <a:r>
              <a:rPr lang="ru" sz="1050">
                <a:solidFill>
                  <a:schemeClr val="dk1"/>
                </a:solidFill>
                <a:highlight>
                  <a:srgbClr val="FFFFFF"/>
                </a:highlight>
                <a:latin typeface="Courier New"/>
                <a:ea typeface="Courier New"/>
                <a:cs typeface="Courier New"/>
                <a:sym typeface="Courier New"/>
              </a:rPr>
              <a:t> + </a:t>
            </a:r>
            <a:r>
              <a:rPr lang="ru" sz="1050">
                <a:solidFill>
                  <a:srgbClr val="098658"/>
                </a:solidFill>
                <a:highlight>
                  <a:srgbClr val="FFFFFF"/>
                </a:highlight>
                <a:latin typeface="Courier New"/>
                <a:ea typeface="Courier New"/>
                <a:cs typeface="Courier New"/>
                <a:sym typeface="Courier New"/>
              </a:rPr>
              <a:t>1</a:t>
            </a:r>
            <a:r>
              <a:rPr lang="ru" sz="1050">
                <a:solidFill>
                  <a:schemeClr val="dk1"/>
                </a:solidFill>
                <a:highlight>
                  <a:srgbClr val="FFFFFF"/>
                </a:highlight>
                <a:latin typeface="Courier New"/>
                <a:ea typeface="Courier New"/>
                <a:cs typeface="Courier New"/>
                <a:sym typeface="Courier New"/>
              </a:rPr>
              <a:t>):</a:t>
            </a:r>
            <a:endParaRPr sz="10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chemeClr val="dk1"/>
                </a:solidFill>
                <a:highlight>
                  <a:srgbClr val="FFFFFF"/>
                </a:highlight>
                <a:latin typeface="Courier New"/>
                <a:ea typeface="Courier New"/>
                <a:cs typeface="Courier New"/>
                <a:sym typeface="Courier New"/>
              </a:rPr>
              <a:t>        </a:t>
            </a:r>
            <a:r>
              <a:rPr lang="ru" sz="1050">
                <a:solidFill>
                  <a:srgbClr val="1F377F"/>
                </a:solidFill>
                <a:highlight>
                  <a:srgbClr val="FFFFFF"/>
                </a:highlight>
                <a:latin typeface="Courier New"/>
                <a:ea typeface="Courier New"/>
                <a:cs typeface="Courier New"/>
                <a:sym typeface="Courier New"/>
              </a:rPr>
              <a:t>fact</a:t>
            </a:r>
            <a:r>
              <a:rPr lang="ru" sz="1050">
                <a:solidFill>
                  <a:schemeClr val="dk1"/>
                </a:solidFill>
                <a:highlight>
                  <a:srgbClr val="FFFFFF"/>
                </a:highlight>
                <a:latin typeface="Courier New"/>
                <a:ea typeface="Courier New"/>
                <a:cs typeface="Courier New"/>
                <a:sym typeface="Courier New"/>
              </a:rPr>
              <a:t> *= </a:t>
            </a:r>
            <a:r>
              <a:rPr lang="ru" sz="1050">
                <a:solidFill>
                  <a:srgbClr val="1F377F"/>
                </a:solidFill>
                <a:highlight>
                  <a:srgbClr val="FFFFFF"/>
                </a:highlight>
                <a:latin typeface="Courier New"/>
                <a:ea typeface="Courier New"/>
                <a:cs typeface="Courier New"/>
                <a:sym typeface="Courier New"/>
              </a:rPr>
              <a:t>i</a:t>
            </a:r>
            <a:endParaRPr sz="1050">
              <a:solidFill>
                <a:srgbClr val="1F377F"/>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
        <p:nvSpPr>
          <p:cNvPr id="195" name="Google Shape;195;p30"/>
          <p:cNvSpPr txBox="1"/>
          <p:nvPr>
            <p:ph idx="1" type="body"/>
          </p:nvPr>
        </p:nvSpPr>
        <p:spPr>
          <a:xfrm>
            <a:off x="3438300" y="1951925"/>
            <a:ext cx="5394000" cy="1727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lnSpc>
                <a:spcPct val="135714"/>
              </a:lnSpc>
              <a:spcBef>
                <a:spcPts val="0"/>
              </a:spcBef>
              <a:spcAft>
                <a:spcPts val="0"/>
              </a:spcAft>
              <a:buClr>
                <a:schemeClr val="dk1"/>
              </a:buClr>
              <a:buSzPct val="104761"/>
              <a:buFont typeface="Arial"/>
              <a:buNone/>
            </a:pPr>
            <a:r>
              <a:rPr lang="ru" sz="1050">
                <a:solidFill>
                  <a:srgbClr val="B5200D"/>
                </a:solidFill>
                <a:highlight>
                  <a:srgbClr val="FFFFFF"/>
                </a:highlight>
                <a:latin typeface="Courier New"/>
                <a:ea typeface="Courier New"/>
                <a:cs typeface="Courier New"/>
                <a:sym typeface="Courier New"/>
              </a:rPr>
              <a:t>import</a:t>
            </a:r>
            <a:r>
              <a:rPr lang="ru" sz="1050">
                <a:solidFill>
                  <a:srgbClr val="292929"/>
                </a:solidFill>
                <a:highlight>
                  <a:srgbClr val="FFFFFF"/>
                </a:highlight>
                <a:latin typeface="Courier New"/>
                <a:ea typeface="Courier New"/>
                <a:cs typeface="Courier New"/>
                <a:sym typeface="Courier New"/>
              </a:rPr>
              <a:t> httpx</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00FF"/>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1"/>
              <a:buFont typeface="Arial"/>
              <a:buNone/>
            </a:pPr>
            <a:r>
              <a:rPr lang="ru" sz="1050">
                <a:solidFill>
                  <a:srgbClr val="0F4A85"/>
                </a:solidFill>
                <a:highlight>
                  <a:srgbClr val="FFFFFF"/>
                </a:highlight>
                <a:latin typeface="Courier New"/>
                <a:ea typeface="Courier New"/>
                <a:cs typeface="Courier New"/>
                <a:sym typeface="Courier New"/>
              </a:rPr>
              <a:t>def</a:t>
            </a: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worker_io</a:t>
            </a:r>
            <a:r>
              <a:rPr lang="ru" sz="1050">
                <a:solidFill>
                  <a:srgbClr val="292929"/>
                </a:solidFill>
                <a:highlight>
                  <a:srgbClr val="FFFFFF"/>
                </a:highlight>
                <a:latin typeface="Courier New"/>
                <a:ea typeface="Courier New"/>
                <a:cs typeface="Courier New"/>
                <a:sym typeface="Courier New"/>
              </a:rPr>
              <a:t>(</a:t>
            </a:r>
            <a:r>
              <a:rPr lang="ru" sz="1050">
                <a:solidFill>
                  <a:srgbClr val="001080"/>
                </a:solidFill>
                <a:highlight>
                  <a:srgbClr val="FFFFFF"/>
                </a:highlight>
                <a:latin typeface="Courier New"/>
                <a:ea typeface="Courier New"/>
                <a:cs typeface="Courier New"/>
                <a:sym typeface="Courier New"/>
              </a:rPr>
              <a:t>arg</a:t>
            </a:r>
            <a:r>
              <a:rPr lang="ru" sz="1050">
                <a:solidFill>
                  <a:srgbClr val="292929"/>
                </a:solidFill>
                <a:highlight>
                  <a:srgbClr val="FFFFFF"/>
                </a:highlight>
                <a:latin typeface="Courier New"/>
                <a:ea typeface="Courier New"/>
                <a:cs typeface="Courier New"/>
                <a:sym typeface="Courier New"/>
              </a:rPr>
              <a:t>: tuple[</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 </a:t>
            </a:r>
            <a:r>
              <a:rPr lang="ru" sz="1050">
                <a:solidFill>
                  <a:srgbClr val="185E73"/>
                </a:solidFill>
                <a:highlight>
                  <a:srgbClr val="FFFFFF"/>
                </a:highlight>
                <a:latin typeface="Courier New"/>
                <a:ea typeface="Courier New"/>
                <a:cs typeface="Courier New"/>
                <a:sym typeface="Courier New"/>
              </a:rPr>
              <a:t>int</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1"/>
              <a:buFont typeface="Arial"/>
              <a:buNone/>
            </a:pPr>
            <a:r>
              <a:rPr lang="ru" sz="1050">
                <a:solidFill>
                  <a:srgbClr val="292929"/>
                </a:solidFill>
                <a:highlight>
                  <a:srgbClr val="FFFFFF"/>
                </a:highlight>
                <a:latin typeface="Courier New"/>
                <a:ea typeface="Courier New"/>
                <a:cs typeface="Courier New"/>
                <a:sym typeface="Courier New"/>
              </a:rPr>
              <a:t>    start, end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arg</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1"/>
              <a:buFont typeface="Arial"/>
              <a:buNone/>
            </a:pPr>
            <a:r>
              <a:rPr lang="ru" sz="1050">
                <a:solidFill>
                  <a:srgbClr val="292929"/>
                </a:solidFill>
                <a:highlight>
                  <a:srgbClr val="FFFFFF"/>
                </a:highlight>
                <a:latin typeface="Courier New"/>
                <a:ea typeface="Courier New"/>
                <a:cs typeface="Courier New"/>
                <a:sym typeface="Courier New"/>
              </a:rPr>
              <a:t>    </a:t>
            </a:r>
            <a:r>
              <a:rPr lang="ru" sz="1050">
                <a:solidFill>
                  <a:srgbClr val="B5200D"/>
                </a:solidFill>
                <a:highlight>
                  <a:srgbClr val="FFFFFF"/>
                </a:highlight>
                <a:latin typeface="Courier New"/>
                <a:ea typeface="Courier New"/>
                <a:cs typeface="Courier New"/>
                <a:sym typeface="Courier New"/>
              </a:rPr>
              <a:t>with</a:t>
            </a:r>
            <a:r>
              <a:rPr lang="ru" sz="1050">
                <a:solidFill>
                  <a:srgbClr val="292929"/>
                </a:solidFill>
                <a:highlight>
                  <a:srgbClr val="FFFFFF"/>
                </a:highlight>
                <a:latin typeface="Courier New"/>
                <a:ea typeface="Courier New"/>
                <a:cs typeface="Courier New"/>
                <a:sym typeface="Courier New"/>
              </a:rPr>
              <a:t> httpx.Client() </a:t>
            </a:r>
            <a:r>
              <a:rPr lang="ru" sz="1050">
                <a:solidFill>
                  <a:srgbClr val="B5200D"/>
                </a:solidFill>
                <a:highlight>
                  <a:srgbClr val="FFFFFF"/>
                </a:highlight>
                <a:latin typeface="Courier New"/>
                <a:ea typeface="Courier New"/>
                <a:cs typeface="Courier New"/>
                <a:sym typeface="Courier New"/>
              </a:rPr>
              <a:t>as</a:t>
            </a:r>
            <a:r>
              <a:rPr lang="ru" sz="1050">
                <a:solidFill>
                  <a:srgbClr val="292929"/>
                </a:solidFill>
                <a:highlight>
                  <a:srgbClr val="FFFFFF"/>
                </a:highlight>
                <a:latin typeface="Courier New"/>
                <a:ea typeface="Courier New"/>
                <a:cs typeface="Courier New"/>
                <a:sym typeface="Courier New"/>
              </a:rPr>
              <a:t> client: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1"/>
              <a:buFont typeface="Arial"/>
              <a:buNone/>
            </a:pPr>
            <a:r>
              <a:rPr lang="ru" sz="1050">
                <a:solidFill>
                  <a:srgbClr val="292929"/>
                </a:solidFill>
                <a:highlight>
                  <a:srgbClr val="FFFFFF"/>
                </a:highlight>
                <a:latin typeface="Courier New"/>
                <a:ea typeface="Courier New"/>
                <a:cs typeface="Courier New"/>
                <a:sym typeface="Courier New"/>
              </a:rPr>
              <a:t>        </a:t>
            </a:r>
            <a:r>
              <a:rPr lang="ru" sz="1050">
                <a:solidFill>
                  <a:srgbClr val="B5200D"/>
                </a:solidFill>
                <a:highlight>
                  <a:srgbClr val="FFFFFF"/>
                </a:highlight>
                <a:latin typeface="Courier New"/>
                <a:ea typeface="Courier New"/>
                <a:cs typeface="Courier New"/>
                <a:sym typeface="Courier New"/>
              </a:rPr>
              <a:t>for</a:t>
            </a:r>
            <a:r>
              <a:rPr lang="ru" sz="1050">
                <a:solidFill>
                  <a:srgbClr val="292929"/>
                </a:solidFill>
                <a:highlight>
                  <a:srgbClr val="FFFFFF"/>
                </a:highlight>
                <a:latin typeface="Courier New"/>
                <a:ea typeface="Courier New"/>
                <a:cs typeface="Courier New"/>
                <a:sym typeface="Courier New"/>
              </a:rPr>
              <a:t> i </a:t>
            </a:r>
            <a:r>
              <a:rPr lang="ru" sz="1050">
                <a:solidFill>
                  <a:srgbClr val="B5200D"/>
                </a:solidFill>
                <a:highlight>
                  <a:srgbClr val="FFFFFF"/>
                </a:highlight>
                <a:latin typeface="Courier New"/>
                <a:ea typeface="Courier New"/>
                <a:cs typeface="Courier New"/>
                <a:sym typeface="Courier New"/>
              </a:rPr>
              <a:t>in</a:t>
            </a:r>
            <a:r>
              <a:rPr lang="ru" sz="1050">
                <a:solidFill>
                  <a:srgbClr val="292929"/>
                </a:solidFill>
                <a:highlight>
                  <a:srgbClr val="FFFFFF"/>
                </a:highlight>
                <a:latin typeface="Courier New"/>
                <a:ea typeface="Courier New"/>
                <a:cs typeface="Courier New"/>
                <a:sym typeface="Courier New"/>
              </a:rPr>
              <a:t> </a:t>
            </a:r>
            <a:r>
              <a:rPr lang="ru" sz="1050">
                <a:solidFill>
                  <a:srgbClr val="5E2CBC"/>
                </a:solidFill>
                <a:highlight>
                  <a:srgbClr val="FFFFFF"/>
                </a:highlight>
                <a:latin typeface="Courier New"/>
                <a:ea typeface="Courier New"/>
                <a:cs typeface="Courier New"/>
                <a:sym typeface="Courier New"/>
              </a:rPr>
              <a:t>range</a:t>
            </a:r>
            <a:r>
              <a:rPr lang="ru" sz="1050">
                <a:solidFill>
                  <a:srgbClr val="292929"/>
                </a:solidFill>
                <a:highlight>
                  <a:srgbClr val="FFFFFF"/>
                </a:highlight>
                <a:latin typeface="Courier New"/>
                <a:ea typeface="Courier New"/>
                <a:cs typeface="Courier New"/>
                <a:sym typeface="Courier New"/>
              </a:rPr>
              <a:t>(start, end </a:t>
            </a:r>
            <a:r>
              <a:rPr lang="ru" sz="1050">
                <a:solidFill>
                  <a:schemeClr val="dk1"/>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 </a:t>
            </a:r>
            <a:r>
              <a:rPr lang="ru" sz="1050">
                <a:solidFill>
                  <a:srgbClr val="096D48"/>
                </a:solidFill>
                <a:highlight>
                  <a:srgbClr val="FFFFFF"/>
                </a:highlight>
                <a:latin typeface="Courier New"/>
                <a:ea typeface="Courier New"/>
                <a:cs typeface="Courier New"/>
                <a:sym typeface="Courier New"/>
              </a:rPr>
              <a:t>1</a:t>
            </a:r>
            <a:r>
              <a:rPr lang="ru" sz="1050">
                <a:solidFill>
                  <a:srgbClr val="292929"/>
                </a:solidFill>
                <a:highlight>
                  <a:srgbClr val="FFFFFF"/>
                </a:highlight>
                <a:latin typeface="Courier New"/>
                <a:ea typeface="Courier New"/>
                <a:cs typeface="Courier New"/>
                <a:sym typeface="Courier New"/>
              </a:rPr>
              <a:t>):</a:t>
            </a:r>
            <a:endParaRPr sz="1050">
              <a:solidFill>
                <a:srgbClr val="292929"/>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ru" sz="1050">
                <a:solidFill>
                  <a:srgbClr val="292929"/>
                </a:solidFill>
                <a:highlight>
                  <a:srgbClr val="FFFFFF"/>
                </a:highlight>
                <a:latin typeface="Courier New"/>
                <a:ea typeface="Courier New"/>
                <a:cs typeface="Courier New"/>
                <a:sym typeface="Courier New"/>
              </a:rPr>
              <a:t>          client.get(</a:t>
            </a:r>
            <a:r>
              <a:rPr lang="ru" sz="1050">
                <a:solidFill>
                  <a:srgbClr val="0F4A85"/>
                </a:solidFill>
                <a:highlight>
                  <a:srgbClr val="FFFFFF"/>
                </a:highlight>
                <a:latin typeface="Courier New"/>
                <a:ea typeface="Courier New"/>
                <a:cs typeface="Courier New"/>
                <a:sym typeface="Courier New"/>
              </a:rPr>
              <a:t>f'http://jsonplaceholder.typicode.com/posts/{</a:t>
            </a:r>
            <a:r>
              <a:rPr lang="ru" sz="1050">
                <a:solidFill>
                  <a:srgbClr val="292929"/>
                </a:solidFill>
                <a:highlight>
                  <a:srgbClr val="FFFFFF"/>
                </a:highlight>
                <a:latin typeface="Courier New"/>
                <a:ea typeface="Courier New"/>
                <a:cs typeface="Courier New"/>
                <a:sym typeface="Courier New"/>
              </a:rPr>
              <a:t>i</a:t>
            </a:r>
            <a:r>
              <a:rPr lang="ru" sz="1050">
                <a:solidFill>
                  <a:srgbClr val="0F4A85"/>
                </a:solidFill>
                <a:highlight>
                  <a:srgbClr val="FFFFFF"/>
                </a:highlight>
                <a:latin typeface="Courier New"/>
                <a:ea typeface="Courier New"/>
                <a:cs typeface="Courier New"/>
                <a:sym typeface="Courier New"/>
              </a:rPr>
              <a:t>}'</a:t>
            </a:r>
            <a:r>
              <a:rPr lang="ru" sz="1050">
                <a:solidFill>
                  <a:srgbClr val="292929"/>
                </a:solidFill>
                <a:highlight>
                  <a:srgbClr val="FFFFFF"/>
                </a:highlight>
                <a:latin typeface="Courier New"/>
                <a:ea typeface="Courier New"/>
                <a:cs typeface="Courier New"/>
                <a:sym typeface="Courier New"/>
              </a:rPr>
              <a:t>)</a:t>
            </a:r>
            <a:endParaRPr/>
          </a:p>
          <a:p>
            <a:pPr indent="0" lvl="0" marL="0" rtl="0" algn="l">
              <a:spcBef>
                <a:spcPts val="0"/>
              </a:spcBef>
              <a:spcAft>
                <a:spcPts val="1200"/>
              </a:spcAft>
              <a:buNone/>
            </a:pPr>
            <a:r>
              <a:t/>
            </a:r>
            <a:endParaRPr/>
          </a:p>
        </p:txBody>
      </p:sp>
      <p:sp>
        <p:nvSpPr>
          <p:cNvPr id="196" name="Google Shape;196;p30"/>
          <p:cNvSpPr txBox="1"/>
          <p:nvPr>
            <p:ph idx="1" type="body"/>
          </p:nvPr>
        </p:nvSpPr>
        <p:spPr>
          <a:xfrm>
            <a:off x="147950" y="1345100"/>
            <a:ext cx="3242400" cy="53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CPU-bound:</a:t>
            </a:r>
            <a:endParaRPr/>
          </a:p>
        </p:txBody>
      </p:sp>
      <p:sp>
        <p:nvSpPr>
          <p:cNvPr id="197" name="Google Shape;197;p30"/>
          <p:cNvSpPr txBox="1"/>
          <p:nvPr>
            <p:ph idx="1" type="body"/>
          </p:nvPr>
        </p:nvSpPr>
        <p:spPr>
          <a:xfrm>
            <a:off x="3438300" y="1345100"/>
            <a:ext cx="5394000" cy="53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IO-bound:</a:t>
            </a:r>
            <a:endParaRPr/>
          </a:p>
        </p:txBody>
      </p:sp>
      <p:sp>
        <p:nvSpPr>
          <p:cNvPr id="198" name="Google Shape;19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CPU-bound test: Results</a:t>
            </a:r>
            <a:endParaRPr/>
          </a:p>
        </p:txBody>
      </p:sp>
      <p:pic>
        <p:nvPicPr>
          <p:cNvPr id="204" name="Google Shape;204;p31"/>
          <p:cNvPicPr preferRelativeResize="0"/>
          <p:nvPr/>
        </p:nvPicPr>
        <p:blipFill>
          <a:blip r:embed="rId3">
            <a:alphaModFix/>
          </a:blip>
          <a:stretch>
            <a:fillRect/>
          </a:stretch>
        </p:blipFill>
        <p:spPr>
          <a:xfrm>
            <a:off x="152400" y="1233688"/>
            <a:ext cx="8839200" cy="2653609"/>
          </a:xfrm>
          <a:prstGeom prst="rect">
            <a:avLst/>
          </a:prstGeom>
          <a:noFill/>
          <a:ln>
            <a:noFill/>
          </a:ln>
        </p:spPr>
      </p:pic>
      <p:sp>
        <p:nvSpPr>
          <p:cNvPr id="205" name="Google Shape;205;p31"/>
          <p:cNvSpPr txBox="1"/>
          <p:nvPr>
            <p:ph idx="1" type="body"/>
          </p:nvPr>
        </p:nvSpPr>
        <p:spPr>
          <a:xfrm>
            <a:off x="6678300" y="4767900"/>
            <a:ext cx="2154000" cy="37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000"/>
              <a:t>Runs on AMD Ryzen 7 7840HS</a:t>
            </a:r>
            <a:endParaRPr sz="1000"/>
          </a:p>
        </p:txBody>
      </p:sp>
      <p:sp>
        <p:nvSpPr>
          <p:cNvPr id="206" name="Google Shape;20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IO</a:t>
            </a:r>
            <a:r>
              <a:rPr lang="ru"/>
              <a:t>-bound test: Results</a:t>
            </a:r>
            <a:endParaRPr/>
          </a:p>
        </p:txBody>
      </p:sp>
      <p:pic>
        <p:nvPicPr>
          <p:cNvPr id="212" name="Google Shape;212;p32"/>
          <p:cNvPicPr preferRelativeResize="0"/>
          <p:nvPr/>
        </p:nvPicPr>
        <p:blipFill>
          <a:blip r:embed="rId3">
            <a:alphaModFix/>
          </a:blip>
          <a:stretch>
            <a:fillRect/>
          </a:stretch>
        </p:blipFill>
        <p:spPr>
          <a:xfrm>
            <a:off x="152400" y="1247175"/>
            <a:ext cx="8839201" cy="2565615"/>
          </a:xfrm>
          <a:prstGeom prst="rect">
            <a:avLst/>
          </a:prstGeom>
          <a:noFill/>
          <a:ln>
            <a:noFill/>
          </a:ln>
        </p:spPr>
      </p:pic>
      <p:sp>
        <p:nvSpPr>
          <p:cNvPr id="213" name="Google Shape;213;p32"/>
          <p:cNvSpPr txBox="1"/>
          <p:nvPr>
            <p:ph idx="1" type="body"/>
          </p:nvPr>
        </p:nvSpPr>
        <p:spPr>
          <a:xfrm>
            <a:off x="6678300" y="4767900"/>
            <a:ext cx="2154000" cy="37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000"/>
              <a:t>Runs on AMD Ryzen 7 7840HS</a:t>
            </a:r>
            <a:endParaRPr sz="1000"/>
          </a:p>
        </p:txBody>
      </p:sp>
      <p:sp>
        <p:nvSpPr>
          <p:cNvPr id="214" name="Google Shape;21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Results</a:t>
            </a:r>
            <a:endParaRPr/>
          </a:p>
        </p:txBody>
      </p:sp>
      <p:sp>
        <p:nvSpPr>
          <p:cNvPr id="220" name="Google Shape;22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Creating a subinterpreter and running code on a new thread is an order of magnitude faster than creating a new process</a:t>
            </a:r>
            <a:endParaRPr/>
          </a:p>
          <a:p>
            <a:pPr indent="-342900" lvl="0" marL="457200" rtl="0" algn="l">
              <a:spcBef>
                <a:spcPts val="0"/>
              </a:spcBef>
              <a:spcAft>
                <a:spcPts val="0"/>
              </a:spcAft>
              <a:buSzPts val="1800"/>
              <a:buChar char="●"/>
            </a:pPr>
            <a:r>
              <a:rPr lang="ru"/>
              <a:t>multiprocessing</a:t>
            </a:r>
            <a:r>
              <a:rPr lang="ru"/>
              <a:t>.Queue faster than concurrent.</a:t>
            </a:r>
            <a:r>
              <a:rPr lang="ru"/>
              <a:t>interpreters</a:t>
            </a:r>
            <a:r>
              <a:rPr lang="ru"/>
              <a:t>.Queue</a:t>
            </a:r>
            <a:endParaRPr/>
          </a:p>
          <a:p>
            <a:pPr indent="-342900" lvl="0" marL="457200" rtl="0" algn="l">
              <a:spcBef>
                <a:spcPts val="0"/>
              </a:spcBef>
              <a:spcAft>
                <a:spcPts val="0"/>
              </a:spcAft>
              <a:buSzPts val="1800"/>
              <a:buChar char="●"/>
            </a:pPr>
            <a:r>
              <a:rPr lang="ru"/>
              <a:t>In CPU-bound and IO-bound tests, subinterpreters showed the worst results among alternative parallelization methods</a:t>
            </a:r>
            <a:endParaRPr/>
          </a:p>
        </p:txBody>
      </p:sp>
      <p:sp>
        <p:nvSpPr>
          <p:cNvPr id="221" name="Google Shape;22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References</a:t>
            </a:r>
            <a:endParaRPr/>
          </a:p>
        </p:txBody>
      </p:sp>
      <p:sp>
        <p:nvSpPr>
          <p:cNvPr id="227" name="Google Shape;227;p34"/>
          <p:cNvSpPr txBox="1"/>
          <p:nvPr>
            <p:ph idx="1" type="body"/>
          </p:nvPr>
        </p:nvSpPr>
        <p:spPr>
          <a:xfrm>
            <a:off x="311700" y="1152475"/>
            <a:ext cx="8520600" cy="3779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ru" u="sng">
                <a:solidFill>
                  <a:schemeClr val="hlink"/>
                </a:solidFill>
                <a:hlinkClick r:id="rId3"/>
              </a:rPr>
              <a:t>https://peps.python.org/pep-0554/</a:t>
            </a:r>
            <a:endParaRPr/>
          </a:p>
          <a:p>
            <a:pPr indent="0" lvl="0" marL="0" rtl="0" algn="l">
              <a:spcBef>
                <a:spcPts val="1200"/>
              </a:spcBef>
              <a:spcAft>
                <a:spcPts val="0"/>
              </a:spcAft>
              <a:buNone/>
            </a:pPr>
            <a:r>
              <a:rPr lang="ru" u="sng">
                <a:solidFill>
                  <a:schemeClr val="hlink"/>
                </a:solidFill>
                <a:hlinkClick r:id="rId4"/>
              </a:rPr>
              <a:t>https://peps.python.org/pep-0683/</a:t>
            </a:r>
            <a:endParaRPr/>
          </a:p>
          <a:p>
            <a:pPr indent="0" lvl="0" marL="0" rtl="0" algn="l">
              <a:spcBef>
                <a:spcPts val="1200"/>
              </a:spcBef>
              <a:spcAft>
                <a:spcPts val="0"/>
              </a:spcAft>
              <a:buNone/>
            </a:pPr>
            <a:r>
              <a:rPr lang="ru" u="sng">
                <a:solidFill>
                  <a:schemeClr val="hlink"/>
                </a:solidFill>
                <a:hlinkClick r:id="rId5"/>
              </a:rPr>
              <a:t>https://peps.python.org/pep-0684/</a:t>
            </a:r>
            <a:endParaRPr/>
          </a:p>
          <a:p>
            <a:pPr indent="0" lvl="0" marL="0" rtl="0" algn="l">
              <a:spcBef>
                <a:spcPts val="1200"/>
              </a:spcBef>
              <a:spcAft>
                <a:spcPts val="0"/>
              </a:spcAft>
              <a:buNone/>
            </a:pPr>
            <a:r>
              <a:rPr lang="ru" u="sng">
                <a:solidFill>
                  <a:schemeClr val="hlink"/>
                </a:solidFill>
                <a:hlinkClick r:id="rId6"/>
              </a:rPr>
              <a:t>https://peps.python.org/pep-0687/</a:t>
            </a:r>
            <a:endParaRPr/>
          </a:p>
          <a:p>
            <a:pPr indent="0" lvl="0" marL="0" rtl="0" algn="l">
              <a:spcBef>
                <a:spcPts val="1200"/>
              </a:spcBef>
              <a:spcAft>
                <a:spcPts val="0"/>
              </a:spcAft>
              <a:buNone/>
            </a:pPr>
            <a:r>
              <a:rPr lang="ru" u="sng">
                <a:solidFill>
                  <a:schemeClr val="hlink"/>
                </a:solidFill>
                <a:hlinkClick r:id="rId7"/>
              </a:rPr>
              <a:t>https://peps.python.org/pep-0734/</a:t>
            </a:r>
            <a:endParaRPr/>
          </a:p>
          <a:p>
            <a:pPr indent="0" lvl="0" marL="0" rtl="0" algn="l">
              <a:spcBef>
                <a:spcPts val="1200"/>
              </a:spcBef>
              <a:spcAft>
                <a:spcPts val="0"/>
              </a:spcAft>
              <a:buNone/>
            </a:pPr>
            <a:r>
              <a:rPr lang="ru" u="sng">
                <a:solidFill>
                  <a:schemeClr val="hlink"/>
                </a:solidFill>
                <a:hlinkClick r:id="rId8"/>
              </a:rPr>
              <a:t>https://docs.python.org/3/library/concurrent.interpreters.html#module-concurrent.interpreters</a:t>
            </a:r>
            <a:endParaRPr/>
          </a:p>
          <a:p>
            <a:pPr indent="0" lvl="0" marL="0" rtl="0" algn="l">
              <a:spcBef>
                <a:spcPts val="1200"/>
              </a:spcBef>
              <a:spcAft>
                <a:spcPts val="0"/>
              </a:spcAft>
              <a:buNone/>
            </a:pPr>
            <a:r>
              <a:rPr lang="ru" u="sng">
                <a:solidFill>
                  <a:schemeClr val="hlink"/>
                </a:solidFill>
                <a:hlinkClick r:id="rId9"/>
              </a:rPr>
              <a:t>https://habr.com/ru/companies/timeweb/articles/922314/</a:t>
            </a:r>
            <a:endParaRPr/>
          </a:p>
          <a:p>
            <a:pPr indent="0" lvl="0" marL="0" rtl="0" algn="l">
              <a:spcBef>
                <a:spcPts val="1200"/>
              </a:spcBef>
              <a:spcAft>
                <a:spcPts val="0"/>
              </a:spcAft>
              <a:buNone/>
            </a:pPr>
            <a:r>
              <a:rPr lang="ru" u="sng">
                <a:solidFill>
                  <a:schemeClr val="hlink"/>
                </a:solidFill>
                <a:hlinkClick r:id="rId10"/>
              </a:rPr>
              <a:t>https://youtu.be/VBiaNNpLzWA?si=yLqYuN3pbb5TpHGe</a:t>
            </a:r>
            <a:endParaRPr/>
          </a:p>
          <a:p>
            <a:pPr indent="0" lvl="0" marL="0" rtl="0" algn="l">
              <a:spcBef>
                <a:spcPts val="1200"/>
              </a:spcBef>
              <a:spcAft>
                <a:spcPts val="0"/>
              </a:spcAft>
              <a:buNone/>
            </a:pPr>
            <a:r>
              <a:rPr lang="ru" u="sng">
                <a:solidFill>
                  <a:schemeClr val="hlink"/>
                </a:solidFill>
                <a:hlinkClick r:id="rId11"/>
              </a:rPr>
              <a:t>https://gist.github.com/sobolevn/149a461c629f6e03aef3a772c7422b2e</a:t>
            </a:r>
            <a:endParaRPr/>
          </a:p>
          <a:p>
            <a:pPr indent="0" lvl="0" marL="0" rtl="0" algn="l">
              <a:spcBef>
                <a:spcPts val="1200"/>
              </a:spcBef>
              <a:spcAft>
                <a:spcPts val="1200"/>
              </a:spcAft>
              <a:buNone/>
            </a:pPr>
            <a:r>
              <a:t/>
            </a:r>
            <a:endParaRPr/>
          </a:p>
        </p:txBody>
      </p:sp>
      <p:sp>
        <p:nvSpPr>
          <p:cNvPr id="228" name="Google Shape;22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