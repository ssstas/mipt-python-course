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659" r:id="rId1"/>
  </p:sldMasterIdLst>
  <p:notesMasterIdLst>
    <p:notesMasterId r:id="rId26"/>
  </p:notesMasterIdLst>
  <p:sldIdLst>
    <p:sldId id="256" r:id="rId2"/>
    <p:sldId id="257" r:id="rId3"/>
    <p:sldId id="258" r:id="rId4"/>
    <p:sldId id="259" r:id="rId5"/>
    <p:sldId id="260" r:id="rId6"/>
    <p:sldId id="261" r:id="rId7"/>
    <p:sldId id="262" r:id="rId8"/>
    <p:sldId id="278" r:id="rId9"/>
    <p:sldId id="263" r:id="rId10"/>
    <p:sldId id="264" r:id="rId11"/>
    <p:sldId id="279"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121" d="100"/>
          <a:sy n="121" d="100"/>
        </p:scale>
        <p:origin x="351" y="57"/>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txBody>
          <a:bodyPr/>
          <a:lstStyle/>
          <a:p>
            <a:endParaRPr lang="ru-RU"/>
          </a:p>
        </p:txBody>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ru-RU"/>
          </a:p>
        </p:txBody>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
        <p:cNvGrpSpPr/>
        <p:nvPr/>
      </p:nvGrpSpPr>
      <p:grpSpPr>
        <a:xfrm>
          <a:off x="0" y="0"/>
          <a:ext cx="0" cy="0"/>
          <a:chOff x="0" y="0"/>
          <a:chExt cx="0" cy="0"/>
        </a:xfrm>
      </p:grpSpPr>
      <p:sp>
        <p:nvSpPr>
          <p:cNvPr id="56" name="Google Shape;56;g5dc779695ec6256a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ru-RU"/>
          </a:p>
        </p:txBody>
      </p:sp>
      <p:sp>
        <p:nvSpPr>
          <p:cNvPr id="57" name="Google Shape;57;g5dc779695ec6256a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g3b014391010_0_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ru-RU"/>
          </a:p>
        </p:txBody>
      </p:sp>
      <p:sp>
        <p:nvSpPr>
          <p:cNvPr id="64" name="Google Shape;64;g3b014391010_0_1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
        <p:cNvGrpSpPr/>
        <p:nvPr/>
      </p:nvGrpSpPr>
      <p:grpSpPr>
        <a:xfrm>
          <a:off x="0" y="0"/>
          <a:ext cx="0" cy="0"/>
          <a:chOff x="0" y="0"/>
          <a:chExt cx="0" cy="0"/>
        </a:xfrm>
      </p:grpSpPr>
      <p:sp>
        <p:nvSpPr>
          <p:cNvPr id="70" name="Google Shape;70;g3b014391010_0_8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ru-RU"/>
          </a:p>
        </p:txBody>
      </p:sp>
      <p:sp>
        <p:nvSpPr>
          <p:cNvPr id="71" name="Google Shape;71;g3b014391010_0_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6"/>
        <p:cNvGrpSpPr/>
        <p:nvPr/>
      </p:nvGrpSpPr>
      <p:grpSpPr>
        <a:xfrm>
          <a:off x="0" y="0"/>
          <a:ext cx="0" cy="0"/>
          <a:chOff x="0" y="0"/>
          <a:chExt cx="0" cy="0"/>
        </a:xfrm>
      </p:grpSpPr>
      <p:sp>
        <p:nvSpPr>
          <p:cNvPr id="77" name="Google Shape;77;g3b014391010_0_9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ru-RU"/>
          </a:p>
        </p:txBody>
      </p:sp>
      <p:sp>
        <p:nvSpPr>
          <p:cNvPr id="78" name="Google Shape;78;g3b014391010_0_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
        <p:cNvGrpSpPr/>
        <p:nvPr/>
      </p:nvGrpSpPr>
      <p:grpSpPr>
        <a:xfrm>
          <a:off x="0" y="0"/>
          <a:ext cx="0" cy="0"/>
          <a:chOff x="0" y="0"/>
          <a:chExt cx="0" cy="0"/>
        </a:xfrm>
      </p:grpSpPr>
      <p:sp>
        <p:nvSpPr>
          <p:cNvPr id="84" name="Google Shape;84;g3b014391010_0_3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ru-RU"/>
          </a:p>
        </p:txBody>
      </p:sp>
      <p:sp>
        <p:nvSpPr>
          <p:cNvPr id="85" name="Google Shape;85;g3b014391010_0_3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3b014391010_0_4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ru-RU"/>
          </a:p>
        </p:txBody>
      </p:sp>
      <p:sp>
        <p:nvSpPr>
          <p:cNvPr id="92" name="Google Shape;92;g3b014391010_0_4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a:extLst>
            <a:ext uri="{FF2B5EF4-FFF2-40B4-BE49-F238E27FC236}">
              <a16:creationId xmlns:a16="http://schemas.microsoft.com/office/drawing/2014/main" id="{8B184321-527A-AE89-EC68-C67EC627B641}"/>
            </a:ext>
          </a:extLst>
        </p:cNvPr>
        <p:cNvGrpSpPr/>
        <p:nvPr/>
      </p:nvGrpSpPr>
      <p:grpSpPr>
        <a:xfrm>
          <a:off x="0" y="0"/>
          <a:ext cx="0" cy="0"/>
          <a:chOff x="0" y="0"/>
          <a:chExt cx="0" cy="0"/>
        </a:xfrm>
      </p:grpSpPr>
      <p:sp>
        <p:nvSpPr>
          <p:cNvPr id="128" name="Google Shape;128;g3b066010c6a_0_1:notes">
            <a:extLst>
              <a:ext uri="{FF2B5EF4-FFF2-40B4-BE49-F238E27FC236}">
                <a16:creationId xmlns:a16="http://schemas.microsoft.com/office/drawing/2014/main" id="{DBE86E99-E64D-EB63-4CBB-E2280F8C94C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ru-RU"/>
          </a:p>
        </p:txBody>
      </p:sp>
      <p:sp>
        <p:nvSpPr>
          <p:cNvPr id="129" name="Google Shape;129;g3b066010c6a_0_1:notes">
            <a:extLst>
              <a:ext uri="{FF2B5EF4-FFF2-40B4-BE49-F238E27FC236}">
                <a16:creationId xmlns:a16="http://schemas.microsoft.com/office/drawing/2014/main" id="{C9E417FE-A8C3-ADD3-F01F-A16EB92D900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5985786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g3b014391010_0_6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ru-RU"/>
          </a:p>
        </p:txBody>
      </p:sp>
      <p:sp>
        <p:nvSpPr>
          <p:cNvPr id="102" name="Google Shape;102;g3b014391010_0_6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
        <p:cNvGrpSpPr/>
        <p:nvPr/>
      </p:nvGrpSpPr>
      <p:grpSpPr>
        <a:xfrm>
          <a:off x="0" y="0"/>
          <a:ext cx="0" cy="0"/>
          <a:chOff x="0" y="0"/>
          <a:chExt cx="0" cy="0"/>
        </a:xfrm>
      </p:grpSpPr>
      <p:sp>
        <p:nvSpPr>
          <p:cNvPr id="110" name="Google Shape;110;g3b014391010_0_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ru-RU"/>
          </a:p>
        </p:txBody>
      </p:sp>
      <p:sp>
        <p:nvSpPr>
          <p:cNvPr id="111" name="Google Shape;111;g3b014391010_0_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a:extLst>
            <a:ext uri="{FF2B5EF4-FFF2-40B4-BE49-F238E27FC236}">
              <a16:creationId xmlns:a16="http://schemas.microsoft.com/office/drawing/2014/main" id="{5093D888-E8CD-6963-72ED-B4DC938D4081}"/>
            </a:ext>
          </a:extLst>
        </p:cNvPr>
        <p:cNvGrpSpPr/>
        <p:nvPr/>
      </p:nvGrpSpPr>
      <p:grpSpPr>
        <a:xfrm>
          <a:off x="0" y="0"/>
          <a:ext cx="0" cy="0"/>
          <a:chOff x="0" y="0"/>
          <a:chExt cx="0" cy="0"/>
        </a:xfrm>
      </p:grpSpPr>
      <p:sp>
        <p:nvSpPr>
          <p:cNvPr id="128" name="Google Shape;128;g3b066010c6a_0_1:notes">
            <a:extLst>
              <a:ext uri="{FF2B5EF4-FFF2-40B4-BE49-F238E27FC236}">
                <a16:creationId xmlns:a16="http://schemas.microsoft.com/office/drawing/2014/main" id="{F15EA377-C332-1E66-76D3-4248E4AE3B6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ru-RU"/>
          </a:p>
        </p:txBody>
      </p:sp>
      <p:sp>
        <p:nvSpPr>
          <p:cNvPr id="129" name="Google Shape;129;g3b066010c6a_0_1:notes">
            <a:extLst>
              <a:ext uri="{FF2B5EF4-FFF2-40B4-BE49-F238E27FC236}">
                <a16:creationId xmlns:a16="http://schemas.microsoft.com/office/drawing/2014/main" id="{FF868180-999D-9548-D621-3BD86887B3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6721031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
        <p:cNvGrpSpPr/>
        <p:nvPr/>
      </p:nvGrpSpPr>
      <p:grpSpPr>
        <a:xfrm>
          <a:off x="0" y="0"/>
          <a:ext cx="0" cy="0"/>
          <a:chOff x="0" y="0"/>
          <a:chExt cx="0" cy="0"/>
        </a:xfrm>
      </p:grpSpPr>
      <p:sp>
        <p:nvSpPr>
          <p:cNvPr id="117" name="Google Shape;117;g3b014391010_0_3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ru-RU"/>
          </a:p>
        </p:txBody>
      </p:sp>
      <p:sp>
        <p:nvSpPr>
          <p:cNvPr id="118" name="Google Shape;118;g3b014391010_0_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g3b066010c6a_0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ru-RU"/>
          </a:p>
        </p:txBody>
      </p:sp>
      <p:sp>
        <p:nvSpPr>
          <p:cNvPr id="129" name="Google Shape;129;g3b066010c6a_0_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0"/>
        <p:cNvGrpSpPr/>
        <p:nvPr/>
      </p:nvGrpSpPr>
      <p:grpSpPr>
        <a:xfrm>
          <a:off x="0" y="0"/>
          <a:ext cx="0" cy="0"/>
          <a:chOff x="0" y="0"/>
          <a:chExt cx="0" cy="0"/>
        </a:xfrm>
      </p:grpSpPr>
      <p:sp>
        <p:nvSpPr>
          <p:cNvPr id="141" name="Google Shape;141;g3b014391010_0_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ru-RU"/>
          </a:p>
        </p:txBody>
      </p:sp>
      <p:sp>
        <p:nvSpPr>
          <p:cNvPr id="142" name="Google Shape;142;g3b014391010_0_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8"/>
        <p:cNvGrpSpPr/>
        <p:nvPr/>
      </p:nvGrpSpPr>
      <p:grpSpPr>
        <a:xfrm>
          <a:off x="0" y="0"/>
          <a:ext cx="0" cy="0"/>
          <a:chOff x="0" y="0"/>
          <a:chExt cx="0" cy="0"/>
        </a:xfrm>
      </p:grpSpPr>
      <p:sp>
        <p:nvSpPr>
          <p:cNvPr id="149" name="Google Shape;149;g3b066010c6a_0_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ru-RU"/>
          </a:p>
        </p:txBody>
      </p:sp>
      <p:sp>
        <p:nvSpPr>
          <p:cNvPr id="150" name="Google Shape;150;g3b066010c6a_0_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3b014391010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ru-RU"/>
          </a:p>
        </p:txBody>
      </p:sp>
      <p:sp>
        <p:nvSpPr>
          <p:cNvPr id="158" name="Google Shape;158;g3b014391010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4"/>
        <p:cNvGrpSpPr/>
        <p:nvPr/>
      </p:nvGrpSpPr>
      <p:grpSpPr>
        <a:xfrm>
          <a:off x="0" y="0"/>
          <a:ext cx="0" cy="0"/>
          <a:chOff x="0" y="0"/>
          <a:chExt cx="0" cy="0"/>
        </a:xfrm>
      </p:grpSpPr>
      <p:sp>
        <p:nvSpPr>
          <p:cNvPr id="165" name="Google Shape;165;g3b014391010_0_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ru-RU"/>
          </a:p>
        </p:txBody>
      </p:sp>
      <p:sp>
        <p:nvSpPr>
          <p:cNvPr id="166" name="Google Shape;166;g3b014391010_0_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2"/>
        <p:cNvGrpSpPr/>
        <p:nvPr/>
      </p:nvGrpSpPr>
      <p:grpSpPr>
        <a:xfrm>
          <a:off x="0" y="0"/>
          <a:ext cx="0" cy="0"/>
          <a:chOff x="0" y="0"/>
          <a:chExt cx="0" cy="0"/>
        </a:xfrm>
      </p:grpSpPr>
      <p:sp>
        <p:nvSpPr>
          <p:cNvPr id="173" name="Google Shape;173;g3b066010c6a_0_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ru-RU"/>
          </a:p>
        </p:txBody>
      </p:sp>
      <p:sp>
        <p:nvSpPr>
          <p:cNvPr id="174" name="Google Shape;174;g3b066010c6a_0_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1"/>
        <p:cNvGrpSpPr/>
        <p:nvPr/>
      </p:nvGrpSpPr>
      <p:grpSpPr>
        <a:xfrm>
          <a:off x="0" y="0"/>
          <a:ext cx="0" cy="0"/>
          <a:chOff x="0" y="0"/>
          <a:chExt cx="0" cy="0"/>
        </a:xfrm>
      </p:grpSpPr>
      <p:sp>
        <p:nvSpPr>
          <p:cNvPr id="182" name="Google Shape;182;g3b014391010_0_5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ru-RU"/>
          </a:p>
        </p:txBody>
      </p:sp>
      <p:sp>
        <p:nvSpPr>
          <p:cNvPr id="183" name="Google Shape;183;g3b014391010_0_5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9"/>
        <p:cNvGrpSpPr/>
        <p:nvPr/>
      </p:nvGrpSpPr>
      <p:grpSpPr>
        <a:xfrm>
          <a:off x="0" y="0"/>
          <a:ext cx="0" cy="0"/>
          <a:chOff x="0" y="0"/>
          <a:chExt cx="0" cy="0"/>
        </a:xfrm>
      </p:grpSpPr>
      <p:sp>
        <p:nvSpPr>
          <p:cNvPr id="190" name="Google Shape;190;g3b066010c6a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ru-RU"/>
          </a:p>
        </p:txBody>
      </p:sp>
      <p:sp>
        <p:nvSpPr>
          <p:cNvPr id="191" name="Google Shape;191;g3b066010c6a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9"/>
        <p:cNvGrpSpPr/>
        <p:nvPr/>
      </p:nvGrpSpPr>
      <p:grpSpPr>
        <a:xfrm>
          <a:off x="0" y="0"/>
          <a:ext cx="0" cy="0"/>
          <a:chOff x="0" y="0"/>
          <a:chExt cx="0" cy="0"/>
        </a:xfrm>
      </p:grpSpPr>
      <p:sp>
        <p:nvSpPr>
          <p:cNvPr id="200" name="Google Shape;200;g3b014391010_0_8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ru-RU"/>
          </a:p>
        </p:txBody>
      </p:sp>
      <p:sp>
        <p:nvSpPr>
          <p:cNvPr id="201" name="Google Shape;201;g3b014391010_0_8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7"/>
        <p:cNvGrpSpPr/>
        <p:nvPr/>
      </p:nvGrpSpPr>
      <p:grpSpPr>
        <a:xfrm>
          <a:off x="0" y="0"/>
          <a:ext cx="0" cy="0"/>
          <a:chOff x="0" y="0"/>
          <a:chExt cx="0" cy="0"/>
        </a:xfrm>
      </p:grpSpPr>
      <p:sp>
        <p:nvSpPr>
          <p:cNvPr id="208" name="Google Shape;208;g3b014391010_0_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ru-RU"/>
          </a:p>
        </p:txBody>
      </p:sp>
      <p:sp>
        <p:nvSpPr>
          <p:cNvPr id="209" name="Google Shape;209;g3b014391010_0_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5"/>
        <p:cNvGrpSpPr/>
        <p:nvPr/>
      </p:nvGrpSpPr>
      <p:grpSpPr>
        <a:xfrm>
          <a:off x="0" y="0"/>
          <a:ext cx="0" cy="0"/>
          <a:chOff x="0" y="0"/>
          <a:chExt cx="0" cy="0"/>
        </a:xfrm>
      </p:grpSpPr>
      <p:sp>
        <p:nvSpPr>
          <p:cNvPr id="216" name="Google Shape;216;g3b066010c6a_0_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ru-RU"/>
          </a:p>
        </p:txBody>
      </p:sp>
      <p:sp>
        <p:nvSpPr>
          <p:cNvPr id="217" name="Google Shape;217;g3b066010c6a_0_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2"/>
        <p:cNvGrpSpPr/>
        <p:nvPr/>
      </p:nvGrpSpPr>
      <p:grpSpPr>
        <a:xfrm>
          <a:off x="0" y="0"/>
          <a:ext cx="0" cy="0"/>
          <a:chOff x="0" y="0"/>
          <a:chExt cx="0" cy="0"/>
        </a:xfrm>
      </p:grpSpPr>
      <p:sp>
        <p:nvSpPr>
          <p:cNvPr id="223" name="Google Shape;223;g3b014391010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ru-RU"/>
          </a:p>
        </p:txBody>
      </p:sp>
      <p:sp>
        <p:nvSpPr>
          <p:cNvPr id="224" name="Google Shape;224;g3b014391010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ru"/>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ru"/>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ru"/>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ru"/>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ru"/>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ru"/>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ru"/>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ru"/>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ru"/>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ru"/>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ru"/>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ru"/>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3.xml"/><Relationship Id="rId5" Type="http://schemas.openxmlformats.org/officeDocument/2006/relationships/image" Target="../media/image4.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3.xml"/><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8.xml"/><Relationship Id="rId1" Type="http://schemas.openxmlformats.org/officeDocument/2006/relationships/slideLayout" Target="../slideLayouts/slideLayout3.xml"/><Relationship Id="rId4" Type="http://schemas.openxmlformats.org/officeDocument/2006/relationships/image" Target="../media/image12.png"/></Relationships>
</file>

<file path=ppt/slides/_rels/slide1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8" Type="http://schemas.openxmlformats.org/officeDocument/2006/relationships/hyperlink" Target="https://docs.python.org/3/library/concurrent.interpreters.html#module-concurrent.interpreters" TargetMode="External"/><Relationship Id="rId3" Type="http://schemas.openxmlformats.org/officeDocument/2006/relationships/hyperlink" Target="https://peps.python.org/pep-0554/" TargetMode="External"/><Relationship Id="rId7" Type="http://schemas.openxmlformats.org/officeDocument/2006/relationships/hyperlink" Target="https://peps.python.org/pep-0734/" TargetMode="External"/><Relationship Id="rId12" Type="http://schemas.openxmlformats.org/officeDocument/2006/relationships/hyperlink" Target="https://github.com/SSStas/mipt-python-course/tree/main/subinterpreters_project" TargetMode="External"/><Relationship Id="rId2" Type="http://schemas.openxmlformats.org/officeDocument/2006/relationships/notesSlide" Target="../notesSlides/notesSlide24.xml"/><Relationship Id="rId1" Type="http://schemas.openxmlformats.org/officeDocument/2006/relationships/slideLayout" Target="../slideLayouts/slideLayout3.xml"/><Relationship Id="rId6" Type="http://schemas.openxmlformats.org/officeDocument/2006/relationships/hyperlink" Target="https://peps.python.org/pep-0687/" TargetMode="External"/><Relationship Id="rId11" Type="http://schemas.openxmlformats.org/officeDocument/2006/relationships/hyperlink" Target="https://gist.github.com/sobolevn/149a461c629f6e03aef3a772c7422b2e" TargetMode="External"/><Relationship Id="rId5" Type="http://schemas.openxmlformats.org/officeDocument/2006/relationships/hyperlink" Target="https://peps.python.org/pep-0684/" TargetMode="External"/><Relationship Id="rId10" Type="http://schemas.openxmlformats.org/officeDocument/2006/relationships/hyperlink" Target="https://youtu.be/VBiaNNpLzWA?si=yLqYuN3pbb5TpHGe" TargetMode="External"/><Relationship Id="rId4" Type="http://schemas.openxmlformats.org/officeDocument/2006/relationships/hyperlink" Target="https://peps.python.org/pep-0683/" TargetMode="External"/><Relationship Id="rId9" Type="http://schemas.openxmlformats.org/officeDocument/2006/relationships/hyperlink" Target="https://habr.com/ru/companies/timeweb/articles/922314/"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3"/>
        <p:cNvGrpSpPr/>
        <p:nvPr/>
      </p:nvGrpSpPr>
      <p:grpSpPr>
        <a:xfrm>
          <a:off x="0" y="0"/>
          <a:ext cx="0" cy="0"/>
          <a:chOff x="0" y="0"/>
          <a:chExt cx="0" cy="0"/>
        </a:xfrm>
      </p:grpSpPr>
      <p:sp>
        <p:nvSpPr>
          <p:cNvPr id="54" name="Google Shape;54;p13"/>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r>
              <a:rPr lang="ru" dirty="0"/>
              <a:t>Subinterpreters</a:t>
            </a:r>
            <a:endParaRPr dirty="0"/>
          </a:p>
        </p:txBody>
      </p:sp>
      <p:sp>
        <p:nvSpPr>
          <p:cNvPr id="2" name="Google Shape;54;p13">
            <a:extLst>
              <a:ext uri="{FF2B5EF4-FFF2-40B4-BE49-F238E27FC236}">
                <a16:creationId xmlns:a16="http://schemas.microsoft.com/office/drawing/2014/main" id="{BA0B995A-DC07-F25F-0408-D4497AAE5403}"/>
              </a:ext>
            </a:extLst>
          </p:cNvPr>
          <p:cNvSpPr txBox="1">
            <a:spLocks/>
          </p:cNvSpPr>
          <p:nvPr/>
        </p:nvSpPr>
        <p:spPr>
          <a:xfrm>
            <a:off x="311692" y="2797175"/>
            <a:ext cx="8520600" cy="427093"/>
          </a:xfrm>
          <a:prstGeom prst="rect">
            <a:avLst/>
          </a:prstGeom>
          <a:noFill/>
          <a:ln>
            <a:noFill/>
          </a:ln>
        </p:spPr>
        <p:txBody>
          <a:bodyPr spcFirstLastPara="1" wrap="square" lIns="91425" tIns="91425" rIns="91425" bIns="91425" anchor="b" anchorCtr="0">
            <a:normAutofit fontScale="92500" lnSpcReduction="10000"/>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5200"/>
              <a:buFont typeface="Arial"/>
              <a:buNone/>
              <a:defRPr sz="5200" b="0" i="0" u="none" strike="noStrike" cap="none">
                <a:solidFill>
                  <a:schemeClr val="dk1"/>
                </a:solidFill>
                <a:latin typeface="Arial"/>
                <a:ea typeface="Arial"/>
                <a:cs typeface="Arial"/>
                <a:sym typeface="Arial"/>
              </a:defRPr>
            </a:lvl1pPr>
            <a:lvl2pPr marR="0" lvl="1" algn="ctr" rtl="0">
              <a:lnSpc>
                <a:spcPct val="100000"/>
              </a:lnSpc>
              <a:spcBef>
                <a:spcPts val="0"/>
              </a:spcBef>
              <a:spcAft>
                <a:spcPts val="0"/>
              </a:spcAft>
              <a:buClr>
                <a:schemeClr val="dk1"/>
              </a:buClr>
              <a:buSzPts val="5200"/>
              <a:buFont typeface="Arial"/>
              <a:buNone/>
              <a:defRPr sz="5200" b="0" i="0" u="none" strike="noStrike" cap="none">
                <a:solidFill>
                  <a:schemeClr val="dk1"/>
                </a:solidFill>
                <a:latin typeface="Arial"/>
                <a:ea typeface="Arial"/>
                <a:cs typeface="Arial"/>
                <a:sym typeface="Arial"/>
              </a:defRPr>
            </a:lvl2pPr>
            <a:lvl3pPr marR="0" lvl="2" algn="ctr" rtl="0">
              <a:lnSpc>
                <a:spcPct val="100000"/>
              </a:lnSpc>
              <a:spcBef>
                <a:spcPts val="0"/>
              </a:spcBef>
              <a:spcAft>
                <a:spcPts val="0"/>
              </a:spcAft>
              <a:buClr>
                <a:schemeClr val="dk1"/>
              </a:buClr>
              <a:buSzPts val="5200"/>
              <a:buFont typeface="Arial"/>
              <a:buNone/>
              <a:defRPr sz="5200" b="0" i="0" u="none" strike="noStrike" cap="none">
                <a:solidFill>
                  <a:schemeClr val="dk1"/>
                </a:solidFill>
                <a:latin typeface="Arial"/>
                <a:ea typeface="Arial"/>
                <a:cs typeface="Arial"/>
                <a:sym typeface="Arial"/>
              </a:defRPr>
            </a:lvl3pPr>
            <a:lvl4pPr marR="0" lvl="3" algn="ctr" rtl="0">
              <a:lnSpc>
                <a:spcPct val="100000"/>
              </a:lnSpc>
              <a:spcBef>
                <a:spcPts val="0"/>
              </a:spcBef>
              <a:spcAft>
                <a:spcPts val="0"/>
              </a:spcAft>
              <a:buClr>
                <a:schemeClr val="dk1"/>
              </a:buClr>
              <a:buSzPts val="5200"/>
              <a:buFont typeface="Arial"/>
              <a:buNone/>
              <a:defRPr sz="5200" b="0" i="0" u="none" strike="noStrike" cap="none">
                <a:solidFill>
                  <a:schemeClr val="dk1"/>
                </a:solidFill>
                <a:latin typeface="Arial"/>
                <a:ea typeface="Arial"/>
                <a:cs typeface="Arial"/>
                <a:sym typeface="Arial"/>
              </a:defRPr>
            </a:lvl4pPr>
            <a:lvl5pPr marR="0" lvl="4" algn="ctr" rtl="0">
              <a:lnSpc>
                <a:spcPct val="100000"/>
              </a:lnSpc>
              <a:spcBef>
                <a:spcPts val="0"/>
              </a:spcBef>
              <a:spcAft>
                <a:spcPts val="0"/>
              </a:spcAft>
              <a:buClr>
                <a:schemeClr val="dk1"/>
              </a:buClr>
              <a:buSzPts val="5200"/>
              <a:buFont typeface="Arial"/>
              <a:buNone/>
              <a:defRPr sz="5200" b="0" i="0" u="none" strike="noStrike" cap="none">
                <a:solidFill>
                  <a:schemeClr val="dk1"/>
                </a:solidFill>
                <a:latin typeface="Arial"/>
                <a:ea typeface="Arial"/>
                <a:cs typeface="Arial"/>
                <a:sym typeface="Arial"/>
              </a:defRPr>
            </a:lvl5pPr>
            <a:lvl6pPr marR="0" lvl="5" algn="ctr" rtl="0">
              <a:lnSpc>
                <a:spcPct val="100000"/>
              </a:lnSpc>
              <a:spcBef>
                <a:spcPts val="0"/>
              </a:spcBef>
              <a:spcAft>
                <a:spcPts val="0"/>
              </a:spcAft>
              <a:buClr>
                <a:schemeClr val="dk1"/>
              </a:buClr>
              <a:buSzPts val="5200"/>
              <a:buFont typeface="Arial"/>
              <a:buNone/>
              <a:defRPr sz="5200" b="0" i="0" u="none" strike="noStrike" cap="none">
                <a:solidFill>
                  <a:schemeClr val="dk1"/>
                </a:solidFill>
                <a:latin typeface="Arial"/>
                <a:ea typeface="Arial"/>
                <a:cs typeface="Arial"/>
                <a:sym typeface="Arial"/>
              </a:defRPr>
            </a:lvl6pPr>
            <a:lvl7pPr marR="0" lvl="6" algn="ctr" rtl="0">
              <a:lnSpc>
                <a:spcPct val="100000"/>
              </a:lnSpc>
              <a:spcBef>
                <a:spcPts val="0"/>
              </a:spcBef>
              <a:spcAft>
                <a:spcPts val="0"/>
              </a:spcAft>
              <a:buClr>
                <a:schemeClr val="dk1"/>
              </a:buClr>
              <a:buSzPts val="5200"/>
              <a:buFont typeface="Arial"/>
              <a:buNone/>
              <a:defRPr sz="5200" b="0" i="0" u="none" strike="noStrike" cap="none">
                <a:solidFill>
                  <a:schemeClr val="dk1"/>
                </a:solidFill>
                <a:latin typeface="Arial"/>
                <a:ea typeface="Arial"/>
                <a:cs typeface="Arial"/>
                <a:sym typeface="Arial"/>
              </a:defRPr>
            </a:lvl7pPr>
            <a:lvl8pPr marR="0" lvl="7" algn="ctr" rtl="0">
              <a:lnSpc>
                <a:spcPct val="100000"/>
              </a:lnSpc>
              <a:spcBef>
                <a:spcPts val="0"/>
              </a:spcBef>
              <a:spcAft>
                <a:spcPts val="0"/>
              </a:spcAft>
              <a:buClr>
                <a:schemeClr val="dk1"/>
              </a:buClr>
              <a:buSzPts val="5200"/>
              <a:buFont typeface="Arial"/>
              <a:buNone/>
              <a:defRPr sz="5200" b="0" i="0" u="none" strike="noStrike" cap="none">
                <a:solidFill>
                  <a:schemeClr val="dk1"/>
                </a:solidFill>
                <a:latin typeface="Arial"/>
                <a:ea typeface="Arial"/>
                <a:cs typeface="Arial"/>
                <a:sym typeface="Arial"/>
              </a:defRPr>
            </a:lvl8pPr>
            <a:lvl9pPr marR="0" lvl="8" algn="ctr" rtl="0">
              <a:lnSpc>
                <a:spcPct val="100000"/>
              </a:lnSpc>
              <a:spcBef>
                <a:spcPts val="0"/>
              </a:spcBef>
              <a:spcAft>
                <a:spcPts val="0"/>
              </a:spcAft>
              <a:buClr>
                <a:schemeClr val="dk1"/>
              </a:buClr>
              <a:buSzPts val="5200"/>
              <a:buFont typeface="Arial"/>
              <a:buNone/>
              <a:defRPr sz="5200" b="0" i="0" u="none" strike="noStrike" cap="none">
                <a:solidFill>
                  <a:schemeClr val="dk1"/>
                </a:solidFill>
                <a:latin typeface="Arial"/>
                <a:ea typeface="Arial"/>
                <a:cs typeface="Arial"/>
                <a:sym typeface="Arial"/>
              </a:defRPr>
            </a:lvl9pPr>
          </a:lstStyle>
          <a:p>
            <a:r>
              <a:rPr lang="en-US" sz="1800" dirty="0"/>
              <a:t>Stanislav Nikitin</a:t>
            </a:r>
          </a:p>
        </p:txBody>
      </p:sp>
      <p:sp>
        <p:nvSpPr>
          <p:cNvPr id="3" name="Google Shape;54;p13">
            <a:extLst>
              <a:ext uri="{FF2B5EF4-FFF2-40B4-BE49-F238E27FC236}">
                <a16:creationId xmlns:a16="http://schemas.microsoft.com/office/drawing/2014/main" id="{0D305821-5CF2-8B8E-D645-2BE387A55BB1}"/>
              </a:ext>
            </a:extLst>
          </p:cNvPr>
          <p:cNvSpPr txBox="1">
            <a:spLocks/>
          </p:cNvSpPr>
          <p:nvPr/>
        </p:nvSpPr>
        <p:spPr>
          <a:xfrm>
            <a:off x="311692" y="4639003"/>
            <a:ext cx="8520600" cy="504497"/>
          </a:xfrm>
          <a:prstGeom prst="rect">
            <a:avLst/>
          </a:prstGeom>
          <a:noFill/>
          <a:ln>
            <a:noFill/>
          </a:ln>
        </p:spPr>
        <p:txBody>
          <a:bodyPr spcFirstLastPara="1" wrap="square" lIns="91425" tIns="91425" rIns="91425" bIns="91425" anchor="b" anchorCtr="0">
            <a:norm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5200"/>
              <a:buFont typeface="Arial"/>
              <a:buNone/>
              <a:defRPr sz="5200" b="0" i="0" u="none" strike="noStrike" cap="none">
                <a:solidFill>
                  <a:schemeClr val="dk1"/>
                </a:solidFill>
                <a:latin typeface="Arial"/>
                <a:ea typeface="Arial"/>
                <a:cs typeface="Arial"/>
                <a:sym typeface="Arial"/>
              </a:defRPr>
            </a:lvl1pPr>
            <a:lvl2pPr marR="0" lvl="1" algn="ctr" rtl="0">
              <a:lnSpc>
                <a:spcPct val="100000"/>
              </a:lnSpc>
              <a:spcBef>
                <a:spcPts val="0"/>
              </a:spcBef>
              <a:spcAft>
                <a:spcPts val="0"/>
              </a:spcAft>
              <a:buClr>
                <a:schemeClr val="dk1"/>
              </a:buClr>
              <a:buSzPts val="5200"/>
              <a:buFont typeface="Arial"/>
              <a:buNone/>
              <a:defRPr sz="5200" b="0" i="0" u="none" strike="noStrike" cap="none">
                <a:solidFill>
                  <a:schemeClr val="dk1"/>
                </a:solidFill>
                <a:latin typeface="Arial"/>
                <a:ea typeface="Arial"/>
                <a:cs typeface="Arial"/>
                <a:sym typeface="Arial"/>
              </a:defRPr>
            </a:lvl2pPr>
            <a:lvl3pPr marR="0" lvl="2" algn="ctr" rtl="0">
              <a:lnSpc>
                <a:spcPct val="100000"/>
              </a:lnSpc>
              <a:spcBef>
                <a:spcPts val="0"/>
              </a:spcBef>
              <a:spcAft>
                <a:spcPts val="0"/>
              </a:spcAft>
              <a:buClr>
                <a:schemeClr val="dk1"/>
              </a:buClr>
              <a:buSzPts val="5200"/>
              <a:buFont typeface="Arial"/>
              <a:buNone/>
              <a:defRPr sz="5200" b="0" i="0" u="none" strike="noStrike" cap="none">
                <a:solidFill>
                  <a:schemeClr val="dk1"/>
                </a:solidFill>
                <a:latin typeface="Arial"/>
                <a:ea typeface="Arial"/>
                <a:cs typeface="Arial"/>
                <a:sym typeface="Arial"/>
              </a:defRPr>
            </a:lvl3pPr>
            <a:lvl4pPr marR="0" lvl="3" algn="ctr" rtl="0">
              <a:lnSpc>
                <a:spcPct val="100000"/>
              </a:lnSpc>
              <a:spcBef>
                <a:spcPts val="0"/>
              </a:spcBef>
              <a:spcAft>
                <a:spcPts val="0"/>
              </a:spcAft>
              <a:buClr>
                <a:schemeClr val="dk1"/>
              </a:buClr>
              <a:buSzPts val="5200"/>
              <a:buFont typeface="Arial"/>
              <a:buNone/>
              <a:defRPr sz="5200" b="0" i="0" u="none" strike="noStrike" cap="none">
                <a:solidFill>
                  <a:schemeClr val="dk1"/>
                </a:solidFill>
                <a:latin typeface="Arial"/>
                <a:ea typeface="Arial"/>
                <a:cs typeface="Arial"/>
                <a:sym typeface="Arial"/>
              </a:defRPr>
            </a:lvl4pPr>
            <a:lvl5pPr marR="0" lvl="4" algn="ctr" rtl="0">
              <a:lnSpc>
                <a:spcPct val="100000"/>
              </a:lnSpc>
              <a:spcBef>
                <a:spcPts val="0"/>
              </a:spcBef>
              <a:spcAft>
                <a:spcPts val="0"/>
              </a:spcAft>
              <a:buClr>
                <a:schemeClr val="dk1"/>
              </a:buClr>
              <a:buSzPts val="5200"/>
              <a:buFont typeface="Arial"/>
              <a:buNone/>
              <a:defRPr sz="5200" b="0" i="0" u="none" strike="noStrike" cap="none">
                <a:solidFill>
                  <a:schemeClr val="dk1"/>
                </a:solidFill>
                <a:latin typeface="Arial"/>
                <a:ea typeface="Arial"/>
                <a:cs typeface="Arial"/>
                <a:sym typeface="Arial"/>
              </a:defRPr>
            </a:lvl5pPr>
            <a:lvl6pPr marR="0" lvl="5" algn="ctr" rtl="0">
              <a:lnSpc>
                <a:spcPct val="100000"/>
              </a:lnSpc>
              <a:spcBef>
                <a:spcPts val="0"/>
              </a:spcBef>
              <a:spcAft>
                <a:spcPts val="0"/>
              </a:spcAft>
              <a:buClr>
                <a:schemeClr val="dk1"/>
              </a:buClr>
              <a:buSzPts val="5200"/>
              <a:buFont typeface="Arial"/>
              <a:buNone/>
              <a:defRPr sz="5200" b="0" i="0" u="none" strike="noStrike" cap="none">
                <a:solidFill>
                  <a:schemeClr val="dk1"/>
                </a:solidFill>
                <a:latin typeface="Arial"/>
                <a:ea typeface="Arial"/>
                <a:cs typeface="Arial"/>
                <a:sym typeface="Arial"/>
              </a:defRPr>
            </a:lvl6pPr>
            <a:lvl7pPr marR="0" lvl="6" algn="ctr" rtl="0">
              <a:lnSpc>
                <a:spcPct val="100000"/>
              </a:lnSpc>
              <a:spcBef>
                <a:spcPts val="0"/>
              </a:spcBef>
              <a:spcAft>
                <a:spcPts val="0"/>
              </a:spcAft>
              <a:buClr>
                <a:schemeClr val="dk1"/>
              </a:buClr>
              <a:buSzPts val="5200"/>
              <a:buFont typeface="Arial"/>
              <a:buNone/>
              <a:defRPr sz="5200" b="0" i="0" u="none" strike="noStrike" cap="none">
                <a:solidFill>
                  <a:schemeClr val="dk1"/>
                </a:solidFill>
                <a:latin typeface="Arial"/>
                <a:ea typeface="Arial"/>
                <a:cs typeface="Arial"/>
                <a:sym typeface="Arial"/>
              </a:defRPr>
            </a:lvl7pPr>
            <a:lvl8pPr marR="0" lvl="7" algn="ctr" rtl="0">
              <a:lnSpc>
                <a:spcPct val="100000"/>
              </a:lnSpc>
              <a:spcBef>
                <a:spcPts val="0"/>
              </a:spcBef>
              <a:spcAft>
                <a:spcPts val="0"/>
              </a:spcAft>
              <a:buClr>
                <a:schemeClr val="dk1"/>
              </a:buClr>
              <a:buSzPts val="5200"/>
              <a:buFont typeface="Arial"/>
              <a:buNone/>
              <a:defRPr sz="5200" b="0" i="0" u="none" strike="noStrike" cap="none">
                <a:solidFill>
                  <a:schemeClr val="dk1"/>
                </a:solidFill>
                <a:latin typeface="Arial"/>
                <a:ea typeface="Arial"/>
                <a:cs typeface="Arial"/>
                <a:sym typeface="Arial"/>
              </a:defRPr>
            </a:lvl8pPr>
            <a:lvl9pPr marR="0" lvl="8" algn="ctr" rtl="0">
              <a:lnSpc>
                <a:spcPct val="100000"/>
              </a:lnSpc>
              <a:spcBef>
                <a:spcPts val="0"/>
              </a:spcBef>
              <a:spcAft>
                <a:spcPts val="0"/>
              </a:spcAft>
              <a:buClr>
                <a:schemeClr val="dk1"/>
              </a:buClr>
              <a:buSzPts val="5200"/>
              <a:buFont typeface="Arial"/>
              <a:buNone/>
              <a:defRPr sz="5200" b="0" i="0" u="none" strike="noStrike" cap="none">
                <a:solidFill>
                  <a:schemeClr val="dk1"/>
                </a:solidFill>
                <a:latin typeface="Arial"/>
                <a:ea typeface="Arial"/>
                <a:cs typeface="Arial"/>
                <a:sym typeface="Arial"/>
              </a:defRPr>
            </a:lvl9pPr>
          </a:lstStyle>
          <a:p>
            <a:r>
              <a:rPr lang="en-US" sz="1400" dirty="0"/>
              <a:t>MIPT, 2025</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58"/>
        <p:cNvGrpSpPr/>
        <p:nvPr/>
      </p:nvGrpSpPr>
      <p:grpSpPr>
        <a:xfrm>
          <a:off x="0" y="0"/>
          <a:ext cx="0" cy="0"/>
          <a:chOff x="0" y="0"/>
          <a:chExt cx="0" cy="0"/>
        </a:xfrm>
      </p:grpSpPr>
      <p:sp>
        <p:nvSpPr>
          <p:cNvPr id="59" name="Google Shape;59;p1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ru"/>
              <a:t>Definition</a:t>
            </a:r>
            <a:endParaRPr/>
          </a:p>
        </p:txBody>
      </p:sp>
      <p:sp>
        <p:nvSpPr>
          <p:cNvPr id="60" name="Google Shape;60;p1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ru" dirty="0"/>
              <a:t>Subinterpreters are isolated copies of the CPython interpreter running within a single process. Each subinterpreter has its own state, including modules, global variables, and </a:t>
            </a:r>
            <a:r>
              <a:rPr lang="en-US" dirty="0"/>
              <a:t>its own </a:t>
            </a:r>
            <a:r>
              <a:rPr lang="ru" dirty="0"/>
              <a:t>GIL (Global Interpreter Lock). They </a:t>
            </a:r>
            <a:r>
              <a:rPr lang="en-US" dirty="0"/>
              <a:t>reside in the same process address space, but any shared memory must be explicitly managed</a:t>
            </a:r>
            <a:r>
              <a:rPr lang="ru" dirty="0"/>
              <a:t>.</a:t>
            </a:r>
            <a:endParaRPr dirty="0"/>
          </a:p>
          <a:p>
            <a:pPr marL="0" lvl="0" indent="0" algn="l" rtl="0">
              <a:spcBef>
                <a:spcPts val="1200"/>
              </a:spcBef>
              <a:spcAft>
                <a:spcPts val="0"/>
              </a:spcAft>
              <a:buClr>
                <a:schemeClr val="dk1"/>
              </a:buClr>
              <a:buSzPts val="1100"/>
              <a:buFont typeface="Arial"/>
              <a:buNone/>
            </a:pPr>
            <a:endParaRPr dirty="0"/>
          </a:p>
          <a:p>
            <a:pPr marL="0" lvl="0" indent="0" algn="l" rtl="0">
              <a:spcBef>
                <a:spcPts val="1200"/>
              </a:spcBef>
              <a:spcAft>
                <a:spcPts val="1200"/>
              </a:spcAft>
              <a:buNone/>
            </a:pPr>
            <a:r>
              <a:rPr lang="ru" b="1" dirty="0"/>
              <a:t>Goal: </a:t>
            </a:r>
            <a:r>
              <a:rPr lang="en-US" dirty="0"/>
              <a:t>enable </a:t>
            </a:r>
            <a:r>
              <a:rPr lang="ru" dirty="0"/>
              <a:t>true parallelism without the overhead of creating separate processes, while maintaining context isolation.</a:t>
            </a:r>
            <a:endParaRPr dirty="0"/>
          </a:p>
        </p:txBody>
      </p:sp>
      <p:sp>
        <p:nvSpPr>
          <p:cNvPr id="61" name="Google Shape;61;p1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ru"/>
              <a:t>2</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66" name="Google Shape;66;p1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ru"/>
              <a:t>Development history</a:t>
            </a:r>
            <a:endParaRPr/>
          </a:p>
        </p:txBody>
      </p:sp>
      <p:sp>
        <p:nvSpPr>
          <p:cNvPr id="67" name="Google Shape;67;p15"/>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ru" dirty="0"/>
              <a:t>1997 - the first subinterpreters in CPython. Subinterpreters appeared almost at the same time as early versions of CPython as an internal mechanism. Initially, they were not intended for parallelism, but </a:t>
            </a:r>
            <a:r>
              <a:rPr lang="ru" b="1" dirty="0"/>
              <a:t>for isolating execution environments</a:t>
            </a:r>
            <a:r>
              <a:rPr lang="ru" dirty="0"/>
              <a:t>.</a:t>
            </a:r>
            <a:endParaRPr dirty="0"/>
          </a:p>
          <a:p>
            <a:pPr marL="457200" lvl="0" indent="-342900" algn="l" rtl="0">
              <a:spcBef>
                <a:spcPts val="0"/>
              </a:spcBef>
              <a:spcAft>
                <a:spcPts val="0"/>
              </a:spcAft>
              <a:buSzPts val="1800"/>
              <a:buChar char="●"/>
            </a:pPr>
            <a:r>
              <a:rPr lang="ru" dirty="0"/>
              <a:t>Sep. 2017 - PEP 554 </a:t>
            </a:r>
            <a:r>
              <a:rPr lang="en-US" dirty="0"/>
              <a:t>proposed</a:t>
            </a:r>
            <a:r>
              <a:rPr lang="ru" dirty="0"/>
              <a:t> the idea of a public </a:t>
            </a:r>
            <a:r>
              <a:rPr lang="ru" b="1" dirty="0"/>
              <a:t>stdlib API </a:t>
            </a:r>
            <a:r>
              <a:rPr lang="ru" dirty="0"/>
              <a:t>for subinterpreters with message-passing communication, laying the groundwork for later isolation and per-interpreter GIL developments.</a:t>
            </a:r>
            <a:endParaRPr dirty="0"/>
          </a:p>
          <a:p>
            <a:pPr marL="0" lvl="0" indent="0" algn="l" rtl="0">
              <a:spcBef>
                <a:spcPts val="1200"/>
              </a:spcBef>
              <a:spcAft>
                <a:spcPts val="0"/>
              </a:spcAft>
              <a:buNone/>
            </a:pPr>
            <a:endParaRPr dirty="0"/>
          </a:p>
          <a:p>
            <a:pPr marL="0" lvl="0" indent="0" algn="l" rtl="0">
              <a:spcBef>
                <a:spcPts val="1200"/>
              </a:spcBef>
              <a:spcAft>
                <a:spcPts val="1200"/>
              </a:spcAft>
              <a:buNone/>
            </a:pPr>
            <a:endParaRPr dirty="0"/>
          </a:p>
        </p:txBody>
      </p:sp>
      <p:sp>
        <p:nvSpPr>
          <p:cNvPr id="68" name="Google Shape;68;p1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ru"/>
              <a:t>3</a:t>
            </a:fld>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72"/>
        <p:cNvGrpSpPr/>
        <p:nvPr/>
      </p:nvGrpSpPr>
      <p:grpSpPr>
        <a:xfrm>
          <a:off x="0" y="0"/>
          <a:ext cx="0" cy="0"/>
          <a:chOff x="0" y="0"/>
          <a:chExt cx="0" cy="0"/>
        </a:xfrm>
      </p:grpSpPr>
      <p:sp>
        <p:nvSpPr>
          <p:cNvPr id="73" name="Google Shape;73;p1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ru"/>
              <a:t>Development history</a:t>
            </a:r>
            <a:endParaRPr/>
          </a:p>
        </p:txBody>
      </p:sp>
      <p:sp>
        <p:nvSpPr>
          <p:cNvPr id="74" name="Google Shape;74;p16"/>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ru" dirty="0"/>
              <a:t>Feb. 2022 - PEP 683 introduced </a:t>
            </a:r>
            <a:r>
              <a:rPr lang="ru" b="1" dirty="0"/>
              <a:t>immortal objects</a:t>
            </a:r>
            <a:r>
              <a:rPr lang="ru" dirty="0"/>
              <a:t> in CPython, making selected objects truly immutable by fixing their reference count, thereby reducing refcount overhead and enabling safer and more scalable designs such as per-interpreter GILs. </a:t>
            </a:r>
            <a:endParaRPr dirty="0"/>
          </a:p>
          <a:p>
            <a:pPr marL="457200" lvl="0" indent="-342900" algn="l" rtl="0">
              <a:spcBef>
                <a:spcPts val="0"/>
              </a:spcBef>
              <a:spcAft>
                <a:spcPts val="0"/>
              </a:spcAft>
              <a:buSzPts val="1800"/>
              <a:buChar char="●"/>
            </a:pPr>
            <a:r>
              <a:rPr lang="ru" dirty="0"/>
              <a:t>Mar. 2022 - PEP 684 introduced a </a:t>
            </a:r>
            <a:r>
              <a:rPr lang="ru" b="1" dirty="0"/>
              <a:t>per-interpreter GIL</a:t>
            </a:r>
            <a:r>
              <a:rPr lang="ru" dirty="0"/>
              <a:t> by isolating CPython runtime state, enabling </a:t>
            </a:r>
            <a:r>
              <a:rPr lang="ru" b="1" dirty="0"/>
              <a:t>true multi-core parallelism</a:t>
            </a:r>
            <a:r>
              <a:rPr lang="ru" dirty="0"/>
              <a:t> between subinterpreters while preventing unsafe sharing of global state.</a:t>
            </a:r>
            <a:endParaRPr dirty="0"/>
          </a:p>
          <a:p>
            <a:pPr marL="457200" lvl="0" indent="-342900" algn="l" rtl="0">
              <a:spcBef>
                <a:spcPts val="0"/>
              </a:spcBef>
              <a:spcAft>
                <a:spcPts val="0"/>
              </a:spcAft>
              <a:buSzPts val="1800"/>
              <a:buChar char="●"/>
            </a:pPr>
            <a:r>
              <a:rPr lang="ru" dirty="0"/>
              <a:t>Apr. 2022 - PEP 687 </a:t>
            </a:r>
            <a:r>
              <a:rPr lang="en-US" dirty="0"/>
              <a:t>significantly advanced</a:t>
            </a:r>
            <a:r>
              <a:rPr lang="ru" dirty="0"/>
              <a:t> stdlib module isolation by eliminating shared global state and enabling safe multi-interpreter execution.</a:t>
            </a:r>
            <a:endParaRPr dirty="0"/>
          </a:p>
        </p:txBody>
      </p:sp>
      <p:sp>
        <p:nvSpPr>
          <p:cNvPr id="75" name="Google Shape;75;p1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ru"/>
              <a:t>4</a:t>
            </a:fld>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79"/>
        <p:cNvGrpSpPr/>
        <p:nvPr/>
      </p:nvGrpSpPr>
      <p:grpSpPr>
        <a:xfrm>
          <a:off x="0" y="0"/>
          <a:ext cx="0" cy="0"/>
          <a:chOff x="0" y="0"/>
          <a:chExt cx="0" cy="0"/>
        </a:xfrm>
      </p:grpSpPr>
      <p:sp>
        <p:nvSpPr>
          <p:cNvPr id="80" name="Google Shape;80;p17"/>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ru"/>
              <a:t>Development history</a:t>
            </a:r>
            <a:endParaRPr/>
          </a:p>
        </p:txBody>
      </p:sp>
      <p:sp>
        <p:nvSpPr>
          <p:cNvPr id="81" name="Google Shape;81;p17"/>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ru" dirty="0"/>
              <a:t>Nov. 2023 - PEP 734 introduced a </a:t>
            </a:r>
            <a:r>
              <a:rPr lang="ru" b="1" dirty="0"/>
              <a:t>public standard-library API (interpreters)</a:t>
            </a:r>
            <a:r>
              <a:rPr lang="ru" dirty="0"/>
              <a:t> for creating, managing, and running multiple isolated subinterpreters with message-based communication. </a:t>
            </a:r>
            <a:endParaRPr dirty="0"/>
          </a:p>
          <a:p>
            <a:pPr marL="457200" lvl="0" indent="-342900" algn="l" rtl="0">
              <a:spcBef>
                <a:spcPts val="0"/>
              </a:spcBef>
              <a:spcAft>
                <a:spcPts val="0"/>
              </a:spcAft>
              <a:buSzPts val="1800"/>
              <a:buChar char="●"/>
            </a:pPr>
            <a:r>
              <a:rPr lang="ru" dirty="0"/>
              <a:t>Jun. 2025 - concurrent.interpreters (Python 3.14) provides a </a:t>
            </a:r>
            <a:r>
              <a:rPr lang="ru" b="1" dirty="0"/>
              <a:t>high-level standard-library API</a:t>
            </a:r>
            <a:r>
              <a:rPr lang="ru" dirty="0"/>
              <a:t> for creating and managing isolated subinterpreters and, when combined with threads, enables true multi-core parallelism via per-interpreter GILs.</a:t>
            </a:r>
            <a:endParaRPr dirty="0"/>
          </a:p>
        </p:txBody>
      </p:sp>
      <p:sp>
        <p:nvSpPr>
          <p:cNvPr id="82" name="Google Shape;82;p1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ru"/>
              <a:t>5</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86"/>
        <p:cNvGrpSpPr/>
        <p:nvPr/>
      </p:nvGrpSpPr>
      <p:grpSpPr>
        <a:xfrm>
          <a:off x="0" y="0"/>
          <a:ext cx="0" cy="0"/>
          <a:chOff x="0" y="0"/>
          <a:chExt cx="0" cy="0"/>
        </a:xfrm>
      </p:grpSpPr>
      <p:sp>
        <p:nvSpPr>
          <p:cNvPr id="87" name="Google Shape;87;p18"/>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ru"/>
              <a:t>How parallelism works</a:t>
            </a:r>
            <a:endParaRPr/>
          </a:p>
        </p:txBody>
      </p:sp>
      <p:pic>
        <p:nvPicPr>
          <p:cNvPr id="88" name="Google Shape;88;p18"/>
          <p:cNvPicPr preferRelativeResize="0"/>
          <p:nvPr/>
        </p:nvPicPr>
        <p:blipFill>
          <a:blip r:embed="rId3">
            <a:alphaModFix/>
          </a:blip>
          <a:stretch>
            <a:fillRect/>
          </a:stretch>
        </p:blipFill>
        <p:spPr>
          <a:xfrm>
            <a:off x="2121675" y="1017725"/>
            <a:ext cx="4900650" cy="3820975"/>
          </a:xfrm>
          <a:prstGeom prst="rect">
            <a:avLst/>
          </a:prstGeom>
          <a:noFill/>
          <a:ln>
            <a:noFill/>
          </a:ln>
        </p:spPr>
      </p:pic>
      <p:sp>
        <p:nvSpPr>
          <p:cNvPr id="89" name="Google Shape;89;p1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ru"/>
              <a:t>6</a:t>
            </a:fld>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sp>
        <p:nvSpPr>
          <p:cNvPr id="94" name="Google Shape;94;p19"/>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ru"/>
              <a:t>How to run code on a subinterpreter</a:t>
            </a:r>
            <a:endParaRPr/>
          </a:p>
        </p:txBody>
      </p:sp>
      <p:sp>
        <p:nvSpPr>
          <p:cNvPr id="95" name="Google Shape;95;p19"/>
          <p:cNvSpPr txBox="1">
            <a:spLocks noGrp="1"/>
          </p:cNvSpPr>
          <p:nvPr>
            <p:ph type="body" idx="1"/>
          </p:nvPr>
        </p:nvSpPr>
        <p:spPr>
          <a:xfrm>
            <a:off x="356375" y="1152475"/>
            <a:ext cx="3698700" cy="2238000"/>
          </a:xfrm>
          <a:prstGeom prst="rect">
            <a:avLst/>
          </a:prstGeom>
          <a:ln w="9525" cap="flat" cmpd="sng">
            <a:solidFill>
              <a:schemeClr val="dk1"/>
            </a:solidFill>
            <a:prstDash val="solid"/>
            <a:round/>
            <a:headEnd type="none" w="sm" len="sm"/>
            <a:tailEnd type="none" w="sm" len="sm"/>
          </a:ln>
        </p:spPr>
        <p:txBody>
          <a:bodyPr spcFirstLastPara="1" wrap="square" lIns="91425" tIns="91425" rIns="91425" bIns="91425" anchor="t" anchorCtr="0">
            <a:normAutofit/>
          </a:bodyPr>
          <a:lstStyle/>
          <a:p>
            <a:pPr marL="0" lvl="0" indent="0" algn="l" rtl="0">
              <a:lnSpc>
                <a:spcPct val="135714"/>
              </a:lnSpc>
              <a:spcBef>
                <a:spcPts val="0"/>
              </a:spcBef>
              <a:spcAft>
                <a:spcPts val="0"/>
              </a:spcAft>
              <a:buNone/>
            </a:pPr>
            <a:r>
              <a:rPr lang="ru" sz="1050" dirty="0">
                <a:solidFill>
                  <a:srgbClr val="B5200D"/>
                </a:solidFill>
                <a:highlight>
                  <a:srgbClr val="FFFFFF"/>
                </a:highlight>
                <a:latin typeface="Courier New"/>
                <a:ea typeface="Courier New"/>
                <a:cs typeface="Courier New"/>
                <a:sym typeface="Courier New"/>
              </a:rPr>
              <a:t>from</a:t>
            </a:r>
            <a:r>
              <a:rPr lang="ru" sz="1050" dirty="0">
                <a:solidFill>
                  <a:srgbClr val="292929"/>
                </a:solidFill>
                <a:highlight>
                  <a:srgbClr val="FFFFFF"/>
                </a:highlight>
                <a:latin typeface="Courier New"/>
                <a:ea typeface="Courier New"/>
                <a:cs typeface="Courier New"/>
                <a:sym typeface="Courier New"/>
              </a:rPr>
              <a:t> concurrent </a:t>
            </a:r>
            <a:r>
              <a:rPr lang="ru" sz="1050" dirty="0">
                <a:solidFill>
                  <a:srgbClr val="B5200D"/>
                </a:solidFill>
                <a:highlight>
                  <a:srgbClr val="FFFFFF"/>
                </a:highlight>
                <a:latin typeface="Courier New"/>
                <a:ea typeface="Courier New"/>
                <a:cs typeface="Courier New"/>
                <a:sym typeface="Courier New"/>
              </a:rPr>
              <a:t>import</a:t>
            </a:r>
            <a:r>
              <a:rPr lang="ru" sz="1050" dirty="0">
                <a:solidFill>
                  <a:srgbClr val="292929"/>
                </a:solidFill>
                <a:highlight>
                  <a:srgbClr val="FFFFFF"/>
                </a:highlight>
                <a:latin typeface="Courier New"/>
                <a:ea typeface="Courier New"/>
                <a:cs typeface="Courier New"/>
                <a:sym typeface="Courier New"/>
              </a:rPr>
              <a:t> interpreters</a:t>
            </a:r>
            <a:endParaRPr sz="1050" dirty="0">
              <a:solidFill>
                <a:srgbClr val="292929"/>
              </a:solidFill>
              <a:highlight>
                <a:srgbClr val="FFFFFF"/>
              </a:highlight>
              <a:latin typeface="Courier New"/>
              <a:ea typeface="Courier New"/>
              <a:cs typeface="Courier New"/>
              <a:sym typeface="Courier New"/>
            </a:endParaRPr>
          </a:p>
          <a:p>
            <a:pPr marL="0" lvl="0" indent="0" algn="l" rtl="0">
              <a:lnSpc>
                <a:spcPct val="135714"/>
              </a:lnSpc>
              <a:spcBef>
                <a:spcPts val="0"/>
              </a:spcBef>
              <a:spcAft>
                <a:spcPts val="0"/>
              </a:spcAft>
              <a:buNone/>
            </a:pPr>
            <a:endParaRPr sz="1050" dirty="0">
              <a:solidFill>
                <a:srgbClr val="292929"/>
              </a:solidFill>
              <a:highlight>
                <a:srgbClr val="FFFFFF"/>
              </a:highlight>
              <a:latin typeface="Courier New"/>
              <a:ea typeface="Courier New"/>
              <a:cs typeface="Courier New"/>
              <a:sym typeface="Courier New"/>
            </a:endParaRPr>
          </a:p>
          <a:p>
            <a:pPr marL="0" lvl="0" indent="0" algn="l" rtl="0">
              <a:lnSpc>
                <a:spcPct val="135714"/>
              </a:lnSpc>
              <a:spcBef>
                <a:spcPts val="0"/>
              </a:spcBef>
              <a:spcAft>
                <a:spcPts val="0"/>
              </a:spcAft>
              <a:buNone/>
            </a:pPr>
            <a:r>
              <a:rPr lang="ru" sz="1050" dirty="0">
                <a:solidFill>
                  <a:srgbClr val="292929"/>
                </a:solidFill>
                <a:highlight>
                  <a:srgbClr val="FFFFFF"/>
                </a:highlight>
                <a:latin typeface="Courier New"/>
                <a:ea typeface="Courier New"/>
                <a:cs typeface="Courier New"/>
                <a:sym typeface="Courier New"/>
              </a:rPr>
              <a:t>interp </a:t>
            </a:r>
            <a:r>
              <a:rPr lang="ru" sz="1050" dirty="0">
                <a:solidFill>
                  <a:schemeClr val="dk1"/>
                </a:solidFill>
                <a:highlight>
                  <a:srgbClr val="FFFFFF"/>
                </a:highlight>
                <a:latin typeface="Courier New"/>
                <a:ea typeface="Courier New"/>
                <a:cs typeface="Courier New"/>
                <a:sym typeface="Courier New"/>
              </a:rPr>
              <a:t>=</a:t>
            </a:r>
            <a:r>
              <a:rPr lang="ru" sz="1050" dirty="0">
                <a:solidFill>
                  <a:srgbClr val="292929"/>
                </a:solidFill>
                <a:highlight>
                  <a:srgbClr val="FFFFFF"/>
                </a:highlight>
                <a:latin typeface="Courier New"/>
                <a:ea typeface="Courier New"/>
                <a:cs typeface="Courier New"/>
                <a:sym typeface="Courier New"/>
              </a:rPr>
              <a:t> interpreters.create()</a:t>
            </a:r>
            <a:endParaRPr sz="1050" dirty="0">
              <a:solidFill>
                <a:srgbClr val="292929"/>
              </a:solidFill>
              <a:highlight>
                <a:srgbClr val="FFFFFF"/>
              </a:highlight>
              <a:latin typeface="Courier New"/>
              <a:ea typeface="Courier New"/>
              <a:cs typeface="Courier New"/>
              <a:sym typeface="Courier New"/>
            </a:endParaRPr>
          </a:p>
          <a:p>
            <a:pPr marL="0" lvl="0" indent="0" algn="l" rtl="0">
              <a:lnSpc>
                <a:spcPct val="135714"/>
              </a:lnSpc>
              <a:spcBef>
                <a:spcPts val="0"/>
              </a:spcBef>
              <a:spcAft>
                <a:spcPts val="0"/>
              </a:spcAft>
              <a:buNone/>
            </a:pPr>
            <a:r>
              <a:rPr lang="ru" sz="1050" dirty="0">
                <a:solidFill>
                  <a:srgbClr val="292929"/>
                </a:solidFill>
                <a:highlight>
                  <a:srgbClr val="FFFFFF"/>
                </a:highlight>
                <a:latin typeface="Courier New"/>
                <a:ea typeface="Courier New"/>
                <a:cs typeface="Courier New"/>
                <a:sym typeface="Courier New"/>
              </a:rPr>
              <a:t>interp.exec(</a:t>
            </a:r>
            <a:r>
              <a:rPr lang="ru" sz="1050" dirty="0">
                <a:solidFill>
                  <a:srgbClr val="0F4A85"/>
                </a:solidFill>
                <a:highlight>
                  <a:srgbClr val="FFFFFF"/>
                </a:highlight>
                <a:latin typeface="Courier New"/>
                <a:ea typeface="Courier New"/>
                <a:cs typeface="Courier New"/>
                <a:sym typeface="Courier New"/>
              </a:rPr>
              <a:t>"print('Hello, world!')"</a:t>
            </a:r>
            <a:r>
              <a:rPr lang="ru" sz="1050" dirty="0">
                <a:solidFill>
                  <a:srgbClr val="292929"/>
                </a:solidFill>
                <a:highlight>
                  <a:srgbClr val="FFFFFF"/>
                </a:highlight>
                <a:latin typeface="Courier New"/>
                <a:ea typeface="Courier New"/>
                <a:cs typeface="Courier New"/>
                <a:sym typeface="Courier New"/>
              </a:rPr>
              <a:t>)</a:t>
            </a:r>
            <a:endParaRPr sz="1050" dirty="0">
              <a:solidFill>
                <a:srgbClr val="292929"/>
              </a:solidFill>
              <a:highlight>
                <a:srgbClr val="FFFFFF"/>
              </a:highlight>
              <a:latin typeface="Courier New"/>
              <a:ea typeface="Courier New"/>
              <a:cs typeface="Courier New"/>
              <a:sym typeface="Courier New"/>
            </a:endParaRPr>
          </a:p>
          <a:p>
            <a:pPr marL="0" lvl="0" indent="0" algn="l" rtl="0">
              <a:lnSpc>
                <a:spcPct val="135714"/>
              </a:lnSpc>
              <a:spcBef>
                <a:spcPts val="0"/>
              </a:spcBef>
              <a:spcAft>
                <a:spcPts val="0"/>
              </a:spcAft>
              <a:buNone/>
            </a:pPr>
            <a:r>
              <a:rPr lang="ru" sz="1050" dirty="0">
                <a:solidFill>
                  <a:srgbClr val="292929"/>
                </a:solidFill>
                <a:highlight>
                  <a:srgbClr val="FFFFFF"/>
                </a:highlight>
                <a:latin typeface="Courier New"/>
                <a:ea typeface="Courier New"/>
                <a:cs typeface="Courier New"/>
                <a:sym typeface="Courier New"/>
              </a:rPr>
              <a:t>interp.close()</a:t>
            </a:r>
            <a:endParaRPr dirty="0"/>
          </a:p>
        </p:txBody>
      </p:sp>
      <p:sp>
        <p:nvSpPr>
          <p:cNvPr id="96" name="Google Shape;96;p19"/>
          <p:cNvSpPr txBox="1">
            <a:spLocks noGrp="1"/>
          </p:cNvSpPr>
          <p:nvPr>
            <p:ph type="body" idx="1"/>
          </p:nvPr>
        </p:nvSpPr>
        <p:spPr>
          <a:xfrm>
            <a:off x="4238100" y="1152475"/>
            <a:ext cx="4594200" cy="2238000"/>
          </a:xfrm>
          <a:prstGeom prst="rect">
            <a:avLst/>
          </a:prstGeom>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p>
            <a:pPr marL="0" lvl="0" indent="0" algn="l" rtl="0">
              <a:lnSpc>
                <a:spcPct val="135714"/>
              </a:lnSpc>
              <a:spcBef>
                <a:spcPts val="0"/>
              </a:spcBef>
              <a:spcAft>
                <a:spcPts val="0"/>
              </a:spcAft>
              <a:buNone/>
            </a:pPr>
            <a:r>
              <a:rPr lang="ru" sz="900" dirty="0">
                <a:solidFill>
                  <a:srgbClr val="B5200D"/>
                </a:solidFill>
                <a:highlight>
                  <a:srgbClr val="FFFFFF"/>
                </a:highlight>
                <a:latin typeface="Courier New"/>
                <a:ea typeface="Courier New"/>
                <a:cs typeface="Courier New"/>
                <a:sym typeface="Courier New"/>
              </a:rPr>
              <a:t>from</a:t>
            </a:r>
            <a:r>
              <a:rPr lang="ru" sz="900" dirty="0">
                <a:solidFill>
                  <a:srgbClr val="292929"/>
                </a:solidFill>
                <a:highlight>
                  <a:srgbClr val="FFFFFF"/>
                </a:highlight>
                <a:latin typeface="Courier New"/>
                <a:ea typeface="Courier New"/>
                <a:cs typeface="Courier New"/>
                <a:sym typeface="Courier New"/>
              </a:rPr>
              <a:t> concurrent </a:t>
            </a:r>
            <a:r>
              <a:rPr lang="ru" sz="900" dirty="0">
                <a:solidFill>
                  <a:srgbClr val="B5200D"/>
                </a:solidFill>
                <a:highlight>
                  <a:srgbClr val="FFFFFF"/>
                </a:highlight>
                <a:latin typeface="Courier New"/>
                <a:ea typeface="Courier New"/>
                <a:cs typeface="Courier New"/>
                <a:sym typeface="Courier New"/>
              </a:rPr>
              <a:t>import</a:t>
            </a:r>
            <a:r>
              <a:rPr lang="ru" sz="900" dirty="0">
                <a:solidFill>
                  <a:srgbClr val="292929"/>
                </a:solidFill>
                <a:highlight>
                  <a:srgbClr val="FFFFFF"/>
                </a:highlight>
                <a:latin typeface="Courier New"/>
                <a:ea typeface="Courier New"/>
                <a:cs typeface="Courier New"/>
                <a:sym typeface="Courier New"/>
              </a:rPr>
              <a:t> interpreters</a:t>
            </a:r>
            <a:endParaRPr sz="900" dirty="0">
              <a:solidFill>
                <a:srgbClr val="292929"/>
              </a:solidFill>
              <a:highlight>
                <a:srgbClr val="FFFFFF"/>
              </a:highlight>
              <a:latin typeface="Courier New"/>
              <a:ea typeface="Courier New"/>
              <a:cs typeface="Courier New"/>
              <a:sym typeface="Courier New"/>
            </a:endParaRPr>
          </a:p>
          <a:p>
            <a:pPr marL="0" lvl="0" indent="0" algn="l" rtl="0">
              <a:lnSpc>
                <a:spcPct val="135714"/>
              </a:lnSpc>
              <a:spcBef>
                <a:spcPts val="0"/>
              </a:spcBef>
              <a:spcAft>
                <a:spcPts val="0"/>
              </a:spcAft>
              <a:buNone/>
            </a:pPr>
            <a:endParaRPr sz="900" dirty="0">
              <a:solidFill>
                <a:srgbClr val="292929"/>
              </a:solidFill>
              <a:highlight>
                <a:srgbClr val="FFFFFF"/>
              </a:highlight>
              <a:latin typeface="Courier New"/>
              <a:ea typeface="Courier New"/>
              <a:cs typeface="Courier New"/>
              <a:sym typeface="Courier New"/>
            </a:endParaRPr>
          </a:p>
          <a:p>
            <a:pPr marL="0" lvl="0" indent="0" algn="l" rtl="0">
              <a:lnSpc>
                <a:spcPct val="135714"/>
              </a:lnSpc>
              <a:spcBef>
                <a:spcPts val="0"/>
              </a:spcBef>
              <a:spcAft>
                <a:spcPts val="0"/>
              </a:spcAft>
              <a:buNone/>
            </a:pPr>
            <a:r>
              <a:rPr lang="ru" sz="900" dirty="0">
                <a:solidFill>
                  <a:srgbClr val="0F4A85"/>
                </a:solidFill>
                <a:highlight>
                  <a:srgbClr val="FFFFFF"/>
                </a:highlight>
                <a:latin typeface="Courier New"/>
                <a:ea typeface="Courier New"/>
                <a:cs typeface="Courier New"/>
                <a:sym typeface="Courier New"/>
              </a:rPr>
              <a:t>def</a:t>
            </a:r>
            <a:r>
              <a:rPr lang="ru" sz="900" dirty="0">
                <a:solidFill>
                  <a:srgbClr val="292929"/>
                </a:solidFill>
                <a:highlight>
                  <a:srgbClr val="FFFFFF"/>
                </a:highlight>
                <a:latin typeface="Courier New"/>
                <a:ea typeface="Courier New"/>
                <a:cs typeface="Courier New"/>
                <a:sym typeface="Courier New"/>
              </a:rPr>
              <a:t> </a:t>
            </a:r>
            <a:r>
              <a:rPr lang="ru" sz="900" dirty="0">
                <a:solidFill>
                  <a:srgbClr val="5E2CBC"/>
                </a:solidFill>
                <a:highlight>
                  <a:srgbClr val="FFFFFF"/>
                </a:highlight>
                <a:latin typeface="Courier New"/>
                <a:ea typeface="Courier New"/>
                <a:cs typeface="Courier New"/>
                <a:sym typeface="Courier New"/>
              </a:rPr>
              <a:t>func</a:t>
            </a:r>
            <a:r>
              <a:rPr lang="ru" sz="900" dirty="0">
                <a:solidFill>
                  <a:srgbClr val="292929"/>
                </a:solidFill>
                <a:highlight>
                  <a:srgbClr val="FFFFFF"/>
                </a:highlight>
                <a:latin typeface="Courier New"/>
                <a:ea typeface="Courier New"/>
                <a:cs typeface="Courier New"/>
                <a:sym typeface="Courier New"/>
              </a:rPr>
              <a:t>(</a:t>
            </a:r>
            <a:r>
              <a:rPr lang="ru" sz="900" dirty="0">
                <a:solidFill>
                  <a:srgbClr val="001080"/>
                </a:solidFill>
                <a:highlight>
                  <a:srgbClr val="FFFFFF"/>
                </a:highlight>
                <a:latin typeface="Courier New"/>
                <a:ea typeface="Courier New"/>
                <a:cs typeface="Courier New"/>
                <a:sym typeface="Courier New"/>
              </a:rPr>
              <a:t>arg1</a:t>
            </a:r>
            <a:r>
              <a:rPr lang="ru" sz="900" dirty="0">
                <a:solidFill>
                  <a:srgbClr val="292929"/>
                </a:solidFill>
                <a:highlight>
                  <a:srgbClr val="FFFFFF"/>
                </a:highlight>
                <a:latin typeface="Courier New"/>
                <a:ea typeface="Courier New"/>
                <a:cs typeface="Courier New"/>
                <a:sym typeface="Courier New"/>
              </a:rPr>
              <a:t>: </a:t>
            </a:r>
            <a:r>
              <a:rPr lang="ru" sz="900" dirty="0">
                <a:solidFill>
                  <a:srgbClr val="185E73"/>
                </a:solidFill>
                <a:highlight>
                  <a:srgbClr val="FFFFFF"/>
                </a:highlight>
                <a:latin typeface="Courier New"/>
                <a:ea typeface="Courier New"/>
                <a:cs typeface="Courier New"/>
                <a:sym typeface="Courier New"/>
              </a:rPr>
              <a:t>int</a:t>
            </a:r>
            <a:r>
              <a:rPr lang="ru" sz="900" dirty="0">
                <a:solidFill>
                  <a:srgbClr val="292929"/>
                </a:solidFill>
                <a:highlight>
                  <a:srgbClr val="FFFFFF"/>
                </a:highlight>
                <a:latin typeface="Courier New"/>
                <a:ea typeface="Courier New"/>
                <a:cs typeface="Courier New"/>
                <a:sym typeface="Courier New"/>
              </a:rPr>
              <a:t>, </a:t>
            </a:r>
            <a:r>
              <a:rPr lang="ru" sz="900" dirty="0">
                <a:solidFill>
                  <a:srgbClr val="001080"/>
                </a:solidFill>
                <a:highlight>
                  <a:srgbClr val="FFFFFF"/>
                </a:highlight>
                <a:latin typeface="Courier New"/>
                <a:ea typeface="Courier New"/>
                <a:cs typeface="Courier New"/>
                <a:sym typeface="Courier New"/>
              </a:rPr>
              <a:t>arg2</a:t>
            </a:r>
            <a:r>
              <a:rPr lang="ru" sz="900" dirty="0">
                <a:solidFill>
                  <a:srgbClr val="292929"/>
                </a:solidFill>
                <a:highlight>
                  <a:srgbClr val="FFFFFF"/>
                </a:highlight>
                <a:latin typeface="Courier New"/>
                <a:ea typeface="Courier New"/>
                <a:cs typeface="Courier New"/>
                <a:sym typeface="Courier New"/>
              </a:rPr>
              <a:t>: </a:t>
            </a:r>
            <a:r>
              <a:rPr lang="ru" sz="900" dirty="0">
                <a:solidFill>
                  <a:srgbClr val="185E73"/>
                </a:solidFill>
                <a:highlight>
                  <a:srgbClr val="FFFFFF"/>
                </a:highlight>
                <a:latin typeface="Courier New"/>
                <a:ea typeface="Courier New"/>
                <a:cs typeface="Courier New"/>
                <a:sym typeface="Courier New"/>
              </a:rPr>
              <a:t>int</a:t>
            </a:r>
            <a:r>
              <a:rPr lang="ru" sz="900" dirty="0">
                <a:solidFill>
                  <a:srgbClr val="292929"/>
                </a:solidFill>
                <a:highlight>
                  <a:srgbClr val="FFFFFF"/>
                </a:highlight>
                <a:latin typeface="Courier New"/>
                <a:ea typeface="Courier New"/>
                <a:cs typeface="Courier New"/>
                <a:sym typeface="Courier New"/>
              </a:rPr>
              <a:t>) -&gt; </a:t>
            </a:r>
            <a:r>
              <a:rPr lang="ru" sz="900" dirty="0">
                <a:solidFill>
                  <a:srgbClr val="185E73"/>
                </a:solidFill>
                <a:highlight>
                  <a:srgbClr val="FFFFFF"/>
                </a:highlight>
                <a:latin typeface="Courier New"/>
                <a:ea typeface="Courier New"/>
                <a:cs typeface="Courier New"/>
                <a:sym typeface="Courier New"/>
              </a:rPr>
              <a:t>int</a:t>
            </a:r>
            <a:r>
              <a:rPr lang="ru" sz="900" dirty="0">
                <a:solidFill>
                  <a:srgbClr val="292929"/>
                </a:solidFill>
                <a:highlight>
                  <a:srgbClr val="FFFFFF"/>
                </a:highlight>
                <a:latin typeface="Courier New"/>
                <a:ea typeface="Courier New"/>
                <a:cs typeface="Courier New"/>
                <a:sym typeface="Courier New"/>
              </a:rPr>
              <a:t>:</a:t>
            </a:r>
            <a:endParaRPr sz="900" dirty="0">
              <a:solidFill>
                <a:srgbClr val="292929"/>
              </a:solidFill>
              <a:highlight>
                <a:srgbClr val="FFFFFF"/>
              </a:highlight>
              <a:latin typeface="Courier New"/>
              <a:ea typeface="Courier New"/>
              <a:cs typeface="Courier New"/>
              <a:sym typeface="Courier New"/>
            </a:endParaRPr>
          </a:p>
          <a:p>
            <a:pPr marL="0" lvl="0" indent="0" algn="l" rtl="0">
              <a:lnSpc>
                <a:spcPct val="135714"/>
              </a:lnSpc>
              <a:spcBef>
                <a:spcPts val="0"/>
              </a:spcBef>
              <a:spcAft>
                <a:spcPts val="0"/>
              </a:spcAft>
              <a:buNone/>
            </a:pPr>
            <a:r>
              <a:rPr lang="ru" sz="900" dirty="0">
                <a:solidFill>
                  <a:srgbClr val="292929"/>
                </a:solidFill>
                <a:highlight>
                  <a:srgbClr val="FFFFFF"/>
                </a:highlight>
                <a:latin typeface="Courier New"/>
                <a:ea typeface="Courier New"/>
                <a:cs typeface="Courier New"/>
                <a:sym typeface="Courier New"/>
              </a:rPr>
              <a:t>    res </a:t>
            </a:r>
            <a:r>
              <a:rPr lang="ru" sz="900" dirty="0">
                <a:solidFill>
                  <a:schemeClr val="dk1"/>
                </a:solidFill>
                <a:highlight>
                  <a:srgbClr val="FFFFFF"/>
                </a:highlight>
                <a:latin typeface="Courier New"/>
                <a:ea typeface="Courier New"/>
                <a:cs typeface="Courier New"/>
                <a:sym typeface="Courier New"/>
              </a:rPr>
              <a:t>=</a:t>
            </a:r>
            <a:r>
              <a:rPr lang="ru" sz="900" dirty="0">
                <a:solidFill>
                  <a:srgbClr val="292929"/>
                </a:solidFill>
                <a:highlight>
                  <a:srgbClr val="FFFFFF"/>
                </a:highlight>
                <a:latin typeface="Courier New"/>
                <a:ea typeface="Courier New"/>
                <a:cs typeface="Courier New"/>
                <a:sym typeface="Courier New"/>
              </a:rPr>
              <a:t> arg1 </a:t>
            </a:r>
            <a:r>
              <a:rPr lang="ru" sz="900" dirty="0">
                <a:solidFill>
                  <a:schemeClr val="dk1"/>
                </a:solidFill>
                <a:highlight>
                  <a:srgbClr val="FFFFFF"/>
                </a:highlight>
                <a:latin typeface="Courier New"/>
                <a:ea typeface="Courier New"/>
                <a:cs typeface="Courier New"/>
                <a:sym typeface="Courier New"/>
              </a:rPr>
              <a:t>+</a:t>
            </a:r>
            <a:r>
              <a:rPr lang="ru" sz="900" dirty="0">
                <a:solidFill>
                  <a:srgbClr val="292929"/>
                </a:solidFill>
                <a:highlight>
                  <a:srgbClr val="FFFFFF"/>
                </a:highlight>
                <a:latin typeface="Courier New"/>
                <a:ea typeface="Courier New"/>
                <a:cs typeface="Courier New"/>
                <a:sym typeface="Courier New"/>
              </a:rPr>
              <a:t> arg2</a:t>
            </a:r>
            <a:endParaRPr sz="900" dirty="0">
              <a:solidFill>
                <a:srgbClr val="292929"/>
              </a:solidFill>
              <a:highlight>
                <a:srgbClr val="FFFFFF"/>
              </a:highlight>
              <a:latin typeface="Courier New"/>
              <a:ea typeface="Courier New"/>
              <a:cs typeface="Courier New"/>
              <a:sym typeface="Courier New"/>
            </a:endParaRPr>
          </a:p>
          <a:p>
            <a:pPr marL="0" lvl="0" indent="0" algn="l" rtl="0">
              <a:lnSpc>
                <a:spcPct val="135714"/>
              </a:lnSpc>
              <a:spcBef>
                <a:spcPts val="0"/>
              </a:spcBef>
              <a:spcAft>
                <a:spcPts val="0"/>
              </a:spcAft>
              <a:buNone/>
            </a:pPr>
            <a:r>
              <a:rPr lang="ru" sz="900" dirty="0">
                <a:solidFill>
                  <a:srgbClr val="292929"/>
                </a:solidFill>
                <a:highlight>
                  <a:srgbClr val="FFFFFF"/>
                </a:highlight>
                <a:latin typeface="Courier New"/>
                <a:ea typeface="Courier New"/>
                <a:cs typeface="Courier New"/>
                <a:sym typeface="Courier New"/>
              </a:rPr>
              <a:t>    </a:t>
            </a:r>
            <a:r>
              <a:rPr lang="ru" sz="900" dirty="0">
                <a:solidFill>
                  <a:srgbClr val="B5200D"/>
                </a:solidFill>
                <a:highlight>
                  <a:srgbClr val="FFFFFF"/>
                </a:highlight>
                <a:latin typeface="Courier New"/>
                <a:ea typeface="Courier New"/>
                <a:cs typeface="Courier New"/>
                <a:sym typeface="Courier New"/>
              </a:rPr>
              <a:t>return</a:t>
            </a:r>
            <a:r>
              <a:rPr lang="ru" sz="900" dirty="0">
                <a:solidFill>
                  <a:srgbClr val="292929"/>
                </a:solidFill>
                <a:highlight>
                  <a:srgbClr val="FFFFFF"/>
                </a:highlight>
                <a:latin typeface="Courier New"/>
                <a:ea typeface="Courier New"/>
                <a:cs typeface="Courier New"/>
                <a:sym typeface="Courier New"/>
              </a:rPr>
              <a:t> res</a:t>
            </a:r>
            <a:endParaRPr sz="900" dirty="0">
              <a:solidFill>
                <a:srgbClr val="292929"/>
              </a:solidFill>
              <a:highlight>
                <a:srgbClr val="FFFFFF"/>
              </a:highlight>
              <a:latin typeface="Courier New"/>
              <a:ea typeface="Courier New"/>
              <a:cs typeface="Courier New"/>
              <a:sym typeface="Courier New"/>
            </a:endParaRPr>
          </a:p>
          <a:p>
            <a:pPr marL="0" lvl="0" indent="0" algn="l" rtl="0">
              <a:lnSpc>
                <a:spcPct val="135714"/>
              </a:lnSpc>
              <a:spcBef>
                <a:spcPts val="0"/>
              </a:spcBef>
              <a:spcAft>
                <a:spcPts val="0"/>
              </a:spcAft>
              <a:buNone/>
            </a:pPr>
            <a:endParaRPr sz="900" dirty="0">
              <a:solidFill>
                <a:srgbClr val="292929"/>
              </a:solidFill>
              <a:highlight>
                <a:srgbClr val="FFFFFF"/>
              </a:highlight>
              <a:latin typeface="Courier New"/>
              <a:ea typeface="Courier New"/>
              <a:cs typeface="Courier New"/>
              <a:sym typeface="Courier New"/>
            </a:endParaRPr>
          </a:p>
          <a:p>
            <a:pPr marL="0" lvl="0" indent="0" algn="l" rtl="0">
              <a:lnSpc>
                <a:spcPct val="135714"/>
              </a:lnSpc>
              <a:spcBef>
                <a:spcPts val="0"/>
              </a:spcBef>
              <a:spcAft>
                <a:spcPts val="0"/>
              </a:spcAft>
              <a:buNone/>
            </a:pPr>
            <a:r>
              <a:rPr lang="ru" sz="900" dirty="0">
                <a:solidFill>
                  <a:srgbClr val="292929"/>
                </a:solidFill>
                <a:highlight>
                  <a:srgbClr val="FFFFFF"/>
                </a:highlight>
                <a:latin typeface="Courier New"/>
                <a:ea typeface="Courier New"/>
                <a:cs typeface="Courier New"/>
                <a:sym typeface="Courier New"/>
              </a:rPr>
              <a:t>interp </a:t>
            </a:r>
            <a:r>
              <a:rPr lang="ru" sz="900" dirty="0">
                <a:solidFill>
                  <a:schemeClr val="dk1"/>
                </a:solidFill>
                <a:highlight>
                  <a:srgbClr val="FFFFFF"/>
                </a:highlight>
                <a:latin typeface="Courier New"/>
                <a:ea typeface="Courier New"/>
                <a:cs typeface="Courier New"/>
                <a:sym typeface="Courier New"/>
              </a:rPr>
              <a:t>=</a:t>
            </a:r>
            <a:r>
              <a:rPr lang="ru" sz="900" dirty="0">
                <a:solidFill>
                  <a:srgbClr val="292929"/>
                </a:solidFill>
                <a:highlight>
                  <a:srgbClr val="FFFFFF"/>
                </a:highlight>
                <a:latin typeface="Courier New"/>
                <a:ea typeface="Courier New"/>
                <a:cs typeface="Courier New"/>
                <a:sym typeface="Courier New"/>
              </a:rPr>
              <a:t> interpreters.create()</a:t>
            </a:r>
            <a:endParaRPr sz="900" dirty="0">
              <a:solidFill>
                <a:srgbClr val="292929"/>
              </a:solidFill>
              <a:highlight>
                <a:srgbClr val="FFFFFF"/>
              </a:highlight>
              <a:latin typeface="Courier New"/>
              <a:ea typeface="Courier New"/>
              <a:cs typeface="Courier New"/>
              <a:sym typeface="Courier New"/>
            </a:endParaRPr>
          </a:p>
          <a:p>
            <a:pPr marL="0" lvl="0" indent="0" algn="l" rtl="0">
              <a:lnSpc>
                <a:spcPct val="135714"/>
              </a:lnSpc>
              <a:spcBef>
                <a:spcPts val="0"/>
              </a:spcBef>
              <a:spcAft>
                <a:spcPts val="0"/>
              </a:spcAft>
              <a:buNone/>
            </a:pPr>
            <a:r>
              <a:rPr lang="ru" sz="900" dirty="0">
                <a:solidFill>
                  <a:srgbClr val="292929"/>
                </a:solidFill>
                <a:highlight>
                  <a:srgbClr val="FFFFFF"/>
                </a:highlight>
                <a:latin typeface="Courier New"/>
                <a:ea typeface="Courier New"/>
                <a:cs typeface="Courier New"/>
                <a:sym typeface="Courier New"/>
              </a:rPr>
              <a:t>a, b </a:t>
            </a:r>
            <a:r>
              <a:rPr lang="ru" sz="900" dirty="0">
                <a:solidFill>
                  <a:schemeClr val="dk1"/>
                </a:solidFill>
                <a:highlight>
                  <a:srgbClr val="FFFFFF"/>
                </a:highlight>
                <a:latin typeface="Courier New"/>
                <a:ea typeface="Courier New"/>
                <a:cs typeface="Courier New"/>
                <a:sym typeface="Courier New"/>
              </a:rPr>
              <a:t>=</a:t>
            </a:r>
            <a:r>
              <a:rPr lang="ru" sz="900" dirty="0">
                <a:solidFill>
                  <a:srgbClr val="292929"/>
                </a:solidFill>
                <a:highlight>
                  <a:srgbClr val="FFFFFF"/>
                </a:highlight>
                <a:latin typeface="Courier New"/>
                <a:ea typeface="Courier New"/>
                <a:cs typeface="Courier New"/>
                <a:sym typeface="Courier New"/>
              </a:rPr>
              <a:t> </a:t>
            </a:r>
            <a:r>
              <a:rPr lang="ru" sz="900" dirty="0">
                <a:solidFill>
                  <a:srgbClr val="096D48"/>
                </a:solidFill>
                <a:highlight>
                  <a:srgbClr val="FFFFFF"/>
                </a:highlight>
                <a:latin typeface="Courier New"/>
                <a:ea typeface="Courier New"/>
                <a:cs typeface="Courier New"/>
                <a:sym typeface="Courier New"/>
              </a:rPr>
              <a:t>1</a:t>
            </a:r>
            <a:r>
              <a:rPr lang="ru" sz="900" dirty="0">
                <a:solidFill>
                  <a:srgbClr val="292929"/>
                </a:solidFill>
                <a:highlight>
                  <a:srgbClr val="FFFFFF"/>
                </a:highlight>
                <a:latin typeface="Courier New"/>
                <a:ea typeface="Courier New"/>
                <a:cs typeface="Courier New"/>
                <a:sym typeface="Courier New"/>
              </a:rPr>
              <a:t>, </a:t>
            </a:r>
            <a:r>
              <a:rPr lang="ru" sz="900" dirty="0">
                <a:solidFill>
                  <a:srgbClr val="096D48"/>
                </a:solidFill>
                <a:highlight>
                  <a:srgbClr val="FFFFFF"/>
                </a:highlight>
                <a:latin typeface="Courier New"/>
                <a:ea typeface="Courier New"/>
                <a:cs typeface="Courier New"/>
                <a:sym typeface="Courier New"/>
              </a:rPr>
              <a:t>2</a:t>
            </a:r>
            <a:endParaRPr sz="900" dirty="0">
              <a:solidFill>
                <a:srgbClr val="096D48"/>
              </a:solidFill>
              <a:highlight>
                <a:srgbClr val="FFFFFF"/>
              </a:highlight>
              <a:latin typeface="Courier New"/>
              <a:ea typeface="Courier New"/>
              <a:cs typeface="Courier New"/>
              <a:sym typeface="Courier New"/>
            </a:endParaRPr>
          </a:p>
          <a:p>
            <a:pPr marL="0" lvl="0" indent="0" algn="l" rtl="0">
              <a:lnSpc>
                <a:spcPct val="135714"/>
              </a:lnSpc>
              <a:spcBef>
                <a:spcPts val="0"/>
              </a:spcBef>
              <a:spcAft>
                <a:spcPts val="0"/>
              </a:spcAft>
              <a:buNone/>
            </a:pPr>
            <a:r>
              <a:rPr lang="ru" sz="900" dirty="0">
                <a:solidFill>
                  <a:srgbClr val="292929"/>
                </a:solidFill>
                <a:highlight>
                  <a:srgbClr val="FFFFFF"/>
                </a:highlight>
                <a:latin typeface="Courier New"/>
                <a:ea typeface="Courier New"/>
                <a:cs typeface="Courier New"/>
                <a:sym typeface="Courier New"/>
              </a:rPr>
              <a:t>c </a:t>
            </a:r>
            <a:r>
              <a:rPr lang="ru" sz="900" dirty="0">
                <a:solidFill>
                  <a:schemeClr val="dk1"/>
                </a:solidFill>
                <a:highlight>
                  <a:srgbClr val="FFFFFF"/>
                </a:highlight>
                <a:latin typeface="Courier New"/>
                <a:ea typeface="Courier New"/>
                <a:cs typeface="Courier New"/>
                <a:sym typeface="Courier New"/>
              </a:rPr>
              <a:t>=</a:t>
            </a:r>
            <a:r>
              <a:rPr lang="ru" sz="900" dirty="0">
                <a:solidFill>
                  <a:srgbClr val="292929"/>
                </a:solidFill>
                <a:highlight>
                  <a:srgbClr val="FFFFFF"/>
                </a:highlight>
                <a:latin typeface="Courier New"/>
                <a:ea typeface="Courier New"/>
                <a:cs typeface="Courier New"/>
                <a:sym typeface="Courier New"/>
              </a:rPr>
              <a:t> interp.call(func, a, b)</a:t>
            </a:r>
            <a:endParaRPr sz="900" dirty="0">
              <a:solidFill>
                <a:srgbClr val="292929"/>
              </a:solidFill>
              <a:highlight>
                <a:srgbClr val="FFFFFF"/>
              </a:highlight>
              <a:latin typeface="Courier New"/>
              <a:ea typeface="Courier New"/>
              <a:cs typeface="Courier New"/>
              <a:sym typeface="Courier New"/>
            </a:endParaRPr>
          </a:p>
          <a:p>
            <a:pPr marL="0" lvl="0" indent="0" algn="l" rtl="0">
              <a:lnSpc>
                <a:spcPct val="135714"/>
              </a:lnSpc>
              <a:spcBef>
                <a:spcPts val="0"/>
              </a:spcBef>
              <a:spcAft>
                <a:spcPts val="0"/>
              </a:spcAft>
              <a:buNone/>
            </a:pPr>
            <a:r>
              <a:rPr lang="ru" sz="900" dirty="0">
                <a:solidFill>
                  <a:srgbClr val="5E2CBC"/>
                </a:solidFill>
                <a:highlight>
                  <a:srgbClr val="FFFFFF"/>
                </a:highlight>
                <a:latin typeface="Courier New"/>
                <a:ea typeface="Courier New"/>
                <a:cs typeface="Courier New"/>
                <a:sym typeface="Courier New"/>
              </a:rPr>
              <a:t>print</a:t>
            </a:r>
            <a:r>
              <a:rPr lang="ru" sz="900" dirty="0">
                <a:solidFill>
                  <a:srgbClr val="292929"/>
                </a:solidFill>
                <a:highlight>
                  <a:srgbClr val="FFFFFF"/>
                </a:highlight>
                <a:latin typeface="Courier New"/>
                <a:ea typeface="Courier New"/>
                <a:cs typeface="Courier New"/>
                <a:sym typeface="Courier New"/>
              </a:rPr>
              <a:t>(c)</a:t>
            </a:r>
            <a:endParaRPr sz="900" dirty="0">
              <a:solidFill>
                <a:srgbClr val="292929"/>
              </a:solidFill>
              <a:highlight>
                <a:srgbClr val="FFFFFF"/>
              </a:highlight>
              <a:latin typeface="Courier New"/>
              <a:ea typeface="Courier New"/>
              <a:cs typeface="Courier New"/>
              <a:sym typeface="Courier New"/>
            </a:endParaRPr>
          </a:p>
          <a:p>
            <a:pPr marL="0" lvl="0" indent="0" algn="l" rtl="0">
              <a:lnSpc>
                <a:spcPct val="135714"/>
              </a:lnSpc>
              <a:spcBef>
                <a:spcPts val="0"/>
              </a:spcBef>
              <a:spcAft>
                <a:spcPts val="0"/>
              </a:spcAft>
              <a:buNone/>
            </a:pPr>
            <a:r>
              <a:rPr lang="ru" sz="900" dirty="0">
                <a:solidFill>
                  <a:srgbClr val="292929"/>
                </a:solidFill>
                <a:highlight>
                  <a:srgbClr val="FFFFFF"/>
                </a:highlight>
                <a:latin typeface="Courier New"/>
                <a:ea typeface="Courier New"/>
                <a:cs typeface="Courier New"/>
                <a:sym typeface="Courier New"/>
              </a:rPr>
              <a:t>interp.close()</a:t>
            </a:r>
            <a:endParaRPr sz="900" dirty="0"/>
          </a:p>
        </p:txBody>
      </p:sp>
      <p:sp>
        <p:nvSpPr>
          <p:cNvPr id="97" name="Google Shape;97;p19"/>
          <p:cNvSpPr txBox="1">
            <a:spLocks noGrp="1"/>
          </p:cNvSpPr>
          <p:nvPr>
            <p:ph type="body" idx="1"/>
          </p:nvPr>
        </p:nvSpPr>
        <p:spPr>
          <a:xfrm>
            <a:off x="356375" y="3525225"/>
            <a:ext cx="3698700" cy="1493100"/>
          </a:xfrm>
          <a:prstGeom prst="rect">
            <a:avLst/>
          </a:prstGeom>
        </p:spPr>
        <p:txBody>
          <a:bodyPr spcFirstLastPara="1" wrap="square" lIns="91425" tIns="91425" rIns="91425" bIns="91425" anchor="t" anchorCtr="0">
            <a:normAutofit fontScale="77500" lnSpcReduction="20000"/>
          </a:bodyPr>
          <a:lstStyle/>
          <a:p>
            <a:pPr marL="0" lvl="0" indent="0" algn="l" rtl="0">
              <a:spcBef>
                <a:spcPts val="0"/>
              </a:spcBef>
              <a:spcAft>
                <a:spcPts val="1200"/>
              </a:spcAft>
              <a:buClr>
                <a:schemeClr val="dk1"/>
              </a:buClr>
              <a:buSzPct val="63152"/>
              <a:buFont typeface="Arial"/>
              <a:buNone/>
            </a:pPr>
            <a:r>
              <a:rPr lang="ru" sz="1741" b="1"/>
              <a:t>Interpreter.exec()</a:t>
            </a:r>
            <a:r>
              <a:rPr lang="ru" sz="1741"/>
              <a:t> executes the given source code in the interpreter (in the current OS thread), using its __main__ module. It doesn’t return anything. The code running in the current OS thread (a different interpreter) is effectively paused until </a:t>
            </a:r>
            <a:r>
              <a:rPr lang="ru" sz="1741" b="1"/>
              <a:t>Interpreter.exec()</a:t>
            </a:r>
            <a:r>
              <a:rPr lang="ru" sz="1741"/>
              <a:t> finishes.</a:t>
            </a:r>
            <a:endParaRPr/>
          </a:p>
        </p:txBody>
      </p:sp>
      <p:sp>
        <p:nvSpPr>
          <p:cNvPr id="98" name="Google Shape;98;p19"/>
          <p:cNvSpPr txBox="1">
            <a:spLocks noGrp="1"/>
          </p:cNvSpPr>
          <p:nvPr>
            <p:ph type="body" idx="1"/>
          </p:nvPr>
        </p:nvSpPr>
        <p:spPr>
          <a:xfrm>
            <a:off x="4238100" y="3525225"/>
            <a:ext cx="4594200" cy="1493100"/>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Clr>
                <a:schemeClr val="dk1"/>
              </a:buClr>
              <a:buSzPts val="1100"/>
              <a:buFont typeface="Arial"/>
              <a:buNone/>
            </a:pPr>
            <a:r>
              <a:rPr lang="ru" sz="1200" b="1" dirty="0"/>
              <a:t>Interpreter.call()</a:t>
            </a:r>
            <a:r>
              <a:rPr lang="ru" sz="1200" dirty="0"/>
              <a:t> runs the callable object in the interpreter (in the current OS thread). Return the result of calling running the given function. If the callable raises an exception then it gets propagated as an </a:t>
            </a:r>
            <a:r>
              <a:rPr lang="ru" sz="1200" b="1" dirty="0"/>
              <a:t>ExecutionFailed </a:t>
            </a:r>
            <a:r>
              <a:rPr lang="ru" sz="1200" dirty="0"/>
              <a:t>exception, in the same way as </a:t>
            </a:r>
            <a:r>
              <a:rPr lang="ru" sz="1200" b="1" dirty="0"/>
              <a:t>Interpreter.exec()</a:t>
            </a:r>
            <a:r>
              <a:rPr lang="ru" sz="1200" dirty="0"/>
              <a:t>.</a:t>
            </a:r>
            <a:endParaRPr sz="1200" dirty="0"/>
          </a:p>
        </p:txBody>
      </p:sp>
      <p:sp>
        <p:nvSpPr>
          <p:cNvPr id="99" name="Google Shape;99;p1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ru"/>
              <a:t>7</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30">
          <a:extLst>
            <a:ext uri="{FF2B5EF4-FFF2-40B4-BE49-F238E27FC236}">
              <a16:creationId xmlns:a16="http://schemas.microsoft.com/office/drawing/2014/main" id="{E0F99581-B677-B9AC-4EFC-6891C71A0CE2}"/>
            </a:ext>
          </a:extLst>
        </p:cNvPr>
        <p:cNvGrpSpPr/>
        <p:nvPr/>
      </p:nvGrpSpPr>
      <p:grpSpPr>
        <a:xfrm>
          <a:off x="0" y="0"/>
          <a:ext cx="0" cy="0"/>
          <a:chOff x="0" y="0"/>
          <a:chExt cx="0" cy="0"/>
        </a:xfrm>
      </p:grpSpPr>
      <p:sp>
        <p:nvSpPr>
          <p:cNvPr id="131" name="Google Shape;131;p23">
            <a:extLst>
              <a:ext uri="{FF2B5EF4-FFF2-40B4-BE49-F238E27FC236}">
                <a16:creationId xmlns:a16="http://schemas.microsoft.com/office/drawing/2014/main" id="{F09F4ABD-14EB-D161-6AA0-AD8465D135EA}"/>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Clr>
                <a:schemeClr val="dk1"/>
              </a:buClr>
              <a:buSzPct val="39285"/>
              <a:buFont typeface="Arial"/>
              <a:buNone/>
            </a:pPr>
            <a:r>
              <a:rPr lang="en-US" dirty="0"/>
              <a:t>Subinterpreters states isolation check</a:t>
            </a:r>
            <a:endParaRPr dirty="0"/>
          </a:p>
        </p:txBody>
      </p:sp>
      <p:sp>
        <p:nvSpPr>
          <p:cNvPr id="132" name="Google Shape;132;p23">
            <a:extLst>
              <a:ext uri="{FF2B5EF4-FFF2-40B4-BE49-F238E27FC236}">
                <a16:creationId xmlns:a16="http://schemas.microsoft.com/office/drawing/2014/main" id="{AD1584D4-215E-6266-29E1-9AFD1D852F5D}"/>
              </a:ext>
            </a:extLst>
          </p:cNvPr>
          <p:cNvSpPr txBox="1">
            <a:spLocks noGrp="1"/>
          </p:cNvSpPr>
          <p:nvPr>
            <p:ph type="body" idx="1"/>
          </p:nvPr>
        </p:nvSpPr>
        <p:spPr>
          <a:xfrm>
            <a:off x="311699" y="3558438"/>
            <a:ext cx="2937069" cy="902576"/>
          </a:xfrm>
          <a:prstGeom prst="rect">
            <a:avLst/>
          </a:prstGeom>
          <a:ln>
            <a:solidFill>
              <a:schemeClr val="tx1"/>
            </a:solidFill>
          </a:ln>
        </p:spPr>
        <p:txBody>
          <a:bodyPr spcFirstLastPara="1" wrap="square" lIns="91425" tIns="91425" rIns="91425" bIns="91425" anchor="t" anchorCtr="0">
            <a:normAutofit/>
          </a:bodyPr>
          <a:lstStyle/>
          <a:p>
            <a:pPr>
              <a:lnSpc>
                <a:spcPts val="1425"/>
              </a:lnSpc>
              <a:buNone/>
            </a:pPr>
            <a:r>
              <a:rPr lang="en-US" sz="800" b="0" dirty="0">
                <a:solidFill>
                  <a:srgbClr val="515151"/>
                </a:solidFill>
                <a:effectLst/>
                <a:latin typeface="Consolas" panose="020B0609020204030204" pitchFamily="49" charset="0"/>
              </a:rPr>
              <a:t>Test 1.1: globals() isolation</a:t>
            </a:r>
            <a:endParaRPr lang="en-US" sz="800" dirty="0">
              <a:solidFill>
                <a:srgbClr val="292929"/>
              </a:solidFill>
              <a:latin typeface="Consolas" panose="020B0609020204030204" pitchFamily="49" charset="0"/>
            </a:endParaRPr>
          </a:p>
          <a:p>
            <a:pPr>
              <a:lnSpc>
                <a:spcPts val="1425"/>
              </a:lnSpc>
              <a:buNone/>
            </a:pPr>
            <a:r>
              <a:rPr lang="en-US" sz="800" b="0" dirty="0">
                <a:solidFill>
                  <a:srgbClr val="515151"/>
                </a:solidFill>
                <a:effectLst/>
                <a:latin typeface="Consolas" panose="020B0609020204030204" pitchFamily="49" charset="0"/>
              </a:rPr>
              <a:t>main_interp: False</a:t>
            </a:r>
            <a:endParaRPr lang="en-US" sz="800" b="0" dirty="0">
              <a:solidFill>
                <a:srgbClr val="292929"/>
              </a:solidFill>
              <a:effectLst/>
              <a:latin typeface="Consolas" panose="020B0609020204030204" pitchFamily="49" charset="0"/>
            </a:endParaRPr>
          </a:p>
          <a:p>
            <a:pPr>
              <a:lnSpc>
                <a:spcPts val="1425"/>
              </a:lnSpc>
              <a:buNone/>
            </a:pPr>
            <a:r>
              <a:rPr lang="en-US" sz="800" b="0" dirty="0">
                <a:solidFill>
                  <a:srgbClr val="515151"/>
                </a:solidFill>
                <a:effectLst/>
                <a:latin typeface="Consolas" panose="020B0609020204030204" pitchFamily="49" charset="0"/>
              </a:rPr>
              <a:t>interp1: True</a:t>
            </a:r>
            <a:endParaRPr lang="en-US" sz="800" b="0" dirty="0">
              <a:solidFill>
                <a:srgbClr val="292929"/>
              </a:solidFill>
              <a:effectLst/>
              <a:latin typeface="Consolas" panose="020B0609020204030204" pitchFamily="49" charset="0"/>
            </a:endParaRPr>
          </a:p>
          <a:p>
            <a:pPr>
              <a:lnSpc>
                <a:spcPts val="1425"/>
              </a:lnSpc>
              <a:buNone/>
            </a:pPr>
            <a:r>
              <a:rPr lang="en-US" sz="800" b="0" dirty="0">
                <a:solidFill>
                  <a:srgbClr val="515151"/>
                </a:solidFill>
                <a:effectLst/>
                <a:latin typeface="Consolas" panose="020B0609020204030204" pitchFamily="49" charset="0"/>
              </a:rPr>
              <a:t>interp2: False</a:t>
            </a:r>
            <a:endParaRPr lang="en-US" sz="800" b="0" dirty="0">
              <a:solidFill>
                <a:srgbClr val="292929"/>
              </a:solidFill>
              <a:effectLst/>
              <a:latin typeface="Consolas" panose="020B0609020204030204" pitchFamily="49" charset="0"/>
            </a:endParaRPr>
          </a:p>
          <a:p>
            <a:pPr marL="0" lvl="0" indent="0">
              <a:spcAft>
                <a:spcPts val="1200"/>
              </a:spcAft>
              <a:buNone/>
            </a:pPr>
            <a:endParaRPr sz="750" dirty="0"/>
          </a:p>
        </p:txBody>
      </p:sp>
      <p:sp>
        <p:nvSpPr>
          <p:cNvPr id="139" name="Google Shape;139;p23">
            <a:extLst>
              <a:ext uri="{FF2B5EF4-FFF2-40B4-BE49-F238E27FC236}">
                <a16:creationId xmlns:a16="http://schemas.microsoft.com/office/drawing/2014/main" id="{2C0C1FAC-6AD0-D4C9-046E-F1CD9764E4DE}"/>
              </a:ext>
            </a:extLst>
          </p:cNvPr>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ru"/>
              <a:t>8</a:t>
            </a:fld>
            <a:endParaRPr/>
          </a:p>
        </p:txBody>
      </p:sp>
      <p:sp>
        <p:nvSpPr>
          <p:cNvPr id="8" name="Google Shape;132;p23">
            <a:extLst>
              <a:ext uri="{FF2B5EF4-FFF2-40B4-BE49-F238E27FC236}">
                <a16:creationId xmlns:a16="http://schemas.microsoft.com/office/drawing/2014/main" id="{B251D529-FFDB-EA90-21B9-7598289F01D0}"/>
              </a:ext>
            </a:extLst>
          </p:cNvPr>
          <p:cNvSpPr txBox="1">
            <a:spLocks/>
          </p:cNvSpPr>
          <p:nvPr/>
        </p:nvSpPr>
        <p:spPr>
          <a:xfrm>
            <a:off x="3427814" y="3558752"/>
            <a:ext cx="2467417" cy="902576"/>
          </a:xfrm>
          <a:prstGeom prst="rect">
            <a:avLst/>
          </a:prstGeom>
          <a:noFill/>
          <a:ln>
            <a:solidFill>
              <a:schemeClr val="tx1"/>
            </a:solidFill>
          </a:ln>
        </p:spPr>
        <p:txBody>
          <a:bodyPr spcFirstLastPara="1" wrap="square" lIns="91425" tIns="91425" rIns="91425" bIns="91425" anchor="t" anchorCtr="0">
            <a:normAutofit/>
          </a:bodyPr>
          <a:lstStyle>
            <a:defPPr marR="0" lvl="0" algn="l" rtl="0">
              <a:lnSpc>
                <a:spcPct val="100000"/>
              </a:lnSpc>
              <a:spcBef>
                <a:spcPts val="0"/>
              </a:spcBef>
              <a:spcAft>
                <a:spcPts val="0"/>
              </a:spcAft>
            </a:defPPr>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pPr>
              <a:lnSpc>
                <a:spcPts val="1425"/>
              </a:lnSpc>
              <a:buFont typeface="Arial"/>
              <a:buNone/>
            </a:pPr>
            <a:r>
              <a:rPr lang="en-US" sz="800" dirty="0">
                <a:solidFill>
                  <a:srgbClr val="515151"/>
                </a:solidFill>
                <a:latin typeface="Consolas" panose="020B0609020204030204" pitchFamily="49" charset="0"/>
              </a:rPr>
              <a:t>Test 1.2: sys.modules isolation</a:t>
            </a:r>
          </a:p>
          <a:p>
            <a:pPr>
              <a:lnSpc>
                <a:spcPts val="1425"/>
              </a:lnSpc>
              <a:buFont typeface="Arial"/>
              <a:buNone/>
            </a:pPr>
            <a:r>
              <a:rPr lang="en-US" sz="800" dirty="0">
                <a:solidFill>
                  <a:srgbClr val="515151"/>
                </a:solidFill>
                <a:latin typeface="Consolas" panose="020B0609020204030204" pitchFamily="49" charset="0"/>
              </a:rPr>
              <a:t>main_interp: False</a:t>
            </a:r>
          </a:p>
          <a:p>
            <a:pPr>
              <a:lnSpc>
                <a:spcPts val="1425"/>
              </a:lnSpc>
              <a:buFont typeface="Arial"/>
              <a:buNone/>
            </a:pPr>
            <a:r>
              <a:rPr lang="en-US" sz="800" dirty="0">
                <a:solidFill>
                  <a:srgbClr val="515151"/>
                </a:solidFill>
                <a:latin typeface="Consolas" panose="020B0609020204030204" pitchFamily="49" charset="0"/>
              </a:rPr>
              <a:t>interp1: True</a:t>
            </a:r>
          </a:p>
          <a:p>
            <a:pPr>
              <a:lnSpc>
                <a:spcPts val="1425"/>
              </a:lnSpc>
              <a:buFont typeface="Arial"/>
              <a:buNone/>
            </a:pPr>
            <a:r>
              <a:rPr lang="en-US" sz="800" dirty="0">
                <a:solidFill>
                  <a:srgbClr val="515151"/>
                </a:solidFill>
                <a:latin typeface="Consolas" panose="020B0609020204030204" pitchFamily="49" charset="0"/>
              </a:rPr>
              <a:t>interp2: False</a:t>
            </a:r>
            <a:endParaRPr lang="en-US" sz="750" dirty="0"/>
          </a:p>
        </p:txBody>
      </p:sp>
      <p:sp>
        <p:nvSpPr>
          <p:cNvPr id="9" name="Google Shape;132;p23">
            <a:extLst>
              <a:ext uri="{FF2B5EF4-FFF2-40B4-BE49-F238E27FC236}">
                <a16:creationId xmlns:a16="http://schemas.microsoft.com/office/drawing/2014/main" id="{091E0AA9-E8C0-EF38-B377-8D9A7270EBF9}"/>
              </a:ext>
            </a:extLst>
          </p:cNvPr>
          <p:cNvSpPr txBox="1">
            <a:spLocks/>
          </p:cNvSpPr>
          <p:nvPr/>
        </p:nvSpPr>
        <p:spPr>
          <a:xfrm>
            <a:off x="6074277" y="3558752"/>
            <a:ext cx="2733659" cy="902576"/>
          </a:xfrm>
          <a:prstGeom prst="rect">
            <a:avLst/>
          </a:prstGeom>
          <a:noFill/>
          <a:ln>
            <a:solidFill>
              <a:schemeClr val="tx1"/>
            </a:solidFill>
          </a:ln>
        </p:spPr>
        <p:txBody>
          <a:bodyPr spcFirstLastPara="1" wrap="square" lIns="91425" tIns="91425" rIns="91425" bIns="91425" anchor="t" anchorCtr="0">
            <a:normAutofit/>
          </a:bodyPr>
          <a:lstStyle>
            <a:defPPr marR="0" lvl="0" algn="l" rtl="0">
              <a:lnSpc>
                <a:spcPct val="100000"/>
              </a:lnSpc>
              <a:spcBef>
                <a:spcPts val="0"/>
              </a:spcBef>
              <a:spcAft>
                <a:spcPts val="0"/>
              </a:spcAft>
            </a:defPPr>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pPr>
              <a:lnSpc>
                <a:spcPts val="1425"/>
              </a:lnSpc>
              <a:buFont typeface="Arial"/>
              <a:buNone/>
            </a:pPr>
            <a:r>
              <a:rPr lang="en-US" sz="800" dirty="0">
                <a:solidFill>
                  <a:srgbClr val="515151"/>
                </a:solidFill>
                <a:latin typeface="Consolas" panose="020B0609020204030204" pitchFamily="49" charset="0"/>
              </a:rPr>
              <a:t>Test 1.3: built-ins isolation</a:t>
            </a:r>
          </a:p>
          <a:p>
            <a:pPr>
              <a:lnSpc>
                <a:spcPts val="1425"/>
              </a:lnSpc>
              <a:buFont typeface="Arial"/>
              <a:buNone/>
            </a:pPr>
            <a:r>
              <a:rPr lang="en-US" sz="800" dirty="0">
                <a:solidFill>
                  <a:srgbClr val="515151"/>
                </a:solidFill>
                <a:latin typeface="Consolas" panose="020B0609020204030204" pitchFamily="49" charset="0"/>
              </a:rPr>
              <a:t>main_interp: 6</a:t>
            </a:r>
          </a:p>
          <a:p>
            <a:pPr>
              <a:lnSpc>
                <a:spcPts val="1425"/>
              </a:lnSpc>
              <a:buFont typeface="Arial"/>
              <a:buNone/>
            </a:pPr>
            <a:r>
              <a:rPr lang="en-US" sz="800" dirty="0">
                <a:solidFill>
                  <a:srgbClr val="515151"/>
                </a:solidFill>
                <a:latin typeface="Consolas" panose="020B0609020204030204" pitchFamily="49" charset="0"/>
              </a:rPr>
              <a:t>interp1: -1</a:t>
            </a:r>
          </a:p>
          <a:p>
            <a:pPr>
              <a:lnSpc>
                <a:spcPts val="1425"/>
              </a:lnSpc>
              <a:buFont typeface="Arial"/>
              <a:buNone/>
            </a:pPr>
            <a:r>
              <a:rPr lang="en-US" sz="800" dirty="0">
                <a:solidFill>
                  <a:srgbClr val="515151"/>
                </a:solidFill>
                <a:latin typeface="Consolas" panose="020B0609020204030204" pitchFamily="49" charset="0"/>
              </a:rPr>
              <a:t>interp2: 6</a:t>
            </a:r>
            <a:endParaRPr lang="en-US" sz="750" dirty="0"/>
          </a:p>
        </p:txBody>
      </p:sp>
      <p:pic>
        <p:nvPicPr>
          <p:cNvPr id="13" name="Рисунок 12" descr="Изображение выглядит как текст, снимок экрана, Шрифт, число">
            <a:extLst>
              <a:ext uri="{FF2B5EF4-FFF2-40B4-BE49-F238E27FC236}">
                <a16:creationId xmlns:a16="http://schemas.microsoft.com/office/drawing/2014/main" id="{31B8540D-CA2F-107C-C188-C8D35B67C08B}"/>
              </a:ext>
            </a:extLst>
          </p:cNvPr>
          <p:cNvPicPr>
            <a:picLocks noChangeAspect="1"/>
          </p:cNvPicPr>
          <p:nvPr/>
        </p:nvPicPr>
        <p:blipFill>
          <a:blip r:embed="rId3"/>
          <a:stretch>
            <a:fillRect/>
          </a:stretch>
        </p:blipFill>
        <p:spPr>
          <a:xfrm>
            <a:off x="311699" y="1211594"/>
            <a:ext cx="2937071" cy="2114929"/>
          </a:xfrm>
          <a:prstGeom prst="rect">
            <a:avLst/>
          </a:prstGeom>
          <a:ln>
            <a:solidFill>
              <a:schemeClr val="tx1"/>
            </a:solidFill>
          </a:ln>
        </p:spPr>
      </p:pic>
      <p:pic>
        <p:nvPicPr>
          <p:cNvPr id="19" name="Рисунок 18" descr="Изображение выглядит как текст, снимок экрана, Шрифт, число&#10;&#10;Содержимое, созданное искусственным интеллектом, может быть неверным.">
            <a:extLst>
              <a:ext uri="{FF2B5EF4-FFF2-40B4-BE49-F238E27FC236}">
                <a16:creationId xmlns:a16="http://schemas.microsoft.com/office/drawing/2014/main" id="{9BE51AD5-FEA8-9207-CF79-F825EB02CC30}"/>
              </a:ext>
            </a:extLst>
          </p:cNvPr>
          <p:cNvPicPr>
            <a:picLocks noChangeAspect="1"/>
          </p:cNvPicPr>
          <p:nvPr/>
        </p:nvPicPr>
        <p:blipFill>
          <a:blip r:embed="rId4"/>
          <a:stretch>
            <a:fillRect/>
          </a:stretch>
        </p:blipFill>
        <p:spPr>
          <a:xfrm>
            <a:off x="3427815" y="1211594"/>
            <a:ext cx="2467417" cy="2114929"/>
          </a:xfrm>
          <a:prstGeom prst="rect">
            <a:avLst/>
          </a:prstGeom>
          <a:ln>
            <a:solidFill>
              <a:schemeClr val="tx1"/>
            </a:solidFill>
          </a:ln>
        </p:spPr>
      </p:pic>
      <p:pic>
        <p:nvPicPr>
          <p:cNvPr id="21" name="Рисунок 20" descr="Изображение выглядит как текст, снимок экрана, Шрифт, число">
            <a:extLst>
              <a:ext uri="{FF2B5EF4-FFF2-40B4-BE49-F238E27FC236}">
                <a16:creationId xmlns:a16="http://schemas.microsoft.com/office/drawing/2014/main" id="{35CA3DFA-0494-35C8-9546-D6F133D7208A}"/>
              </a:ext>
            </a:extLst>
          </p:cNvPr>
          <p:cNvPicPr>
            <a:picLocks noChangeAspect="1"/>
          </p:cNvPicPr>
          <p:nvPr/>
        </p:nvPicPr>
        <p:blipFill>
          <a:blip r:embed="rId5"/>
          <a:stretch>
            <a:fillRect/>
          </a:stretch>
        </p:blipFill>
        <p:spPr>
          <a:xfrm>
            <a:off x="6074277" y="1211594"/>
            <a:ext cx="2733659" cy="2114929"/>
          </a:xfrm>
          <a:prstGeom prst="rect">
            <a:avLst/>
          </a:prstGeom>
          <a:ln>
            <a:solidFill>
              <a:schemeClr val="tx1"/>
            </a:solidFill>
          </a:ln>
        </p:spPr>
      </p:pic>
    </p:spTree>
    <p:extLst>
      <p:ext uri="{BB962C8B-B14F-4D97-AF65-F5344CB8AC3E}">
        <p14:creationId xmlns:p14="http://schemas.microsoft.com/office/powerpoint/2010/main" val="25780139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03"/>
        <p:cNvGrpSpPr/>
        <p:nvPr/>
      </p:nvGrpSpPr>
      <p:grpSpPr>
        <a:xfrm>
          <a:off x="0" y="0"/>
          <a:ext cx="0" cy="0"/>
          <a:chOff x="0" y="0"/>
          <a:chExt cx="0" cy="0"/>
        </a:xfrm>
      </p:grpSpPr>
      <p:sp>
        <p:nvSpPr>
          <p:cNvPr id="104" name="Google Shape;104;p20"/>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ru"/>
              <a:t>How to run code on a subinterpreter in a new thread</a:t>
            </a:r>
            <a:endParaRPr/>
          </a:p>
        </p:txBody>
      </p:sp>
      <p:sp>
        <p:nvSpPr>
          <p:cNvPr id="105" name="Google Shape;105;p20"/>
          <p:cNvSpPr txBox="1">
            <a:spLocks noGrp="1"/>
          </p:cNvSpPr>
          <p:nvPr>
            <p:ph type="body" idx="1"/>
          </p:nvPr>
        </p:nvSpPr>
        <p:spPr>
          <a:xfrm>
            <a:off x="513975" y="4074475"/>
            <a:ext cx="4594200" cy="851100"/>
          </a:xfrm>
          <a:prstGeom prst="rect">
            <a:avLst/>
          </a:prstGeom>
        </p:spPr>
        <p:txBody>
          <a:bodyPr spcFirstLastPara="1" wrap="square" lIns="91425" tIns="91425" rIns="91425" bIns="91425" anchor="t" anchorCtr="0">
            <a:normAutofit fontScale="92500" lnSpcReduction="10000"/>
          </a:bodyPr>
          <a:lstStyle/>
          <a:p>
            <a:pPr marL="0" lvl="0" indent="0" algn="l" rtl="0">
              <a:lnSpc>
                <a:spcPct val="95000"/>
              </a:lnSpc>
              <a:spcBef>
                <a:spcPts val="0"/>
              </a:spcBef>
              <a:spcAft>
                <a:spcPts val="1200"/>
              </a:spcAft>
              <a:buClr>
                <a:schemeClr val="dk1"/>
              </a:buClr>
              <a:buSzPts val="935"/>
              <a:buFont typeface="Arial"/>
              <a:buNone/>
            </a:pPr>
            <a:r>
              <a:rPr lang="ru" sz="1430" b="1"/>
              <a:t>Interpreter.call_in_thread()</a:t>
            </a:r>
            <a:r>
              <a:rPr lang="ru" sz="1430"/>
              <a:t> runs the given function in the interpreter (in a new thread). Function return values are discarded.</a:t>
            </a:r>
            <a:endParaRPr sz="1430"/>
          </a:p>
        </p:txBody>
      </p:sp>
      <p:sp>
        <p:nvSpPr>
          <p:cNvPr id="106" name="Google Shape;106;p20"/>
          <p:cNvSpPr txBox="1">
            <a:spLocks noGrp="1"/>
          </p:cNvSpPr>
          <p:nvPr>
            <p:ph type="body" idx="1"/>
          </p:nvPr>
        </p:nvSpPr>
        <p:spPr>
          <a:xfrm>
            <a:off x="513975" y="1085100"/>
            <a:ext cx="4594200" cy="2922000"/>
          </a:xfrm>
          <a:prstGeom prst="rect">
            <a:avLst/>
          </a:prstGeom>
          <a:ln w="9525" cap="flat" cmpd="sng">
            <a:solidFill>
              <a:schemeClr val="dk1"/>
            </a:solidFill>
            <a:prstDash val="solid"/>
            <a:round/>
            <a:headEnd type="none" w="sm" len="sm"/>
            <a:tailEnd type="none" w="sm" len="sm"/>
          </a:ln>
        </p:spPr>
        <p:txBody>
          <a:bodyPr spcFirstLastPara="1" wrap="square" lIns="91425" tIns="91425" rIns="91425" bIns="91425" anchor="t" anchorCtr="0">
            <a:normAutofit lnSpcReduction="10000"/>
          </a:bodyPr>
          <a:lstStyle/>
          <a:p>
            <a:pPr marL="0" lvl="0" indent="0" algn="l" rtl="0">
              <a:lnSpc>
                <a:spcPct val="135714"/>
              </a:lnSpc>
              <a:spcBef>
                <a:spcPts val="0"/>
              </a:spcBef>
              <a:spcAft>
                <a:spcPts val="0"/>
              </a:spcAft>
              <a:buNone/>
            </a:pPr>
            <a:r>
              <a:rPr lang="ru" sz="1050" dirty="0">
                <a:solidFill>
                  <a:srgbClr val="B5200D"/>
                </a:solidFill>
                <a:highlight>
                  <a:srgbClr val="FFFFFF"/>
                </a:highlight>
                <a:latin typeface="Courier New"/>
                <a:ea typeface="Courier New"/>
                <a:cs typeface="Courier New"/>
                <a:sym typeface="Courier New"/>
              </a:rPr>
              <a:t>from</a:t>
            </a:r>
            <a:r>
              <a:rPr lang="ru" sz="1050" dirty="0">
                <a:solidFill>
                  <a:srgbClr val="292929"/>
                </a:solidFill>
                <a:highlight>
                  <a:srgbClr val="FFFFFF"/>
                </a:highlight>
                <a:latin typeface="Courier New"/>
                <a:ea typeface="Courier New"/>
                <a:cs typeface="Courier New"/>
                <a:sym typeface="Courier New"/>
              </a:rPr>
              <a:t> concurrent </a:t>
            </a:r>
            <a:r>
              <a:rPr lang="ru" sz="1050" dirty="0">
                <a:solidFill>
                  <a:srgbClr val="B5200D"/>
                </a:solidFill>
                <a:highlight>
                  <a:srgbClr val="FFFFFF"/>
                </a:highlight>
                <a:latin typeface="Courier New"/>
                <a:ea typeface="Courier New"/>
                <a:cs typeface="Courier New"/>
                <a:sym typeface="Courier New"/>
              </a:rPr>
              <a:t>import</a:t>
            </a:r>
            <a:r>
              <a:rPr lang="ru" sz="1050" dirty="0">
                <a:solidFill>
                  <a:srgbClr val="292929"/>
                </a:solidFill>
                <a:highlight>
                  <a:srgbClr val="FFFFFF"/>
                </a:highlight>
                <a:latin typeface="Courier New"/>
                <a:ea typeface="Courier New"/>
                <a:cs typeface="Courier New"/>
                <a:sym typeface="Courier New"/>
              </a:rPr>
              <a:t> interpreters</a:t>
            </a:r>
            <a:endParaRPr sz="1050" dirty="0">
              <a:solidFill>
                <a:srgbClr val="292929"/>
              </a:solidFill>
              <a:highlight>
                <a:srgbClr val="FFFFFF"/>
              </a:highlight>
              <a:latin typeface="Courier New"/>
              <a:ea typeface="Courier New"/>
              <a:cs typeface="Courier New"/>
              <a:sym typeface="Courier New"/>
            </a:endParaRPr>
          </a:p>
          <a:p>
            <a:pPr marL="0" lvl="0" indent="0" algn="l" rtl="0">
              <a:lnSpc>
                <a:spcPct val="135714"/>
              </a:lnSpc>
              <a:spcBef>
                <a:spcPts val="0"/>
              </a:spcBef>
              <a:spcAft>
                <a:spcPts val="0"/>
              </a:spcAft>
              <a:buNone/>
            </a:pPr>
            <a:endParaRPr sz="1050" dirty="0">
              <a:solidFill>
                <a:srgbClr val="292929"/>
              </a:solidFill>
              <a:highlight>
                <a:srgbClr val="FFFFFF"/>
              </a:highlight>
              <a:latin typeface="Courier New"/>
              <a:ea typeface="Courier New"/>
              <a:cs typeface="Courier New"/>
              <a:sym typeface="Courier New"/>
            </a:endParaRPr>
          </a:p>
          <a:p>
            <a:pPr marL="0" lvl="0" indent="0" algn="l" rtl="0">
              <a:lnSpc>
                <a:spcPct val="135714"/>
              </a:lnSpc>
              <a:spcBef>
                <a:spcPts val="0"/>
              </a:spcBef>
              <a:spcAft>
                <a:spcPts val="0"/>
              </a:spcAft>
              <a:buClr>
                <a:schemeClr val="dk1"/>
              </a:buClr>
              <a:buSzPts val="1100"/>
              <a:buFont typeface="Arial"/>
              <a:buNone/>
            </a:pPr>
            <a:r>
              <a:rPr lang="ru" sz="1050" dirty="0">
                <a:solidFill>
                  <a:srgbClr val="0F4A85"/>
                </a:solidFill>
                <a:highlight>
                  <a:srgbClr val="FFFFFF"/>
                </a:highlight>
                <a:latin typeface="Courier New"/>
                <a:ea typeface="Courier New"/>
                <a:cs typeface="Courier New"/>
                <a:sym typeface="Courier New"/>
              </a:rPr>
              <a:t>def</a:t>
            </a:r>
            <a:r>
              <a:rPr lang="ru" sz="1050" dirty="0">
                <a:solidFill>
                  <a:srgbClr val="292929"/>
                </a:solidFill>
                <a:highlight>
                  <a:srgbClr val="FFFFFF"/>
                </a:highlight>
                <a:latin typeface="Courier New"/>
                <a:ea typeface="Courier New"/>
                <a:cs typeface="Courier New"/>
                <a:sym typeface="Courier New"/>
              </a:rPr>
              <a:t> </a:t>
            </a:r>
            <a:r>
              <a:rPr lang="ru" sz="1050" dirty="0">
                <a:solidFill>
                  <a:srgbClr val="5E2CBC"/>
                </a:solidFill>
                <a:highlight>
                  <a:srgbClr val="FFFFFF"/>
                </a:highlight>
                <a:latin typeface="Courier New"/>
                <a:ea typeface="Courier New"/>
                <a:cs typeface="Courier New"/>
                <a:sym typeface="Courier New"/>
              </a:rPr>
              <a:t>func</a:t>
            </a:r>
            <a:r>
              <a:rPr lang="ru" sz="1050" dirty="0">
                <a:solidFill>
                  <a:srgbClr val="292929"/>
                </a:solidFill>
                <a:highlight>
                  <a:srgbClr val="FFFFFF"/>
                </a:highlight>
                <a:latin typeface="Courier New"/>
                <a:ea typeface="Courier New"/>
                <a:cs typeface="Courier New"/>
                <a:sym typeface="Courier New"/>
              </a:rPr>
              <a:t>(</a:t>
            </a:r>
            <a:r>
              <a:rPr lang="ru" sz="1050" dirty="0">
                <a:solidFill>
                  <a:srgbClr val="001080"/>
                </a:solidFill>
                <a:highlight>
                  <a:srgbClr val="FFFFFF"/>
                </a:highlight>
                <a:latin typeface="Courier New"/>
                <a:ea typeface="Courier New"/>
                <a:cs typeface="Courier New"/>
                <a:sym typeface="Courier New"/>
              </a:rPr>
              <a:t>arg1</a:t>
            </a:r>
            <a:r>
              <a:rPr lang="ru" sz="1050" dirty="0">
                <a:solidFill>
                  <a:srgbClr val="292929"/>
                </a:solidFill>
                <a:highlight>
                  <a:srgbClr val="FFFFFF"/>
                </a:highlight>
                <a:latin typeface="Courier New"/>
                <a:ea typeface="Courier New"/>
                <a:cs typeface="Courier New"/>
                <a:sym typeface="Courier New"/>
              </a:rPr>
              <a:t>: </a:t>
            </a:r>
            <a:r>
              <a:rPr lang="ru" sz="1050" dirty="0">
                <a:solidFill>
                  <a:srgbClr val="185E73"/>
                </a:solidFill>
                <a:highlight>
                  <a:srgbClr val="FFFFFF"/>
                </a:highlight>
                <a:latin typeface="Courier New"/>
                <a:ea typeface="Courier New"/>
                <a:cs typeface="Courier New"/>
                <a:sym typeface="Courier New"/>
              </a:rPr>
              <a:t>int</a:t>
            </a:r>
            <a:r>
              <a:rPr lang="ru" sz="1050" dirty="0">
                <a:solidFill>
                  <a:srgbClr val="292929"/>
                </a:solidFill>
                <a:highlight>
                  <a:srgbClr val="FFFFFF"/>
                </a:highlight>
                <a:latin typeface="Courier New"/>
                <a:ea typeface="Courier New"/>
                <a:cs typeface="Courier New"/>
                <a:sym typeface="Courier New"/>
              </a:rPr>
              <a:t>, </a:t>
            </a:r>
            <a:r>
              <a:rPr lang="ru" sz="1050" dirty="0">
                <a:solidFill>
                  <a:srgbClr val="001080"/>
                </a:solidFill>
                <a:highlight>
                  <a:srgbClr val="FFFFFF"/>
                </a:highlight>
                <a:latin typeface="Courier New"/>
                <a:ea typeface="Courier New"/>
                <a:cs typeface="Courier New"/>
                <a:sym typeface="Courier New"/>
              </a:rPr>
              <a:t>arg2</a:t>
            </a:r>
            <a:r>
              <a:rPr lang="ru" sz="1050" dirty="0">
                <a:solidFill>
                  <a:srgbClr val="292929"/>
                </a:solidFill>
                <a:highlight>
                  <a:srgbClr val="FFFFFF"/>
                </a:highlight>
                <a:latin typeface="Courier New"/>
                <a:ea typeface="Courier New"/>
                <a:cs typeface="Courier New"/>
                <a:sym typeface="Courier New"/>
              </a:rPr>
              <a:t>: </a:t>
            </a:r>
            <a:r>
              <a:rPr lang="ru" sz="1050" dirty="0">
                <a:solidFill>
                  <a:srgbClr val="185E73"/>
                </a:solidFill>
                <a:highlight>
                  <a:srgbClr val="FFFFFF"/>
                </a:highlight>
                <a:latin typeface="Courier New"/>
                <a:ea typeface="Courier New"/>
                <a:cs typeface="Courier New"/>
                <a:sym typeface="Courier New"/>
              </a:rPr>
              <a:t>int</a:t>
            </a:r>
            <a:r>
              <a:rPr lang="ru" sz="1050" dirty="0">
                <a:solidFill>
                  <a:srgbClr val="292929"/>
                </a:solidFill>
                <a:highlight>
                  <a:srgbClr val="FFFFFF"/>
                </a:highlight>
                <a:latin typeface="Courier New"/>
                <a:ea typeface="Courier New"/>
                <a:cs typeface="Courier New"/>
                <a:sym typeface="Courier New"/>
              </a:rPr>
              <a:t>) -&gt; </a:t>
            </a:r>
            <a:r>
              <a:rPr lang="ru" sz="1050" dirty="0">
                <a:solidFill>
                  <a:srgbClr val="0F4A85"/>
                </a:solidFill>
                <a:highlight>
                  <a:srgbClr val="FFFFFF"/>
                </a:highlight>
                <a:latin typeface="Courier New"/>
                <a:ea typeface="Courier New"/>
                <a:cs typeface="Courier New"/>
                <a:sym typeface="Courier New"/>
              </a:rPr>
              <a:t>None</a:t>
            </a:r>
            <a:r>
              <a:rPr lang="ru" sz="1050" dirty="0">
                <a:solidFill>
                  <a:srgbClr val="292929"/>
                </a:solidFill>
                <a:highlight>
                  <a:srgbClr val="FFFFFF"/>
                </a:highlight>
                <a:latin typeface="Courier New"/>
                <a:ea typeface="Courier New"/>
                <a:cs typeface="Courier New"/>
                <a:sym typeface="Courier New"/>
              </a:rPr>
              <a:t>:</a:t>
            </a:r>
            <a:endParaRPr sz="1050" dirty="0">
              <a:solidFill>
                <a:srgbClr val="292929"/>
              </a:solidFill>
              <a:highlight>
                <a:srgbClr val="FFFFFF"/>
              </a:highlight>
              <a:latin typeface="Courier New"/>
              <a:ea typeface="Courier New"/>
              <a:cs typeface="Courier New"/>
              <a:sym typeface="Courier New"/>
            </a:endParaRPr>
          </a:p>
          <a:p>
            <a:pPr marL="0" lvl="0" indent="0" algn="l" rtl="0">
              <a:lnSpc>
                <a:spcPct val="135714"/>
              </a:lnSpc>
              <a:spcBef>
                <a:spcPts val="0"/>
              </a:spcBef>
              <a:spcAft>
                <a:spcPts val="0"/>
              </a:spcAft>
              <a:buClr>
                <a:schemeClr val="dk1"/>
              </a:buClr>
              <a:buSzPts val="1100"/>
              <a:buFont typeface="Arial"/>
              <a:buNone/>
            </a:pPr>
            <a:r>
              <a:rPr lang="ru" sz="1050" dirty="0">
                <a:solidFill>
                  <a:srgbClr val="292929"/>
                </a:solidFill>
                <a:highlight>
                  <a:srgbClr val="FFFFFF"/>
                </a:highlight>
                <a:latin typeface="Courier New"/>
                <a:ea typeface="Courier New"/>
                <a:cs typeface="Courier New"/>
                <a:sym typeface="Courier New"/>
              </a:rPr>
              <a:t>    res </a:t>
            </a:r>
            <a:r>
              <a:rPr lang="ru" sz="1050" dirty="0">
                <a:solidFill>
                  <a:schemeClr val="dk1"/>
                </a:solidFill>
                <a:highlight>
                  <a:srgbClr val="FFFFFF"/>
                </a:highlight>
                <a:latin typeface="Courier New"/>
                <a:ea typeface="Courier New"/>
                <a:cs typeface="Courier New"/>
                <a:sym typeface="Courier New"/>
              </a:rPr>
              <a:t>=</a:t>
            </a:r>
            <a:r>
              <a:rPr lang="ru" sz="1050" dirty="0">
                <a:solidFill>
                  <a:srgbClr val="292929"/>
                </a:solidFill>
                <a:highlight>
                  <a:srgbClr val="FFFFFF"/>
                </a:highlight>
                <a:latin typeface="Courier New"/>
                <a:ea typeface="Courier New"/>
                <a:cs typeface="Courier New"/>
                <a:sym typeface="Courier New"/>
              </a:rPr>
              <a:t> arg1 </a:t>
            </a:r>
            <a:r>
              <a:rPr lang="ru" sz="1050" dirty="0">
                <a:solidFill>
                  <a:schemeClr val="dk1"/>
                </a:solidFill>
                <a:highlight>
                  <a:srgbClr val="FFFFFF"/>
                </a:highlight>
                <a:latin typeface="Courier New"/>
                <a:ea typeface="Courier New"/>
                <a:cs typeface="Courier New"/>
                <a:sym typeface="Courier New"/>
              </a:rPr>
              <a:t>+</a:t>
            </a:r>
            <a:r>
              <a:rPr lang="ru" sz="1050" dirty="0">
                <a:solidFill>
                  <a:srgbClr val="292929"/>
                </a:solidFill>
                <a:highlight>
                  <a:srgbClr val="FFFFFF"/>
                </a:highlight>
                <a:latin typeface="Courier New"/>
                <a:ea typeface="Courier New"/>
                <a:cs typeface="Courier New"/>
                <a:sym typeface="Courier New"/>
              </a:rPr>
              <a:t> arg2</a:t>
            </a:r>
            <a:endParaRPr sz="1050" dirty="0">
              <a:solidFill>
                <a:srgbClr val="292929"/>
              </a:solidFill>
              <a:highlight>
                <a:srgbClr val="FFFFFF"/>
              </a:highlight>
              <a:latin typeface="Courier New"/>
              <a:ea typeface="Courier New"/>
              <a:cs typeface="Courier New"/>
              <a:sym typeface="Courier New"/>
            </a:endParaRPr>
          </a:p>
          <a:p>
            <a:pPr marL="0" lvl="0" indent="0" algn="l" rtl="0">
              <a:lnSpc>
                <a:spcPct val="135714"/>
              </a:lnSpc>
              <a:spcBef>
                <a:spcPts val="0"/>
              </a:spcBef>
              <a:spcAft>
                <a:spcPts val="0"/>
              </a:spcAft>
              <a:buNone/>
            </a:pPr>
            <a:r>
              <a:rPr lang="ru" sz="1050" dirty="0">
                <a:solidFill>
                  <a:srgbClr val="292929"/>
                </a:solidFill>
                <a:highlight>
                  <a:srgbClr val="FFFFFF"/>
                </a:highlight>
                <a:latin typeface="Courier New"/>
                <a:ea typeface="Courier New"/>
                <a:cs typeface="Courier New"/>
                <a:sym typeface="Courier New"/>
              </a:rPr>
              <a:t>    </a:t>
            </a:r>
            <a:r>
              <a:rPr lang="ru" sz="1050" dirty="0">
                <a:solidFill>
                  <a:srgbClr val="5E2CBC"/>
                </a:solidFill>
                <a:highlight>
                  <a:srgbClr val="FFFFFF"/>
                </a:highlight>
                <a:latin typeface="Courier New"/>
                <a:ea typeface="Courier New"/>
                <a:cs typeface="Courier New"/>
                <a:sym typeface="Courier New"/>
              </a:rPr>
              <a:t>print</a:t>
            </a:r>
            <a:r>
              <a:rPr lang="ru" sz="1050" dirty="0">
                <a:solidFill>
                  <a:srgbClr val="292929"/>
                </a:solidFill>
                <a:highlight>
                  <a:srgbClr val="FFFFFF"/>
                </a:highlight>
                <a:latin typeface="Courier New"/>
                <a:ea typeface="Courier New"/>
                <a:cs typeface="Courier New"/>
                <a:sym typeface="Courier New"/>
              </a:rPr>
              <a:t>(res)</a:t>
            </a:r>
            <a:endParaRPr sz="1050" dirty="0">
              <a:solidFill>
                <a:srgbClr val="0F4A85"/>
              </a:solidFill>
              <a:highlight>
                <a:srgbClr val="FFFFFF"/>
              </a:highlight>
              <a:latin typeface="Courier New"/>
              <a:ea typeface="Courier New"/>
              <a:cs typeface="Courier New"/>
              <a:sym typeface="Courier New"/>
            </a:endParaRPr>
          </a:p>
          <a:p>
            <a:pPr marL="0" lvl="0" indent="0" algn="l" rtl="0">
              <a:lnSpc>
                <a:spcPct val="135714"/>
              </a:lnSpc>
              <a:spcBef>
                <a:spcPts val="0"/>
              </a:spcBef>
              <a:spcAft>
                <a:spcPts val="0"/>
              </a:spcAft>
              <a:buNone/>
            </a:pPr>
            <a:endParaRPr sz="1050" dirty="0">
              <a:solidFill>
                <a:srgbClr val="292929"/>
              </a:solidFill>
              <a:highlight>
                <a:srgbClr val="FFFFFF"/>
              </a:highlight>
              <a:latin typeface="Courier New"/>
              <a:ea typeface="Courier New"/>
              <a:cs typeface="Courier New"/>
              <a:sym typeface="Courier New"/>
            </a:endParaRPr>
          </a:p>
          <a:p>
            <a:pPr marL="0" lvl="0" indent="0" algn="l" rtl="0">
              <a:lnSpc>
                <a:spcPct val="135714"/>
              </a:lnSpc>
              <a:spcBef>
                <a:spcPts val="0"/>
              </a:spcBef>
              <a:spcAft>
                <a:spcPts val="0"/>
              </a:spcAft>
              <a:buClr>
                <a:schemeClr val="dk1"/>
              </a:buClr>
              <a:buSzPts val="1100"/>
              <a:buFont typeface="Arial"/>
              <a:buNone/>
            </a:pPr>
            <a:r>
              <a:rPr lang="ru" sz="1050" dirty="0">
                <a:solidFill>
                  <a:srgbClr val="292929"/>
                </a:solidFill>
                <a:highlight>
                  <a:srgbClr val="FFFFFF"/>
                </a:highlight>
                <a:latin typeface="Courier New"/>
                <a:ea typeface="Courier New"/>
                <a:cs typeface="Courier New"/>
                <a:sym typeface="Courier New"/>
              </a:rPr>
              <a:t>interp </a:t>
            </a:r>
            <a:r>
              <a:rPr lang="ru" sz="1050" dirty="0">
                <a:solidFill>
                  <a:schemeClr val="dk1"/>
                </a:solidFill>
                <a:highlight>
                  <a:srgbClr val="FFFFFF"/>
                </a:highlight>
                <a:latin typeface="Courier New"/>
                <a:ea typeface="Courier New"/>
                <a:cs typeface="Courier New"/>
                <a:sym typeface="Courier New"/>
              </a:rPr>
              <a:t>=</a:t>
            </a:r>
            <a:r>
              <a:rPr lang="ru" sz="1050" dirty="0">
                <a:solidFill>
                  <a:srgbClr val="292929"/>
                </a:solidFill>
                <a:highlight>
                  <a:srgbClr val="FFFFFF"/>
                </a:highlight>
                <a:latin typeface="Courier New"/>
                <a:ea typeface="Courier New"/>
                <a:cs typeface="Courier New"/>
                <a:sym typeface="Courier New"/>
              </a:rPr>
              <a:t> interpreters.create()</a:t>
            </a:r>
            <a:endParaRPr sz="1050" dirty="0">
              <a:solidFill>
                <a:srgbClr val="292929"/>
              </a:solidFill>
              <a:highlight>
                <a:srgbClr val="FFFFFF"/>
              </a:highlight>
              <a:latin typeface="Courier New"/>
              <a:ea typeface="Courier New"/>
              <a:cs typeface="Courier New"/>
              <a:sym typeface="Courier New"/>
            </a:endParaRPr>
          </a:p>
          <a:p>
            <a:pPr marL="0" lvl="0" indent="0" algn="l" rtl="0">
              <a:lnSpc>
                <a:spcPct val="135714"/>
              </a:lnSpc>
              <a:spcBef>
                <a:spcPts val="0"/>
              </a:spcBef>
              <a:spcAft>
                <a:spcPts val="0"/>
              </a:spcAft>
              <a:buClr>
                <a:schemeClr val="dk1"/>
              </a:buClr>
              <a:buSzPts val="1100"/>
              <a:buFont typeface="Arial"/>
              <a:buNone/>
            </a:pPr>
            <a:r>
              <a:rPr lang="ru" sz="1050" dirty="0">
                <a:solidFill>
                  <a:srgbClr val="292929"/>
                </a:solidFill>
                <a:highlight>
                  <a:srgbClr val="FFFFFF"/>
                </a:highlight>
                <a:latin typeface="Courier New"/>
                <a:ea typeface="Courier New"/>
                <a:cs typeface="Courier New"/>
                <a:sym typeface="Courier New"/>
              </a:rPr>
              <a:t>a, b </a:t>
            </a:r>
            <a:r>
              <a:rPr lang="ru" sz="1050" dirty="0">
                <a:solidFill>
                  <a:schemeClr val="dk1"/>
                </a:solidFill>
                <a:highlight>
                  <a:srgbClr val="FFFFFF"/>
                </a:highlight>
                <a:latin typeface="Courier New"/>
                <a:ea typeface="Courier New"/>
                <a:cs typeface="Courier New"/>
                <a:sym typeface="Courier New"/>
              </a:rPr>
              <a:t>=</a:t>
            </a:r>
            <a:r>
              <a:rPr lang="ru" sz="1050" dirty="0">
                <a:solidFill>
                  <a:srgbClr val="292929"/>
                </a:solidFill>
                <a:highlight>
                  <a:srgbClr val="FFFFFF"/>
                </a:highlight>
                <a:latin typeface="Courier New"/>
                <a:ea typeface="Courier New"/>
                <a:cs typeface="Courier New"/>
                <a:sym typeface="Courier New"/>
              </a:rPr>
              <a:t> </a:t>
            </a:r>
            <a:r>
              <a:rPr lang="ru" sz="1050" dirty="0">
                <a:solidFill>
                  <a:srgbClr val="096D48"/>
                </a:solidFill>
                <a:highlight>
                  <a:srgbClr val="FFFFFF"/>
                </a:highlight>
                <a:latin typeface="Courier New"/>
                <a:ea typeface="Courier New"/>
                <a:cs typeface="Courier New"/>
                <a:sym typeface="Courier New"/>
              </a:rPr>
              <a:t>1</a:t>
            </a:r>
            <a:r>
              <a:rPr lang="ru" sz="1050" dirty="0">
                <a:solidFill>
                  <a:srgbClr val="292929"/>
                </a:solidFill>
                <a:highlight>
                  <a:srgbClr val="FFFFFF"/>
                </a:highlight>
                <a:latin typeface="Courier New"/>
                <a:ea typeface="Courier New"/>
                <a:cs typeface="Courier New"/>
                <a:sym typeface="Courier New"/>
              </a:rPr>
              <a:t>, </a:t>
            </a:r>
            <a:r>
              <a:rPr lang="ru" sz="1050" dirty="0">
                <a:solidFill>
                  <a:srgbClr val="096D48"/>
                </a:solidFill>
                <a:highlight>
                  <a:srgbClr val="FFFFFF"/>
                </a:highlight>
                <a:latin typeface="Courier New"/>
                <a:ea typeface="Courier New"/>
                <a:cs typeface="Courier New"/>
                <a:sym typeface="Courier New"/>
              </a:rPr>
              <a:t>2</a:t>
            </a:r>
            <a:endParaRPr sz="1050" dirty="0">
              <a:solidFill>
                <a:srgbClr val="096D48"/>
              </a:solidFill>
              <a:highlight>
                <a:srgbClr val="FFFFFF"/>
              </a:highlight>
              <a:latin typeface="Courier New"/>
              <a:ea typeface="Courier New"/>
              <a:cs typeface="Courier New"/>
              <a:sym typeface="Courier New"/>
            </a:endParaRPr>
          </a:p>
          <a:p>
            <a:pPr marL="0" lvl="0" indent="0" algn="l" rtl="0">
              <a:lnSpc>
                <a:spcPct val="135714"/>
              </a:lnSpc>
              <a:spcBef>
                <a:spcPts val="0"/>
              </a:spcBef>
              <a:spcAft>
                <a:spcPts val="0"/>
              </a:spcAft>
              <a:buClr>
                <a:schemeClr val="dk1"/>
              </a:buClr>
              <a:buSzPts val="1100"/>
              <a:buFont typeface="Arial"/>
              <a:buNone/>
            </a:pPr>
            <a:endParaRPr sz="1050" dirty="0">
              <a:solidFill>
                <a:srgbClr val="292929"/>
              </a:solidFill>
              <a:highlight>
                <a:srgbClr val="FFFFFF"/>
              </a:highlight>
              <a:latin typeface="Courier New"/>
              <a:ea typeface="Courier New"/>
              <a:cs typeface="Courier New"/>
              <a:sym typeface="Courier New"/>
            </a:endParaRPr>
          </a:p>
          <a:p>
            <a:pPr marL="0" lvl="0" indent="0" algn="l" rtl="0">
              <a:lnSpc>
                <a:spcPct val="135714"/>
              </a:lnSpc>
              <a:spcBef>
                <a:spcPts val="0"/>
              </a:spcBef>
              <a:spcAft>
                <a:spcPts val="0"/>
              </a:spcAft>
              <a:buClr>
                <a:schemeClr val="dk1"/>
              </a:buClr>
              <a:buSzPts val="1100"/>
              <a:buFont typeface="Arial"/>
              <a:buNone/>
            </a:pPr>
            <a:r>
              <a:rPr lang="ru" sz="1050" dirty="0">
                <a:solidFill>
                  <a:srgbClr val="292929"/>
                </a:solidFill>
                <a:highlight>
                  <a:srgbClr val="FFFFFF"/>
                </a:highlight>
                <a:latin typeface="Courier New"/>
                <a:ea typeface="Courier New"/>
                <a:cs typeface="Courier New"/>
                <a:sym typeface="Courier New"/>
              </a:rPr>
              <a:t>new_thread </a:t>
            </a:r>
            <a:r>
              <a:rPr lang="ru" sz="1050" dirty="0">
                <a:solidFill>
                  <a:schemeClr val="dk1"/>
                </a:solidFill>
                <a:highlight>
                  <a:srgbClr val="FFFFFF"/>
                </a:highlight>
                <a:latin typeface="Courier New"/>
                <a:ea typeface="Courier New"/>
                <a:cs typeface="Courier New"/>
                <a:sym typeface="Courier New"/>
              </a:rPr>
              <a:t>=</a:t>
            </a:r>
            <a:r>
              <a:rPr lang="ru" sz="1050" dirty="0">
                <a:solidFill>
                  <a:srgbClr val="292929"/>
                </a:solidFill>
                <a:highlight>
                  <a:srgbClr val="FFFFFF"/>
                </a:highlight>
                <a:latin typeface="Courier New"/>
                <a:ea typeface="Courier New"/>
                <a:cs typeface="Courier New"/>
                <a:sym typeface="Courier New"/>
              </a:rPr>
              <a:t> interp.call_in_thread(func, a, b)</a:t>
            </a:r>
            <a:endParaRPr sz="1050" dirty="0">
              <a:solidFill>
                <a:srgbClr val="292929"/>
              </a:solidFill>
              <a:highlight>
                <a:srgbClr val="FFFFFF"/>
              </a:highlight>
              <a:latin typeface="Courier New"/>
              <a:ea typeface="Courier New"/>
              <a:cs typeface="Courier New"/>
              <a:sym typeface="Courier New"/>
            </a:endParaRPr>
          </a:p>
          <a:p>
            <a:pPr marL="0" lvl="0" indent="0" algn="l" rtl="0">
              <a:lnSpc>
                <a:spcPct val="135714"/>
              </a:lnSpc>
              <a:spcBef>
                <a:spcPts val="0"/>
              </a:spcBef>
              <a:spcAft>
                <a:spcPts val="0"/>
              </a:spcAft>
              <a:buClr>
                <a:schemeClr val="dk1"/>
              </a:buClr>
              <a:buSzPts val="1100"/>
              <a:buFont typeface="Arial"/>
              <a:buNone/>
            </a:pPr>
            <a:endParaRPr sz="1050" dirty="0">
              <a:solidFill>
                <a:srgbClr val="292929"/>
              </a:solidFill>
              <a:highlight>
                <a:srgbClr val="FFFFFF"/>
              </a:highlight>
              <a:latin typeface="Courier New"/>
              <a:ea typeface="Courier New"/>
              <a:cs typeface="Courier New"/>
              <a:sym typeface="Courier New"/>
            </a:endParaRPr>
          </a:p>
          <a:p>
            <a:pPr marL="0" lvl="0" indent="0" algn="l" rtl="0">
              <a:lnSpc>
                <a:spcPct val="135714"/>
              </a:lnSpc>
              <a:spcBef>
                <a:spcPts val="0"/>
              </a:spcBef>
              <a:spcAft>
                <a:spcPts val="0"/>
              </a:spcAft>
              <a:buClr>
                <a:schemeClr val="dk1"/>
              </a:buClr>
              <a:buSzPts val="1100"/>
              <a:buFont typeface="Arial"/>
              <a:buNone/>
            </a:pPr>
            <a:r>
              <a:rPr lang="ru" sz="1050" dirty="0">
                <a:solidFill>
                  <a:srgbClr val="292929"/>
                </a:solidFill>
                <a:highlight>
                  <a:srgbClr val="FFFFFF"/>
                </a:highlight>
                <a:latin typeface="Courier New"/>
                <a:ea typeface="Courier New"/>
                <a:cs typeface="Courier New"/>
                <a:sym typeface="Courier New"/>
              </a:rPr>
              <a:t>new_thread.join()</a:t>
            </a:r>
            <a:endParaRPr sz="1050" dirty="0">
              <a:solidFill>
                <a:srgbClr val="292929"/>
              </a:solidFill>
              <a:highlight>
                <a:srgbClr val="FFFFFF"/>
              </a:highlight>
              <a:latin typeface="Courier New"/>
              <a:ea typeface="Courier New"/>
              <a:cs typeface="Courier New"/>
              <a:sym typeface="Courier New"/>
            </a:endParaRPr>
          </a:p>
          <a:p>
            <a:pPr marL="0" lvl="0" indent="0" algn="l" rtl="0">
              <a:lnSpc>
                <a:spcPct val="135714"/>
              </a:lnSpc>
              <a:spcBef>
                <a:spcPts val="0"/>
              </a:spcBef>
              <a:spcAft>
                <a:spcPts val="0"/>
              </a:spcAft>
              <a:buNone/>
            </a:pPr>
            <a:r>
              <a:rPr lang="ru" sz="1050" dirty="0">
                <a:solidFill>
                  <a:srgbClr val="292929"/>
                </a:solidFill>
                <a:highlight>
                  <a:srgbClr val="FFFFFF"/>
                </a:highlight>
                <a:latin typeface="Courier New"/>
                <a:ea typeface="Courier New"/>
                <a:cs typeface="Courier New"/>
                <a:sym typeface="Courier New"/>
              </a:rPr>
              <a:t>interp.close()</a:t>
            </a:r>
            <a:endParaRPr sz="1050" dirty="0">
              <a:solidFill>
                <a:srgbClr val="292929"/>
              </a:solidFill>
              <a:highlight>
                <a:srgbClr val="FFFFFF"/>
              </a:highlight>
              <a:latin typeface="Courier New"/>
              <a:ea typeface="Courier New"/>
              <a:cs typeface="Courier New"/>
              <a:sym typeface="Courier New"/>
            </a:endParaRPr>
          </a:p>
        </p:txBody>
      </p:sp>
      <p:sp>
        <p:nvSpPr>
          <p:cNvPr id="107" name="Google Shape;107;p20"/>
          <p:cNvSpPr txBox="1">
            <a:spLocks noGrp="1"/>
          </p:cNvSpPr>
          <p:nvPr>
            <p:ph type="body" idx="1"/>
          </p:nvPr>
        </p:nvSpPr>
        <p:spPr>
          <a:xfrm>
            <a:off x="5241750" y="1085100"/>
            <a:ext cx="3359700" cy="1666500"/>
          </a:xfrm>
          <a:prstGeom prst="rect">
            <a:avLst/>
          </a:prstGeom>
          <a:ln w="9525" cap="flat" cmpd="sng">
            <a:solidFill>
              <a:schemeClr val="dk1"/>
            </a:solidFill>
            <a:prstDash val="solid"/>
            <a:round/>
            <a:headEnd type="none" w="sm" len="sm"/>
            <a:tailEnd type="none" w="sm" len="sm"/>
          </a:ln>
        </p:spPr>
        <p:txBody>
          <a:bodyPr spcFirstLastPara="1" wrap="square" lIns="91425" tIns="91425" rIns="91425" bIns="91425" anchor="t" anchorCtr="0">
            <a:normAutofit lnSpcReduction="10000"/>
          </a:bodyPr>
          <a:lstStyle/>
          <a:p>
            <a:pPr marL="0" lvl="0" indent="0" algn="l" rtl="0">
              <a:spcBef>
                <a:spcPts val="0"/>
              </a:spcBef>
              <a:spcAft>
                <a:spcPts val="0"/>
              </a:spcAft>
              <a:buNone/>
            </a:pPr>
            <a:r>
              <a:rPr lang="ru" sz="1448" b="1"/>
              <a:t>Interpreter.call_in_thread()</a:t>
            </a:r>
            <a:r>
              <a:rPr lang="ru" sz="1448"/>
              <a:t> is roughly equivalent to:</a:t>
            </a:r>
            <a:endParaRPr sz="950">
              <a:solidFill>
                <a:srgbClr val="0F4A85"/>
              </a:solidFill>
              <a:highlight>
                <a:srgbClr val="FFFFFF"/>
              </a:highlight>
              <a:latin typeface="Courier New"/>
              <a:ea typeface="Courier New"/>
              <a:cs typeface="Courier New"/>
              <a:sym typeface="Courier New"/>
            </a:endParaRPr>
          </a:p>
          <a:p>
            <a:pPr marL="0" lvl="0" indent="0" algn="l" rtl="0">
              <a:lnSpc>
                <a:spcPct val="135714"/>
              </a:lnSpc>
              <a:spcBef>
                <a:spcPts val="1200"/>
              </a:spcBef>
              <a:spcAft>
                <a:spcPts val="0"/>
              </a:spcAft>
              <a:buClr>
                <a:schemeClr val="dk1"/>
              </a:buClr>
              <a:buSzPts val="1100"/>
              <a:buFont typeface="Arial"/>
              <a:buNone/>
            </a:pPr>
            <a:r>
              <a:rPr lang="ru" sz="1050">
                <a:solidFill>
                  <a:srgbClr val="0F4A85"/>
                </a:solidFill>
                <a:highlight>
                  <a:srgbClr val="FFFFFF"/>
                </a:highlight>
                <a:latin typeface="Courier New"/>
                <a:ea typeface="Courier New"/>
                <a:cs typeface="Courier New"/>
                <a:sym typeface="Courier New"/>
              </a:rPr>
              <a:t>def</a:t>
            </a:r>
            <a:r>
              <a:rPr lang="ru" sz="1050">
                <a:solidFill>
                  <a:srgbClr val="292929"/>
                </a:solidFill>
                <a:highlight>
                  <a:srgbClr val="FFFFFF"/>
                </a:highlight>
                <a:latin typeface="Courier New"/>
                <a:ea typeface="Courier New"/>
                <a:cs typeface="Courier New"/>
                <a:sym typeface="Courier New"/>
              </a:rPr>
              <a:t> </a:t>
            </a:r>
            <a:r>
              <a:rPr lang="ru" sz="1050">
                <a:solidFill>
                  <a:srgbClr val="5E2CBC"/>
                </a:solidFill>
                <a:highlight>
                  <a:srgbClr val="FFFFFF"/>
                </a:highlight>
                <a:latin typeface="Courier New"/>
                <a:ea typeface="Courier New"/>
                <a:cs typeface="Courier New"/>
                <a:sym typeface="Courier New"/>
              </a:rPr>
              <a:t>task</a:t>
            </a:r>
            <a:r>
              <a:rPr lang="ru" sz="1050">
                <a:solidFill>
                  <a:srgbClr val="292929"/>
                </a:solidFill>
                <a:highlight>
                  <a:srgbClr val="FFFFFF"/>
                </a:highlight>
                <a:latin typeface="Courier New"/>
                <a:ea typeface="Courier New"/>
                <a:cs typeface="Courier New"/>
                <a:sym typeface="Courier New"/>
              </a:rPr>
              <a:t>():</a:t>
            </a:r>
            <a:endParaRPr sz="1050">
              <a:solidFill>
                <a:srgbClr val="292929"/>
              </a:solidFill>
              <a:highlight>
                <a:srgbClr val="FFFFFF"/>
              </a:highlight>
              <a:latin typeface="Courier New"/>
              <a:ea typeface="Courier New"/>
              <a:cs typeface="Courier New"/>
              <a:sym typeface="Courier New"/>
            </a:endParaRPr>
          </a:p>
          <a:p>
            <a:pPr marL="0" lvl="0" indent="0" algn="l" rtl="0">
              <a:lnSpc>
                <a:spcPct val="135714"/>
              </a:lnSpc>
              <a:spcBef>
                <a:spcPts val="0"/>
              </a:spcBef>
              <a:spcAft>
                <a:spcPts val="0"/>
              </a:spcAft>
              <a:buClr>
                <a:schemeClr val="dk1"/>
              </a:buClr>
              <a:buSzPts val="1100"/>
              <a:buFont typeface="Arial"/>
              <a:buNone/>
            </a:pPr>
            <a:r>
              <a:rPr lang="ru" sz="1050">
                <a:solidFill>
                  <a:srgbClr val="292929"/>
                </a:solidFill>
                <a:highlight>
                  <a:srgbClr val="FFFFFF"/>
                </a:highlight>
                <a:latin typeface="Courier New"/>
                <a:ea typeface="Courier New"/>
                <a:cs typeface="Courier New"/>
                <a:sym typeface="Courier New"/>
              </a:rPr>
              <a:t>    interp.call(func)</a:t>
            </a:r>
            <a:endParaRPr sz="1050">
              <a:solidFill>
                <a:srgbClr val="292929"/>
              </a:solidFill>
              <a:highlight>
                <a:srgbClr val="FFFFFF"/>
              </a:highlight>
              <a:latin typeface="Courier New"/>
              <a:ea typeface="Courier New"/>
              <a:cs typeface="Courier New"/>
              <a:sym typeface="Courier New"/>
            </a:endParaRPr>
          </a:p>
          <a:p>
            <a:pPr marL="0" lvl="0" indent="0" algn="l" rtl="0">
              <a:lnSpc>
                <a:spcPct val="135714"/>
              </a:lnSpc>
              <a:spcBef>
                <a:spcPts val="0"/>
              </a:spcBef>
              <a:spcAft>
                <a:spcPts val="0"/>
              </a:spcAft>
              <a:buClr>
                <a:schemeClr val="dk1"/>
              </a:buClr>
              <a:buSzPts val="1100"/>
              <a:buFont typeface="Arial"/>
              <a:buNone/>
            </a:pPr>
            <a:r>
              <a:rPr lang="ru" sz="1050">
                <a:solidFill>
                  <a:srgbClr val="292929"/>
                </a:solidFill>
                <a:highlight>
                  <a:srgbClr val="FFFFFF"/>
                </a:highlight>
                <a:latin typeface="Courier New"/>
                <a:ea typeface="Courier New"/>
                <a:cs typeface="Courier New"/>
                <a:sym typeface="Courier New"/>
              </a:rPr>
              <a:t>t </a:t>
            </a:r>
            <a:r>
              <a:rPr lang="ru" sz="1050">
                <a:solidFill>
                  <a:schemeClr val="dk1"/>
                </a:solidFill>
                <a:highlight>
                  <a:srgbClr val="FFFFFF"/>
                </a:highlight>
                <a:latin typeface="Courier New"/>
                <a:ea typeface="Courier New"/>
                <a:cs typeface="Courier New"/>
                <a:sym typeface="Courier New"/>
              </a:rPr>
              <a:t>=</a:t>
            </a:r>
            <a:r>
              <a:rPr lang="ru" sz="1050">
                <a:solidFill>
                  <a:srgbClr val="292929"/>
                </a:solidFill>
                <a:highlight>
                  <a:srgbClr val="FFFFFF"/>
                </a:highlight>
                <a:latin typeface="Courier New"/>
                <a:ea typeface="Courier New"/>
                <a:cs typeface="Courier New"/>
                <a:sym typeface="Courier New"/>
              </a:rPr>
              <a:t> threading.Thread(</a:t>
            </a:r>
            <a:r>
              <a:rPr lang="ru" sz="1050">
                <a:solidFill>
                  <a:srgbClr val="001080"/>
                </a:solidFill>
                <a:highlight>
                  <a:srgbClr val="FFFFFF"/>
                </a:highlight>
                <a:latin typeface="Courier New"/>
                <a:ea typeface="Courier New"/>
                <a:cs typeface="Courier New"/>
                <a:sym typeface="Courier New"/>
              </a:rPr>
              <a:t>target</a:t>
            </a:r>
            <a:r>
              <a:rPr lang="ru" sz="1050">
                <a:solidFill>
                  <a:schemeClr val="dk1"/>
                </a:solidFill>
                <a:highlight>
                  <a:srgbClr val="FFFFFF"/>
                </a:highlight>
                <a:latin typeface="Courier New"/>
                <a:ea typeface="Courier New"/>
                <a:cs typeface="Courier New"/>
                <a:sym typeface="Courier New"/>
              </a:rPr>
              <a:t>=</a:t>
            </a:r>
            <a:r>
              <a:rPr lang="ru" sz="1050">
                <a:solidFill>
                  <a:srgbClr val="292929"/>
                </a:solidFill>
                <a:highlight>
                  <a:srgbClr val="FFFFFF"/>
                </a:highlight>
                <a:latin typeface="Courier New"/>
                <a:ea typeface="Courier New"/>
                <a:cs typeface="Courier New"/>
                <a:sym typeface="Courier New"/>
              </a:rPr>
              <a:t>task)</a:t>
            </a:r>
            <a:endParaRPr sz="1050">
              <a:solidFill>
                <a:srgbClr val="292929"/>
              </a:solidFill>
              <a:highlight>
                <a:srgbClr val="FFFFFF"/>
              </a:highlight>
              <a:latin typeface="Courier New"/>
              <a:ea typeface="Courier New"/>
              <a:cs typeface="Courier New"/>
              <a:sym typeface="Courier New"/>
            </a:endParaRPr>
          </a:p>
          <a:p>
            <a:pPr marL="0" lvl="0" indent="0" algn="l" rtl="0">
              <a:lnSpc>
                <a:spcPct val="135714"/>
              </a:lnSpc>
              <a:spcBef>
                <a:spcPts val="0"/>
              </a:spcBef>
              <a:spcAft>
                <a:spcPts val="0"/>
              </a:spcAft>
              <a:buNone/>
            </a:pPr>
            <a:r>
              <a:rPr lang="ru" sz="1050">
                <a:solidFill>
                  <a:srgbClr val="292929"/>
                </a:solidFill>
                <a:highlight>
                  <a:srgbClr val="FFFFFF"/>
                </a:highlight>
                <a:latin typeface="Courier New"/>
                <a:ea typeface="Courier New"/>
                <a:cs typeface="Courier New"/>
                <a:sym typeface="Courier New"/>
              </a:rPr>
              <a:t>t.start()</a:t>
            </a:r>
            <a:endParaRPr sz="1050">
              <a:solidFill>
                <a:srgbClr val="292929"/>
              </a:solidFill>
              <a:highlight>
                <a:srgbClr val="FFFFFF"/>
              </a:highlight>
              <a:latin typeface="Courier New"/>
              <a:ea typeface="Courier New"/>
              <a:cs typeface="Courier New"/>
              <a:sym typeface="Courier New"/>
            </a:endParaRPr>
          </a:p>
        </p:txBody>
      </p:sp>
      <p:sp>
        <p:nvSpPr>
          <p:cNvPr id="108" name="Google Shape;108;p2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ru"/>
              <a:t>9</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2"/>
        <p:cNvGrpSpPr/>
        <p:nvPr/>
      </p:nvGrpSpPr>
      <p:grpSpPr>
        <a:xfrm>
          <a:off x="0" y="0"/>
          <a:ext cx="0" cy="0"/>
          <a:chOff x="0" y="0"/>
          <a:chExt cx="0" cy="0"/>
        </a:xfrm>
      </p:grpSpPr>
      <p:sp>
        <p:nvSpPr>
          <p:cNvPr id="113" name="Google Shape;113;p21"/>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ru" dirty="0"/>
              <a:t>Data transfer between interpreters</a:t>
            </a:r>
            <a:endParaRPr dirty="0"/>
          </a:p>
        </p:txBody>
      </p:sp>
      <p:sp>
        <p:nvSpPr>
          <p:cNvPr id="114" name="Google Shape;114;p21"/>
          <p:cNvSpPr txBox="1">
            <a:spLocks noGrp="1"/>
          </p:cNvSpPr>
          <p:nvPr>
            <p:ph type="body" idx="1"/>
          </p:nvPr>
        </p:nvSpPr>
        <p:spPr>
          <a:xfrm>
            <a:off x="311700" y="1152475"/>
            <a:ext cx="8520600" cy="3769500"/>
          </a:xfrm>
          <a:prstGeom prst="rect">
            <a:avLst/>
          </a:prstGeom>
        </p:spPr>
        <p:txBody>
          <a:bodyPr spcFirstLastPara="1" wrap="square" lIns="91425" tIns="91425" rIns="91425" bIns="91425" anchor="t" anchorCtr="0">
            <a:normAutofit fontScale="92500" lnSpcReduction="20000"/>
          </a:bodyPr>
          <a:lstStyle/>
          <a:p>
            <a:pPr marL="0" lvl="0" indent="0" algn="l" rtl="0">
              <a:spcBef>
                <a:spcPts val="0"/>
              </a:spcBef>
              <a:spcAft>
                <a:spcPts val="0"/>
              </a:spcAft>
              <a:buClr>
                <a:schemeClr val="dk1"/>
              </a:buClr>
              <a:buSzPts val="1100"/>
              <a:buFont typeface="Arial"/>
              <a:buNone/>
            </a:pPr>
            <a:r>
              <a:rPr lang="ru" sz="1500" b="1" dirty="0"/>
              <a:t>concurrent.interpreters.Queue</a:t>
            </a:r>
            <a:r>
              <a:rPr lang="ru" sz="1500" dirty="0"/>
              <a:t> is a wrapper around a low-level, cross-interpreter queue, which implements the </a:t>
            </a:r>
            <a:r>
              <a:rPr lang="ru" sz="1500" b="1" dirty="0"/>
              <a:t>queue.Queue</a:t>
            </a:r>
            <a:r>
              <a:rPr lang="ru" sz="1500" dirty="0"/>
              <a:t> interface. The underlying queue can only be created through </a:t>
            </a:r>
            <a:r>
              <a:rPr lang="ru" sz="1500" b="1" dirty="0"/>
              <a:t>create_queue()</a:t>
            </a:r>
            <a:r>
              <a:rPr lang="ru" sz="1500" dirty="0"/>
              <a:t>.</a:t>
            </a:r>
            <a:endParaRPr sz="1500" dirty="0"/>
          </a:p>
          <a:p>
            <a:pPr marL="0" lvl="0" indent="0">
              <a:spcBef>
                <a:spcPts val="1200"/>
              </a:spcBef>
              <a:buClr>
                <a:schemeClr val="dk1"/>
              </a:buClr>
              <a:buSzPts val="1100"/>
              <a:buNone/>
            </a:pPr>
            <a:r>
              <a:rPr lang="en-US" sz="1500" dirty="0"/>
              <a:t>Most objects are transferred by copy (via </a:t>
            </a:r>
            <a:r>
              <a:rPr lang="en-US" sz="1500" b="1" dirty="0"/>
              <a:t>pickle</a:t>
            </a:r>
            <a:r>
              <a:rPr lang="en-US" sz="1500" dirty="0"/>
              <a:t>)</a:t>
            </a:r>
            <a:r>
              <a:rPr lang="ru" sz="1500" dirty="0"/>
              <a:t>.</a:t>
            </a:r>
            <a:endParaRPr lang="en-US" sz="1500" dirty="0"/>
          </a:p>
          <a:p>
            <a:pPr marL="0" lvl="0" indent="0">
              <a:spcBef>
                <a:spcPts val="1200"/>
              </a:spcBef>
              <a:buClr>
                <a:schemeClr val="dk1"/>
              </a:buClr>
              <a:buSzPts val="1100"/>
              <a:buNone/>
            </a:pPr>
            <a:r>
              <a:rPr lang="en-US" sz="1500" dirty="0"/>
              <a:t>Only a small, explicitly supported set can be shared safely (for example, </a:t>
            </a:r>
            <a:r>
              <a:rPr lang="en-US" sz="1500" b="1" dirty="0"/>
              <a:t>memoryview</a:t>
            </a:r>
            <a:r>
              <a:rPr lang="en-US" sz="1500" dirty="0"/>
              <a:t>, </a:t>
            </a:r>
            <a:r>
              <a:rPr lang="en-US" sz="1500" b="1" dirty="0"/>
              <a:t>Queue</a:t>
            </a:r>
            <a:r>
              <a:rPr lang="en-US" sz="1500" dirty="0"/>
              <a:t>).</a:t>
            </a:r>
          </a:p>
          <a:p>
            <a:pPr marL="0" lvl="0" indent="0">
              <a:spcBef>
                <a:spcPts val="1200"/>
              </a:spcBef>
              <a:buClr>
                <a:schemeClr val="dk1"/>
              </a:buClr>
              <a:buSzPts val="1100"/>
              <a:buNone/>
            </a:pPr>
            <a:r>
              <a:rPr lang="en-US" sz="1500" dirty="0"/>
              <a:t>Immutable built-ins are either directly shared or copied efficiently. </a:t>
            </a:r>
            <a:r>
              <a:rPr lang="ru" sz="1500" dirty="0"/>
              <a:t>For example:</a:t>
            </a:r>
            <a:endParaRPr sz="1500" dirty="0"/>
          </a:p>
          <a:p>
            <a:pPr marL="457200" lvl="0" indent="-330200" algn="l" rtl="0">
              <a:spcBef>
                <a:spcPts val="1200"/>
              </a:spcBef>
              <a:spcAft>
                <a:spcPts val="0"/>
              </a:spcAft>
              <a:buSzPts val="1600"/>
              <a:buChar char="●"/>
            </a:pPr>
            <a:r>
              <a:rPr lang="ru" sz="1600" dirty="0"/>
              <a:t>None</a:t>
            </a:r>
            <a:endParaRPr sz="1600" dirty="0"/>
          </a:p>
          <a:p>
            <a:pPr marL="457200" lvl="0" indent="-330200" algn="l" rtl="0">
              <a:spcBef>
                <a:spcPts val="0"/>
              </a:spcBef>
              <a:spcAft>
                <a:spcPts val="0"/>
              </a:spcAft>
              <a:buSzPts val="1600"/>
              <a:buChar char="●"/>
            </a:pPr>
            <a:r>
              <a:rPr lang="ru" sz="1600" dirty="0"/>
              <a:t>bool (True and False)</a:t>
            </a:r>
            <a:endParaRPr sz="1600" dirty="0"/>
          </a:p>
          <a:p>
            <a:pPr marL="457200" lvl="0" indent="-330200" algn="l" rtl="0">
              <a:spcBef>
                <a:spcPts val="0"/>
              </a:spcBef>
              <a:spcAft>
                <a:spcPts val="0"/>
              </a:spcAft>
              <a:buSzPts val="1600"/>
              <a:buChar char="●"/>
            </a:pPr>
            <a:r>
              <a:rPr lang="ru" sz="1600" dirty="0"/>
              <a:t>bytes</a:t>
            </a:r>
            <a:endParaRPr sz="1600" dirty="0"/>
          </a:p>
          <a:p>
            <a:pPr marL="457200" lvl="0" indent="-330200" algn="l" rtl="0">
              <a:spcBef>
                <a:spcPts val="0"/>
              </a:spcBef>
              <a:spcAft>
                <a:spcPts val="0"/>
              </a:spcAft>
              <a:buSzPts val="1600"/>
              <a:buChar char="●"/>
            </a:pPr>
            <a:r>
              <a:rPr lang="ru" sz="1600" dirty="0"/>
              <a:t>str</a:t>
            </a:r>
            <a:endParaRPr sz="1600" dirty="0"/>
          </a:p>
          <a:p>
            <a:pPr marL="457200" lvl="0" indent="-330200" algn="l" rtl="0">
              <a:spcBef>
                <a:spcPts val="0"/>
              </a:spcBef>
              <a:spcAft>
                <a:spcPts val="0"/>
              </a:spcAft>
              <a:buSzPts val="1600"/>
              <a:buChar char="●"/>
            </a:pPr>
            <a:r>
              <a:rPr lang="ru" sz="1600" dirty="0"/>
              <a:t>int</a:t>
            </a:r>
            <a:endParaRPr sz="1600" dirty="0"/>
          </a:p>
          <a:p>
            <a:pPr marL="457200" lvl="0" indent="-330200" algn="l" rtl="0">
              <a:spcBef>
                <a:spcPts val="0"/>
              </a:spcBef>
              <a:spcAft>
                <a:spcPts val="0"/>
              </a:spcAft>
              <a:buSzPts val="1600"/>
              <a:buChar char="●"/>
            </a:pPr>
            <a:r>
              <a:rPr lang="ru" sz="1600" dirty="0"/>
              <a:t>float</a:t>
            </a:r>
            <a:endParaRPr sz="1600" dirty="0"/>
          </a:p>
          <a:p>
            <a:pPr marL="457200" lvl="0" indent="-330200" algn="l" rtl="0">
              <a:spcBef>
                <a:spcPts val="0"/>
              </a:spcBef>
              <a:spcAft>
                <a:spcPts val="0"/>
              </a:spcAft>
              <a:buSzPts val="1600"/>
              <a:buChar char="●"/>
            </a:pPr>
            <a:r>
              <a:rPr lang="ru" sz="1600" dirty="0"/>
              <a:t>tuple (of similarly supported objects)</a:t>
            </a:r>
            <a:endParaRPr sz="1600" dirty="0"/>
          </a:p>
        </p:txBody>
      </p:sp>
      <p:sp>
        <p:nvSpPr>
          <p:cNvPr id="115" name="Google Shape;115;p2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ru"/>
              <a:t>10</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30">
          <a:extLst>
            <a:ext uri="{FF2B5EF4-FFF2-40B4-BE49-F238E27FC236}">
              <a16:creationId xmlns:a16="http://schemas.microsoft.com/office/drawing/2014/main" id="{159FC885-2522-6111-479B-F13F1FD4C7D1}"/>
            </a:ext>
          </a:extLst>
        </p:cNvPr>
        <p:cNvGrpSpPr/>
        <p:nvPr/>
      </p:nvGrpSpPr>
      <p:grpSpPr>
        <a:xfrm>
          <a:off x="0" y="0"/>
          <a:ext cx="0" cy="0"/>
          <a:chOff x="0" y="0"/>
          <a:chExt cx="0" cy="0"/>
        </a:xfrm>
      </p:grpSpPr>
      <p:sp>
        <p:nvSpPr>
          <p:cNvPr id="131" name="Google Shape;131;p23">
            <a:extLst>
              <a:ext uri="{FF2B5EF4-FFF2-40B4-BE49-F238E27FC236}">
                <a16:creationId xmlns:a16="http://schemas.microsoft.com/office/drawing/2014/main" id="{E45A6169-8363-4374-817A-243BBB1D1376}"/>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lvl="0">
              <a:buSzPct val="39285"/>
            </a:pPr>
            <a:r>
              <a:rPr lang="en-US" dirty="0"/>
              <a:t>Shareable and non-shareable objects in subinterpreters</a:t>
            </a:r>
            <a:endParaRPr dirty="0"/>
          </a:p>
        </p:txBody>
      </p:sp>
      <p:sp>
        <p:nvSpPr>
          <p:cNvPr id="132" name="Google Shape;132;p23">
            <a:extLst>
              <a:ext uri="{FF2B5EF4-FFF2-40B4-BE49-F238E27FC236}">
                <a16:creationId xmlns:a16="http://schemas.microsoft.com/office/drawing/2014/main" id="{9128CBCA-DB31-8511-B06F-61643D2C0EFB}"/>
              </a:ext>
            </a:extLst>
          </p:cNvPr>
          <p:cNvSpPr txBox="1">
            <a:spLocks noGrp="1"/>
          </p:cNvSpPr>
          <p:nvPr>
            <p:ph type="body" idx="1"/>
          </p:nvPr>
        </p:nvSpPr>
        <p:spPr>
          <a:xfrm>
            <a:off x="697955" y="3708524"/>
            <a:ext cx="3256624" cy="1104780"/>
          </a:xfrm>
          <a:prstGeom prst="rect">
            <a:avLst/>
          </a:prstGeom>
          <a:ln>
            <a:solidFill>
              <a:schemeClr val="tx1"/>
            </a:solidFill>
          </a:ln>
        </p:spPr>
        <p:txBody>
          <a:bodyPr spcFirstLastPara="1" wrap="square" lIns="91425" tIns="91425" rIns="91425" bIns="91425" anchor="t" anchorCtr="0">
            <a:normAutofit/>
          </a:bodyPr>
          <a:lstStyle/>
          <a:p>
            <a:pPr>
              <a:lnSpc>
                <a:spcPts val="1425"/>
              </a:lnSpc>
              <a:buNone/>
            </a:pPr>
            <a:r>
              <a:rPr lang="en-US" sz="800" b="0" dirty="0">
                <a:solidFill>
                  <a:srgbClr val="515151"/>
                </a:solidFill>
                <a:effectLst/>
                <a:latin typeface="Consolas" panose="020B0609020204030204" pitchFamily="49" charset="0"/>
              </a:rPr>
              <a:t>Test 2.1: non-shareable list (mutable object)</a:t>
            </a:r>
          </a:p>
          <a:p>
            <a:pPr>
              <a:lnSpc>
                <a:spcPts val="1425"/>
              </a:lnSpc>
              <a:buNone/>
            </a:pPr>
            <a:r>
              <a:rPr lang="en-US" sz="800" b="0" dirty="0">
                <a:solidFill>
                  <a:srgbClr val="515151"/>
                </a:solidFill>
                <a:effectLst/>
                <a:latin typeface="Consolas" panose="020B0609020204030204" pitchFamily="49" charset="0"/>
              </a:rPr>
              <a:t>main_interp: [1, 2, 3, 4]</a:t>
            </a:r>
          </a:p>
          <a:p>
            <a:pPr>
              <a:lnSpc>
                <a:spcPts val="1425"/>
              </a:lnSpc>
              <a:buNone/>
            </a:pPr>
            <a:r>
              <a:rPr lang="en-US" sz="800" b="0" dirty="0">
                <a:solidFill>
                  <a:srgbClr val="515151"/>
                </a:solidFill>
                <a:effectLst/>
                <a:latin typeface="Consolas" panose="020B0609020204030204" pitchFamily="49" charset="0"/>
              </a:rPr>
              <a:t>subinterp: [1, 2, 3, 4, 5]</a:t>
            </a:r>
          </a:p>
          <a:p>
            <a:pPr>
              <a:lnSpc>
                <a:spcPts val="1425"/>
              </a:lnSpc>
              <a:buNone/>
            </a:pPr>
            <a:r>
              <a:rPr lang="en-US" sz="800" b="0" dirty="0">
                <a:solidFill>
                  <a:srgbClr val="515151"/>
                </a:solidFill>
                <a:effectLst/>
                <a:latin typeface="Consolas" panose="020B0609020204030204" pitchFamily="49" charset="0"/>
              </a:rPr>
              <a:t>main_interp: [1, 2, 3, 4, 10]</a:t>
            </a:r>
          </a:p>
          <a:p>
            <a:pPr>
              <a:lnSpc>
                <a:spcPts val="1425"/>
              </a:lnSpc>
              <a:buNone/>
            </a:pPr>
            <a:r>
              <a:rPr lang="en-US" sz="800" b="0" dirty="0">
                <a:solidFill>
                  <a:srgbClr val="515151"/>
                </a:solidFill>
                <a:effectLst/>
                <a:latin typeface="Consolas" panose="020B0609020204030204" pitchFamily="49" charset="0"/>
              </a:rPr>
              <a:t>subinterp: [1, 2, 3, 4, 5]</a:t>
            </a:r>
            <a:endParaRPr sz="750" dirty="0"/>
          </a:p>
        </p:txBody>
      </p:sp>
      <p:sp>
        <p:nvSpPr>
          <p:cNvPr id="139" name="Google Shape;139;p23">
            <a:extLst>
              <a:ext uri="{FF2B5EF4-FFF2-40B4-BE49-F238E27FC236}">
                <a16:creationId xmlns:a16="http://schemas.microsoft.com/office/drawing/2014/main" id="{A3FCE94B-0DFC-D120-00B7-3F43897272DA}"/>
              </a:ext>
            </a:extLst>
          </p:cNvPr>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ru"/>
              <a:t>11</a:t>
            </a:fld>
            <a:endParaRPr/>
          </a:p>
        </p:txBody>
      </p:sp>
      <p:sp>
        <p:nvSpPr>
          <p:cNvPr id="8" name="Google Shape;132;p23">
            <a:extLst>
              <a:ext uri="{FF2B5EF4-FFF2-40B4-BE49-F238E27FC236}">
                <a16:creationId xmlns:a16="http://schemas.microsoft.com/office/drawing/2014/main" id="{4AAD0C81-E952-0CF5-C8C8-B7F819595325}"/>
              </a:ext>
            </a:extLst>
          </p:cNvPr>
          <p:cNvSpPr txBox="1">
            <a:spLocks/>
          </p:cNvSpPr>
          <p:nvPr/>
        </p:nvSpPr>
        <p:spPr>
          <a:xfrm>
            <a:off x="4191060" y="3708524"/>
            <a:ext cx="3674551" cy="1104466"/>
          </a:xfrm>
          <a:prstGeom prst="rect">
            <a:avLst/>
          </a:prstGeom>
          <a:noFill/>
          <a:ln>
            <a:solidFill>
              <a:schemeClr val="tx1"/>
            </a:solidFill>
          </a:ln>
        </p:spPr>
        <p:txBody>
          <a:bodyPr spcFirstLastPara="1" wrap="square" lIns="91425" tIns="91425" rIns="91425" bIns="91425" anchor="t" anchorCtr="0">
            <a:normAutofit/>
          </a:bodyPr>
          <a:lstStyle>
            <a:defPPr marR="0" lvl="0" algn="l" rtl="0">
              <a:lnSpc>
                <a:spcPct val="100000"/>
              </a:lnSpc>
              <a:spcBef>
                <a:spcPts val="0"/>
              </a:spcBef>
              <a:spcAft>
                <a:spcPts val="0"/>
              </a:spcAft>
            </a:defPPr>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pPr>
              <a:lnSpc>
                <a:spcPts val="1425"/>
              </a:lnSpc>
              <a:buFont typeface="Arial"/>
              <a:buNone/>
            </a:pPr>
            <a:r>
              <a:rPr lang="en-US" sz="800" dirty="0">
                <a:solidFill>
                  <a:srgbClr val="515151"/>
                </a:solidFill>
                <a:latin typeface="Consolas" panose="020B0609020204030204" pitchFamily="49" charset="0"/>
              </a:rPr>
              <a:t>Test 2.2: shareable memoryview</a:t>
            </a:r>
          </a:p>
          <a:p>
            <a:pPr>
              <a:lnSpc>
                <a:spcPts val="1425"/>
              </a:lnSpc>
              <a:buFont typeface="Arial"/>
              <a:buNone/>
            </a:pPr>
            <a:r>
              <a:rPr lang="en-US" sz="800" dirty="0">
                <a:solidFill>
                  <a:srgbClr val="515151"/>
                </a:solidFill>
                <a:latin typeface="Consolas" panose="020B0609020204030204" pitchFamily="49" charset="0"/>
              </a:rPr>
              <a:t>main_interp: 113 q</a:t>
            </a:r>
          </a:p>
          <a:p>
            <a:pPr>
              <a:lnSpc>
                <a:spcPts val="1425"/>
              </a:lnSpc>
              <a:buFont typeface="Arial"/>
              <a:buNone/>
            </a:pPr>
            <a:r>
              <a:rPr lang="en-US" sz="800" dirty="0">
                <a:solidFill>
                  <a:srgbClr val="515151"/>
                </a:solidFill>
                <a:latin typeface="Consolas" panose="020B0609020204030204" pitchFamily="49" charset="0"/>
              </a:rPr>
              <a:t>main_interp: 65 A</a:t>
            </a:r>
          </a:p>
          <a:p>
            <a:pPr>
              <a:lnSpc>
                <a:spcPts val="1425"/>
              </a:lnSpc>
              <a:buFont typeface="Arial"/>
              <a:buNone/>
            </a:pPr>
            <a:r>
              <a:rPr lang="en-US" sz="800" dirty="0">
                <a:solidFill>
                  <a:srgbClr val="515151"/>
                </a:solidFill>
                <a:latin typeface="Consolas" panose="020B0609020204030204" pitchFamily="49" charset="0"/>
              </a:rPr>
              <a:t>subinterp: 65 A</a:t>
            </a:r>
            <a:endParaRPr lang="en-US" sz="750" dirty="0"/>
          </a:p>
        </p:txBody>
      </p:sp>
      <p:pic>
        <p:nvPicPr>
          <p:cNvPr id="13" name="Рисунок 12">
            <a:extLst>
              <a:ext uri="{FF2B5EF4-FFF2-40B4-BE49-F238E27FC236}">
                <a16:creationId xmlns:a16="http://schemas.microsoft.com/office/drawing/2014/main" id="{5174193E-00AC-A80E-9015-9427E3EBCE9F}"/>
              </a:ext>
            </a:extLst>
          </p:cNvPr>
          <p:cNvPicPr>
            <a:picLocks noChangeAspect="1"/>
          </p:cNvPicPr>
          <p:nvPr/>
        </p:nvPicPr>
        <p:blipFill>
          <a:blip r:embed="rId3"/>
          <a:srcRect/>
          <a:stretch/>
        </p:blipFill>
        <p:spPr>
          <a:xfrm>
            <a:off x="697954" y="1213249"/>
            <a:ext cx="3256624" cy="2341363"/>
          </a:xfrm>
          <a:prstGeom prst="rect">
            <a:avLst/>
          </a:prstGeom>
          <a:ln>
            <a:solidFill>
              <a:schemeClr val="tx1"/>
            </a:solidFill>
          </a:ln>
        </p:spPr>
      </p:pic>
      <p:pic>
        <p:nvPicPr>
          <p:cNvPr id="19" name="Рисунок 18">
            <a:extLst>
              <a:ext uri="{FF2B5EF4-FFF2-40B4-BE49-F238E27FC236}">
                <a16:creationId xmlns:a16="http://schemas.microsoft.com/office/drawing/2014/main" id="{587E5487-D4F5-5BA6-C74B-48E91155035C}"/>
              </a:ext>
            </a:extLst>
          </p:cNvPr>
          <p:cNvPicPr>
            <a:picLocks noChangeAspect="1"/>
          </p:cNvPicPr>
          <p:nvPr/>
        </p:nvPicPr>
        <p:blipFill>
          <a:blip r:embed="rId4"/>
          <a:srcRect/>
          <a:stretch/>
        </p:blipFill>
        <p:spPr>
          <a:xfrm>
            <a:off x="4191061" y="1213249"/>
            <a:ext cx="3674551" cy="2341364"/>
          </a:xfrm>
          <a:prstGeom prst="rect">
            <a:avLst/>
          </a:prstGeom>
          <a:ln>
            <a:solidFill>
              <a:schemeClr val="tx1"/>
            </a:solidFill>
          </a:ln>
        </p:spPr>
      </p:pic>
    </p:spTree>
    <p:extLst>
      <p:ext uri="{BB962C8B-B14F-4D97-AF65-F5344CB8AC3E}">
        <p14:creationId xmlns:p14="http://schemas.microsoft.com/office/powerpoint/2010/main" val="13384384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9"/>
        <p:cNvGrpSpPr/>
        <p:nvPr/>
      </p:nvGrpSpPr>
      <p:grpSpPr>
        <a:xfrm>
          <a:off x="0" y="0"/>
          <a:ext cx="0" cy="0"/>
          <a:chOff x="0" y="0"/>
          <a:chExt cx="0" cy="0"/>
        </a:xfrm>
      </p:grpSpPr>
      <p:sp>
        <p:nvSpPr>
          <p:cNvPr id="120" name="Google Shape;120;p22"/>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lvl="0"/>
            <a:r>
              <a:rPr lang="ru" dirty="0"/>
              <a:t>Alternatives </a:t>
            </a:r>
            <a:r>
              <a:rPr lang="en-US" dirty="0"/>
              <a:t>for parallelism</a:t>
            </a:r>
            <a:endParaRPr dirty="0"/>
          </a:p>
        </p:txBody>
      </p:sp>
      <p:sp>
        <p:nvSpPr>
          <p:cNvPr id="121" name="Google Shape;121;p22"/>
          <p:cNvSpPr txBox="1">
            <a:spLocks noGrp="1"/>
          </p:cNvSpPr>
          <p:nvPr>
            <p:ph type="body" idx="1"/>
          </p:nvPr>
        </p:nvSpPr>
        <p:spPr>
          <a:xfrm>
            <a:off x="3388200" y="1152475"/>
            <a:ext cx="2367600" cy="3416400"/>
          </a:xfrm>
          <a:prstGeom prst="rect">
            <a:avLst/>
          </a:prstGeom>
          <a:ln w="9525" cap="flat" cmpd="sng">
            <a:solidFill>
              <a:schemeClr val="dk1"/>
            </a:solidFill>
            <a:prstDash val="solid"/>
            <a:round/>
            <a:headEnd type="none" w="sm" len="sm"/>
            <a:tailEnd type="none" w="sm" len="sm"/>
          </a:ln>
        </p:spPr>
        <p:txBody>
          <a:bodyPr spcFirstLastPara="1" wrap="square" lIns="91425" tIns="91425" rIns="91425" bIns="91425" anchor="t" anchorCtr="0">
            <a:normAutofit/>
          </a:bodyPr>
          <a:lstStyle/>
          <a:p>
            <a:pPr marL="0" lvl="0" indent="0" algn="l" rtl="0">
              <a:spcBef>
                <a:spcPts val="0"/>
              </a:spcBef>
              <a:spcAft>
                <a:spcPts val="0"/>
              </a:spcAft>
              <a:buNone/>
            </a:pPr>
            <a:r>
              <a:rPr lang="ru" sz="2200" dirty="0"/>
              <a:t>noGIL</a:t>
            </a:r>
            <a:endParaRPr sz="2200" dirty="0"/>
          </a:p>
          <a:p>
            <a:pPr marL="457200" lvl="0" indent="-336550" algn="l" rtl="0">
              <a:spcBef>
                <a:spcPts val="1200"/>
              </a:spcBef>
              <a:spcAft>
                <a:spcPts val="0"/>
              </a:spcAft>
              <a:buSzPts val="1700"/>
              <a:buChar char="●"/>
            </a:pPr>
            <a:r>
              <a:rPr lang="en-US" sz="1700" dirty="0"/>
              <a:t>One process, s</a:t>
            </a:r>
            <a:r>
              <a:rPr lang="ru" sz="1700" dirty="0"/>
              <a:t>ingle interpreter</a:t>
            </a:r>
            <a:endParaRPr sz="1700" dirty="0"/>
          </a:p>
          <a:p>
            <a:pPr marL="457200" lvl="0" indent="-336550" algn="l" rtl="0">
              <a:spcBef>
                <a:spcPts val="0"/>
              </a:spcBef>
              <a:spcAft>
                <a:spcPts val="0"/>
              </a:spcAft>
              <a:buSzPts val="1700"/>
              <a:buChar char="●"/>
            </a:pPr>
            <a:r>
              <a:rPr lang="ru" sz="1700" dirty="0"/>
              <a:t>True shared-memory threading</a:t>
            </a:r>
            <a:endParaRPr sz="1700" dirty="0"/>
          </a:p>
          <a:p>
            <a:pPr marL="457200" lvl="0" indent="-336550" algn="l" rtl="0">
              <a:spcBef>
                <a:spcPts val="0"/>
              </a:spcBef>
              <a:spcAft>
                <a:spcPts val="0"/>
              </a:spcAft>
              <a:buSzPts val="1700"/>
              <a:buChar char="●"/>
            </a:pPr>
            <a:r>
              <a:rPr lang="ru" sz="1700" dirty="0"/>
              <a:t>No GIL; atomics and explicit locking</a:t>
            </a:r>
            <a:endParaRPr sz="1700" dirty="0"/>
          </a:p>
        </p:txBody>
      </p:sp>
      <p:sp>
        <p:nvSpPr>
          <p:cNvPr id="122" name="Google Shape;122;p22"/>
          <p:cNvSpPr txBox="1">
            <a:spLocks noGrp="1"/>
          </p:cNvSpPr>
          <p:nvPr>
            <p:ph type="body" idx="1"/>
          </p:nvPr>
        </p:nvSpPr>
        <p:spPr>
          <a:xfrm>
            <a:off x="419975" y="1152475"/>
            <a:ext cx="2367600" cy="3416400"/>
          </a:xfrm>
          <a:prstGeom prst="rect">
            <a:avLst/>
          </a:prstGeom>
          <a:ln w="9525" cap="flat" cmpd="sng">
            <a:solidFill>
              <a:schemeClr val="dk1"/>
            </a:solidFill>
            <a:prstDash val="solid"/>
            <a:round/>
            <a:headEnd type="none" w="sm" len="sm"/>
            <a:tailEnd type="none" w="sm" len="sm"/>
          </a:ln>
        </p:spPr>
        <p:txBody>
          <a:bodyPr spcFirstLastPara="1" wrap="square" lIns="91425" tIns="91425" rIns="91425" bIns="91425" anchor="t" anchorCtr="0">
            <a:normAutofit/>
          </a:bodyPr>
          <a:lstStyle/>
          <a:p>
            <a:pPr marL="0" lvl="0" indent="0" algn="l" rtl="0">
              <a:spcBef>
                <a:spcPts val="0"/>
              </a:spcBef>
              <a:spcAft>
                <a:spcPts val="0"/>
              </a:spcAft>
              <a:buNone/>
            </a:pPr>
            <a:r>
              <a:rPr lang="ru" sz="2200" dirty="0"/>
              <a:t>Subinterpreters</a:t>
            </a:r>
            <a:endParaRPr sz="2200" dirty="0"/>
          </a:p>
          <a:p>
            <a:pPr marL="457200" lvl="0" indent="-336550" algn="l" rtl="0">
              <a:spcBef>
                <a:spcPts val="1200"/>
              </a:spcBef>
              <a:spcAft>
                <a:spcPts val="0"/>
              </a:spcAft>
              <a:buSzPts val="1700"/>
              <a:buChar char="●"/>
            </a:pPr>
            <a:r>
              <a:rPr lang="ru" sz="1700" dirty="0"/>
              <a:t>One process, multiple interpreters</a:t>
            </a:r>
            <a:endParaRPr sz="1700" dirty="0"/>
          </a:p>
          <a:p>
            <a:pPr marL="457200" lvl="0" indent="-336550" algn="l" rtl="0">
              <a:spcBef>
                <a:spcPts val="0"/>
              </a:spcBef>
              <a:spcAft>
                <a:spcPts val="0"/>
              </a:spcAft>
              <a:buSzPts val="1700"/>
              <a:buChar char="●"/>
            </a:pPr>
            <a:r>
              <a:rPr lang="ru" sz="1700" dirty="0"/>
              <a:t>Separate GIL per interpreter</a:t>
            </a:r>
            <a:endParaRPr sz="1700" dirty="0"/>
          </a:p>
          <a:p>
            <a:pPr marL="457200" lvl="0" indent="-336550" algn="l" rtl="0">
              <a:spcBef>
                <a:spcPts val="0"/>
              </a:spcBef>
              <a:spcAft>
                <a:spcPts val="0"/>
              </a:spcAft>
              <a:buSzPts val="1700"/>
              <a:buChar char="●"/>
            </a:pPr>
            <a:r>
              <a:rPr lang="en-US" sz="1700" dirty="0"/>
              <a:t>Isolate Python objects by design</a:t>
            </a:r>
            <a:endParaRPr sz="1700" dirty="0"/>
          </a:p>
        </p:txBody>
      </p:sp>
      <p:sp>
        <p:nvSpPr>
          <p:cNvPr id="123" name="Google Shape;123;p22"/>
          <p:cNvSpPr txBox="1">
            <a:spLocks noGrp="1"/>
          </p:cNvSpPr>
          <p:nvPr>
            <p:ph type="body" idx="1"/>
          </p:nvPr>
        </p:nvSpPr>
        <p:spPr>
          <a:xfrm>
            <a:off x="6356425" y="1152475"/>
            <a:ext cx="2367600" cy="3416400"/>
          </a:xfrm>
          <a:prstGeom prst="rect">
            <a:avLst/>
          </a:prstGeom>
          <a:ln w="9525" cap="flat" cmpd="sng">
            <a:solidFill>
              <a:schemeClr val="dk1"/>
            </a:solidFill>
            <a:prstDash val="solid"/>
            <a:round/>
            <a:headEnd type="none" w="sm" len="sm"/>
            <a:tailEnd type="none" w="sm" len="sm"/>
          </a:ln>
        </p:spPr>
        <p:txBody>
          <a:bodyPr spcFirstLastPara="1" wrap="square" lIns="91425" tIns="91425" rIns="91425" bIns="91425" anchor="t" anchorCtr="0">
            <a:normAutofit/>
          </a:bodyPr>
          <a:lstStyle/>
          <a:p>
            <a:pPr marL="0" lvl="0" indent="0" algn="l" rtl="0">
              <a:spcBef>
                <a:spcPts val="0"/>
              </a:spcBef>
              <a:spcAft>
                <a:spcPts val="0"/>
              </a:spcAft>
              <a:buNone/>
            </a:pPr>
            <a:r>
              <a:rPr lang="ru" sz="2200"/>
              <a:t>Multiprocessing</a:t>
            </a:r>
            <a:endParaRPr sz="1700"/>
          </a:p>
          <a:p>
            <a:pPr marL="457200" lvl="0" indent="-336550" algn="l" rtl="0">
              <a:spcBef>
                <a:spcPts val="1200"/>
              </a:spcBef>
              <a:spcAft>
                <a:spcPts val="0"/>
              </a:spcAft>
              <a:buSzPts val="1700"/>
              <a:buChar char="●"/>
            </a:pPr>
            <a:r>
              <a:rPr lang="ru" sz="1700"/>
              <a:t>Multiple OS processes</a:t>
            </a:r>
            <a:endParaRPr sz="1700"/>
          </a:p>
          <a:p>
            <a:pPr marL="457200" lvl="0" indent="-336550" algn="l" rtl="0">
              <a:spcBef>
                <a:spcPts val="0"/>
              </a:spcBef>
              <a:spcAft>
                <a:spcPts val="0"/>
              </a:spcAft>
              <a:buSzPts val="1700"/>
              <a:buChar char="●"/>
            </a:pPr>
            <a:r>
              <a:rPr lang="ru" sz="1700"/>
              <a:t>Full memory isolation</a:t>
            </a:r>
            <a:endParaRPr sz="1700"/>
          </a:p>
          <a:p>
            <a:pPr marL="457200" lvl="0" indent="-336550" algn="l" rtl="0">
              <a:spcBef>
                <a:spcPts val="0"/>
              </a:spcBef>
              <a:spcAft>
                <a:spcPts val="0"/>
              </a:spcAft>
              <a:buSzPts val="1700"/>
              <a:buChar char="●"/>
            </a:pPr>
            <a:r>
              <a:rPr lang="ru" sz="1700"/>
              <a:t>Serialization required</a:t>
            </a:r>
            <a:endParaRPr sz="1700"/>
          </a:p>
        </p:txBody>
      </p:sp>
      <p:sp>
        <p:nvSpPr>
          <p:cNvPr id="124" name="Google Shape;124;p22"/>
          <p:cNvSpPr txBox="1">
            <a:spLocks noGrp="1"/>
          </p:cNvSpPr>
          <p:nvPr>
            <p:ph type="body" idx="1"/>
          </p:nvPr>
        </p:nvSpPr>
        <p:spPr>
          <a:xfrm>
            <a:off x="2873238" y="2636575"/>
            <a:ext cx="429300" cy="448200"/>
          </a:xfrm>
          <a:prstGeom prst="rect">
            <a:avLst/>
          </a:prstGeom>
          <a:ln>
            <a:noFill/>
          </a:ln>
        </p:spPr>
        <p:txBody>
          <a:bodyPr spcFirstLastPara="1" wrap="square" lIns="91425" tIns="91425" rIns="91425" bIns="91425" anchor="t" anchorCtr="0">
            <a:noAutofit/>
          </a:bodyPr>
          <a:lstStyle/>
          <a:p>
            <a:pPr marL="0" lvl="0" indent="0" algn="l" rtl="0">
              <a:spcBef>
                <a:spcPts val="0"/>
              </a:spcBef>
              <a:spcAft>
                <a:spcPts val="1200"/>
              </a:spcAft>
              <a:buNone/>
            </a:pPr>
            <a:r>
              <a:rPr lang="ru" sz="1700" dirty="0"/>
              <a:t>vs</a:t>
            </a:r>
            <a:endParaRPr sz="1700" dirty="0"/>
          </a:p>
        </p:txBody>
      </p:sp>
      <p:sp>
        <p:nvSpPr>
          <p:cNvPr id="125" name="Google Shape;125;p22"/>
          <p:cNvSpPr txBox="1">
            <a:spLocks noGrp="1"/>
          </p:cNvSpPr>
          <p:nvPr>
            <p:ph type="body" idx="1"/>
          </p:nvPr>
        </p:nvSpPr>
        <p:spPr>
          <a:xfrm>
            <a:off x="5841450" y="2636575"/>
            <a:ext cx="429300" cy="448200"/>
          </a:xfrm>
          <a:prstGeom prst="rect">
            <a:avLst/>
          </a:prstGeom>
          <a:ln>
            <a:noFill/>
          </a:ln>
        </p:spPr>
        <p:txBody>
          <a:bodyPr spcFirstLastPara="1" wrap="square" lIns="91425" tIns="91425" rIns="91425" bIns="91425" anchor="t" anchorCtr="0">
            <a:noAutofit/>
          </a:bodyPr>
          <a:lstStyle/>
          <a:p>
            <a:pPr marL="0" lvl="0" indent="0" algn="l" rtl="0">
              <a:spcBef>
                <a:spcPts val="0"/>
              </a:spcBef>
              <a:spcAft>
                <a:spcPts val="1200"/>
              </a:spcAft>
              <a:buNone/>
            </a:pPr>
            <a:r>
              <a:rPr lang="ru" sz="1700" dirty="0"/>
              <a:t>vs</a:t>
            </a:r>
            <a:endParaRPr sz="1700" dirty="0"/>
          </a:p>
        </p:txBody>
      </p:sp>
      <p:sp>
        <p:nvSpPr>
          <p:cNvPr id="126" name="Google Shape;126;p2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ru"/>
              <a:t>12</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30"/>
        <p:cNvGrpSpPr/>
        <p:nvPr/>
      </p:nvGrpSpPr>
      <p:grpSpPr>
        <a:xfrm>
          <a:off x="0" y="0"/>
          <a:ext cx="0" cy="0"/>
          <a:chOff x="0" y="0"/>
          <a:chExt cx="0" cy="0"/>
        </a:xfrm>
      </p:grpSpPr>
      <p:sp>
        <p:nvSpPr>
          <p:cNvPr id="131" name="Google Shape;131;p23"/>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Clr>
                <a:schemeClr val="dk1"/>
              </a:buClr>
              <a:buSzPct val="39285"/>
              <a:buFont typeface="Arial"/>
              <a:buNone/>
            </a:pPr>
            <a:r>
              <a:rPr lang="ru"/>
              <a:t>Start-Stop Time Test</a:t>
            </a:r>
            <a:endParaRPr/>
          </a:p>
        </p:txBody>
      </p:sp>
      <p:sp>
        <p:nvSpPr>
          <p:cNvPr id="132" name="Google Shape;132;p23"/>
          <p:cNvSpPr txBox="1">
            <a:spLocks noGrp="1"/>
          </p:cNvSpPr>
          <p:nvPr>
            <p:ph type="body" idx="1"/>
          </p:nvPr>
        </p:nvSpPr>
        <p:spPr>
          <a:xfrm>
            <a:off x="311700" y="3366375"/>
            <a:ext cx="6161100" cy="1117200"/>
          </a:xfrm>
          <a:prstGeom prst="rect">
            <a:avLst/>
          </a:prstGeom>
        </p:spPr>
        <p:txBody>
          <a:bodyPr spcFirstLastPara="1" wrap="square" lIns="91425" tIns="91425" rIns="91425" bIns="91425" anchor="t" anchorCtr="0">
            <a:normAutofit fontScale="92500" lnSpcReduction="20000"/>
          </a:bodyPr>
          <a:lstStyle/>
          <a:p>
            <a:pPr marL="0" lvl="0" indent="0" algn="l" rtl="0">
              <a:spcBef>
                <a:spcPts val="0"/>
              </a:spcBef>
              <a:spcAft>
                <a:spcPts val="1200"/>
              </a:spcAft>
              <a:buNone/>
            </a:pPr>
            <a:r>
              <a:rPr lang="ru" dirty="0"/>
              <a:t>This test checks the time it takes for the program to create a new subinterpreter/thread/process, execute an empty function on it, and then delete it.</a:t>
            </a:r>
            <a:endParaRPr dirty="0"/>
          </a:p>
        </p:txBody>
      </p:sp>
      <p:sp>
        <p:nvSpPr>
          <p:cNvPr id="133" name="Google Shape;133;p23"/>
          <p:cNvSpPr txBox="1">
            <a:spLocks noGrp="1"/>
          </p:cNvSpPr>
          <p:nvPr>
            <p:ph type="body" idx="1"/>
          </p:nvPr>
        </p:nvSpPr>
        <p:spPr>
          <a:xfrm>
            <a:off x="3302550" y="1152475"/>
            <a:ext cx="2698200" cy="1640700"/>
          </a:xfrm>
          <a:prstGeom prst="rect">
            <a:avLst/>
          </a:prstGeom>
          <a:ln w="9525" cap="flat" cmpd="sng">
            <a:solidFill>
              <a:schemeClr val="dk1"/>
            </a:solidFill>
            <a:prstDash val="solid"/>
            <a:round/>
            <a:headEnd type="none" w="sm" len="sm"/>
            <a:tailEnd type="none" w="sm" len="sm"/>
          </a:ln>
        </p:spPr>
        <p:txBody>
          <a:bodyPr spcFirstLastPara="1" wrap="square" lIns="91425" tIns="91425" rIns="91425" bIns="91425" anchor="t" anchorCtr="0">
            <a:normAutofit/>
          </a:bodyPr>
          <a:lstStyle/>
          <a:p>
            <a:pPr marL="0" lvl="0" indent="0" algn="l" rtl="0">
              <a:spcBef>
                <a:spcPts val="0"/>
              </a:spcBef>
              <a:spcAft>
                <a:spcPts val="0"/>
              </a:spcAft>
              <a:buNone/>
            </a:pPr>
            <a:r>
              <a:rPr lang="ru"/>
              <a:t>Threading with GIL and noGIL:</a:t>
            </a:r>
            <a:endParaRPr/>
          </a:p>
          <a:p>
            <a:pPr marL="0" lvl="0" indent="0" algn="l" rtl="0">
              <a:lnSpc>
                <a:spcPct val="135714"/>
              </a:lnSpc>
              <a:spcBef>
                <a:spcPts val="1200"/>
              </a:spcBef>
              <a:spcAft>
                <a:spcPts val="0"/>
              </a:spcAft>
              <a:buClr>
                <a:schemeClr val="dk1"/>
              </a:buClr>
              <a:buSzPts val="1100"/>
              <a:buFont typeface="Arial"/>
              <a:buNone/>
            </a:pPr>
            <a:r>
              <a:rPr lang="ru" sz="750">
                <a:solidFill>
                  <a:srgbClr val="0F4A85"/>
                </a:solidFill>
                <a:highlight>
                  <a:srgbClr val="FFFFFF"/>
                </a:highlight>
                <a:latin typeface="Courier New"/>
                <a:ea typeface="Courier New"/>
                <a:cs typeface="Courier New"/>
                <a:sym typeface="Courier New"/>
              </a:rPr>
              <a:t>def</a:t>
            </a:r>
            <a:r>
              <a:rPr lang="ru" sz="750">
                <a:solidFill>
                  <a:srgbClr val="292929"/>
                </a:solidFill>
                <a:highlight>
                  <a:srgbClr val="FFFFFF"/>
                </a:highlight>
                <a:latin typeface="Courier New"/>
                <a:ea typeface="Courier New"/>
                <a:cs typeface="Courier New"/>
                <a:sym typeface="Courier New"/>
              </a:rPr>
              <a:t> </a:t>
            </a:r>
            <a:r>
              <a:rPr lang="ru" sz="750">
                <a:solidFill>
                  <a:srgbClr val="5E2CBC"/>
                </a:solidFill>
                <a:highlight>
                  <a:srgbClr val="FFFFFF"/>
                </a:highlight>
                <a:latin typeface="Courier New"/>
                <a:ea typeface="Courier New"/>
                <a:cs typeface="Courier New"/>
                <a:sym typeface="Courier New"/>
              </a:rPr>
              <a:t>bench_thread</a:t>
            </a:r>
            <a:r>
              <a:rPr lang="ru" sz="750">
                <a:solidFill>
                  <a:srgbClr val="292929"/>
                </a:solidFill>
                <a:highlight>
                  <a:srgbClr val="FFFFFF"/>
                </a:highlight>
                <a:latin typeface="Courier New"/>
                <a:ea typeface="Courier New"/>
                <a:cs typeface="Courier New"/>
                <a:sym typeface="Courier New"/>
              </a:rPr>
              <a:t>() -&gt; </a:t>
            </a:r>
            <a:r>
              <a:rPr lang="ru" sz="750">
                <a:solidFill>
                  <a:srgbClr val="0F4A85"/>
                </a:solidFill>
                <a:highlight>
                  <a:srgbClr val="FFFFFF"/>
                </a:highlight>
                <a:latin typeface="Courier New"/>
                <a:ea typeface="Courier New"/>
                <a:cs typeface="Courier New"/>
                <a:sym typeface="Courier New"/>
              </a:rPr>
              <a:t>None</a:t>
            </a:r>
            <a:r>
              <a:rPr lang="ru" sz="750">
                <a:solidFill>
                  <a:srgbClr val="292929"/>
                </a:solidFill>
                <a:highlight>
                  <a:srgbClr val="FFFFFF"/>
                </a:highlight>
                <a:latin typeface="Courier New"/>
                <a:ea typeface="Courier New"/>
                <a:cs typeface="Courier New"/>
                <a:sym typeface="Courier New"/>
              </a:rPr>
              <a:t>:</a:t>
            </a:r>
            <a:endParaRPr sz="750">
              <a:solidFill>
                <a:srgbClr val="292929"/>
              </a:solidFill>
              <a:highlight>
                <a:srgbClr val="FFFFFF"/>
              </a:highlight>
              <a:latin typeface="Courier New"/>
              <a:ea typeface="Courier New"/>
              <a:cs typeface="Courier New"/>
              <a:sym typeface="Courier New"/>
            </a:endParaRPr>
          </a:p>
          <a:p>
            <a:pPr marL="0" lvl="0" indent="0" algn="l" rtl="0">
              <a:lnSpc>
                <a:spcPct val="135714"/>
              </a:lnSpc>
              <a:spcBef>
                <a:spcPts val="0"/>
              </a:spcBef>
              <a:spcAft>
                <a:spcPts val="0"/>
              </a:spcAft>
              <a:buClr>
                <a:schemeClr val="dk1"/>
              </a:buClr>
              <a:buSzPts val="1100"/>
              <a:buFont typeface="Arial"/>
              <a:buNone/>
            </a:pPr>
            <a:r>
              <a:rPr lang="ru" sz="750">
                <a:solidFill>
                  <a:srgbClr val="292929"/>
                </a:solidFill>
                <a:highlight>
                  <a:srgbClr val="FFFFFF"/>
                </a:highlight>
                <a:latin typeface="Courier New"/>
                <a:ea typeface="Courier New"/>
                <a:cs typeface="Courier New"/>
                <a:sym typeface="Courier New"/>
              </a:rPr>
              <a:t>    t </a:t>
            </a:r>
            <a:r>
              <a:rPr lang="ru" sz="750">
                <a:solidFill>
                  <a:schemeClr val="dk1"/>
                </a:solidFill>
                <a:highlight>
                  <a:srgbClr val="FFFFFF"/>
                </a:highlight>
                <a:latin typeface="Courier New"/>
                <a:ea typeface="Courier New"/>
                <a:cs typeface="Courier New"/>
                <a:sym typeface="Courier New"/>
              </a:rPr>
              <a:t>=</a:t>
            </a:r>
            <a:r>
              <a:rPr lang="ru" sz="750">
                <a:solidFill>
                  <a:srgbClr val="292929"/>
                </a:solidFill>
                <a:highlight>
                  <a:srgbClr val="FFFFFF"/>
                </a:highlight>
                <a:latin typeface="Courier New"/>
                <a:ea typeface="Courier New"/>
                <a:cs typeface="Courier New"/>
                <a:sym typeface="Courier New"/>
              </a:rPr>
              <a:t> threading.Thread(</a:t>
            </a:r>
            <a:r>
              <a:rPr lang="ru" sz="750">
                <a:solidFill>
                  <a:srgbClr val="001080"/>
                </a:solidFill>
                <a:highlight>
                  <a:srgbClr val="FFFFFF"/>
                </a:highlight>
                <a:latin typeface="Courier New"/>
                <a:ea typeface="Courier New"/>
                <a:cs typeface="Courier New"/>
                <a:sym typeface="Courier New"/>
              </a:rPr>
              <a:t>target</a:t>
            </a:r>
            <a:r>
              <a:rPr lang="ru" sz="750">
                <a:solidFill>
                  <a:schemeClr val="dk1"/>
                </a:solidFill>
                <a:highlight>
                  <a:srgbClr val="FFFFFF"/>
                </a:highlight>
                <a:latin typeface="Courier New"/>
                <a:ea typeface="Courier New"/>
                <a:cs typeface="Courier New"/>
                <a:sym typeface="Courier New"/>
              </a:rPr>
              <a:t>=</a:t>
            </a:r>
            <a:r>
              <a:rPr lang="ru" sz="750">
                <a:solidFill>
                  <a:srgbClr val="292929"/>
                </a:solidFill>
                <a:highlight>
                  <a:srgbClr val="FFFFFF"/>
                </a:highlight>
                <a:latin typeface="Courier New"/>
                <a:ea typeface="Courier New"/>
                <a:cs typeface="Courier New"/>
                <a:sym typeface="Courier New"/>
              </a:rPr>
              <a:t>empty_func)</a:t>
            </a:r>
            <a:endParaRPr sz="750">
              <a:solidFill>
                <a:srgbClr val="292929"/>
              </a:solidFill>
              <a:highlight>
                <a:srgbClr val="FFFFFF"/>
              </a:highlight>
              <a:latin typeface="Courier New"/>
              <a:ea typeface="Courier New"/>
              <a:cs typeface="Courier New"/>
              <a:sym typeface="Courier New"/>
            </a:endParaRPr>
          </a:p>
          <a:p>
            <a:pPr marL="0" lvl="0" indent="0" algn="l" rtl="0">
              <a:lnSpc>
                <a:spcPct val="135714"/>
              </a:lnSpc>
              <a:spcBef>
                <a:spcPts val="0"/>
              </a:spcBef>
              <a:spcAft>
                <a:spcPts val="0"/>
              </a:spcAft>
              <a:buClr>
                <a:schemeClr val="dk1"/>
              </a:buClr>
              <a:buSzPts val="1100"/>
              <a:buFont typeface="Arial"/>
              <a:buNone/>
            </a:pPr>
            <a:r>
              <a:rPr lang="ru" sz="750">
                <a:solidFill>
                  <a:srgbClr val="292929"/>
                </a:solidFill>
                <a:highlight>
                  <a:srgbClr val="FFFFFF"/>
                </a:highlight>
                <a:latin typeface="Courier New"/>
                <a:ea typeface="Courier New"/>
                <a:cs typeface="Courier New"/>
                <a:sym typeface="Courier New"/>
              </a:rPr>
              <a:t>    t.start()</a:t>
            </a:r>
            <a:endParaRPr sz="750">
              <a:solidFill>
                <a:srgbClr val="292929"/>
              </a:solidFill>
              <a:highlight>
                <a:srgbClr val="FFFFFF"/>
              </a:highlight>
              <a:latin typeface="Courier New"/>
              <a:ea typeface="Courier New"/>
              <a:cs typeface="Courier New"/>
              <a:sym typeface="Courier New"/>
            </a:endParaRPr>
          </a:p>
          <a:p>
            <a:pPr marL="0" lvl="0" indent="0" algn="l" rtl="0">
              <a:lnSpc>
                <a:spcPct val="135714"/>
              </a:lnSpc>
              <a:spcBef>
                <a:spcPts val="0"/>
              </a:spcBef>
              <a:spcAft>
                <a:spcPts val="0"/>
              </a:spcAft>
              <a:buNone/>
            </a:pPr>
            <a:r>
              <a:rPr lang="ru" sz="750">
                <a:solidFill>
                  <a:srgbClr val="292929"/>
                </a:solidFill>
                <a:highlight>
                  <a:srgbClr val="FFFFFF"/>
                </a:highlight>
                <a:latin typeface="Courier New"/>
                <a:ea typeface="Courier New"/>
                <a:cs typeface="Courier New"/>
                <a:sym typeface="Courier New"/>
              </a:rPr>
              <a:t>    t.join()</a:t>
            </a:r>
            <a:endParaRPr/>
          </a:p>
        </p:txBody>
      </p:sp>
      <p:sp>
        <p:nvSpPr>
          <p:cNvPr id="134" name="Google Shape;134;p23"/>
          <p:cNvSpPr txBox="1">
            <a:spLocks noGrp="1"/>
          </p:cNvSpPr>
          <p:nvPr>
            <p:ph type="body" idx="1"/>
          </p:nvPr>
        </p:nvSpPr>
        <p:spPr>
          <a:xfrm>
            <a:off x="250425" y="1152475"/>
            <a:ext cx="2537100" cy="1640700"/>
          </a:xfrm>
          <a:prstGeom prst="rect">
            <a:avLst/>
          </a:prstGeom>
          <a:ln w="9525" cap="flat" cmpd="sng">
            <a:solidFill>
              <a:schemeClr val="dk1"/>
            </a:solidFill>
            <a:prstDash val="solid"/>
            <a:round/>
            <a:headEnd type="none" w="sm" len="sm"/>
            <a:tailEnd type="none" w="sm" len="sm"/>
          </a:ln>
        </p:spPr>
        <p:txBody>
          <a:bodyPr spcFirstLastPara="1" wrap="square" lIns="91425" tIns="91425" rIns="91425" bIns="91425" anchor="t" anchorCtr="0">
            <a:normAutofit/>
          </a:bodyPr>
          <a:lstStyle/>
          <a:p>
            <a:pPr marL="0" lvl="0" indent="0" algn="l" rtl="0">
              <a:spcBef>
                <a:spcPts val="0"/>
              </a:spcBef>
              <a:spcAft>
                <a:spcPts val="0"/>
              </a:spcAft>
              <a:buNone/>
            </a:pPr>
            <a:r>
              <a:rPr lang="ru"/>
              <a:t>Subinterpreters:</a:t>
            </a:r>
            <a:endParaRPr/>
          </a:p>
          <a:p>
            <a:pPr marL="0" lvl="0" indent="0" algn="l" rtl="0">
              <a:lnSpc>
                <a:spcPct val="135714"/>
              </a:lnSpc>
              <a:spcBef>
                <a:spcPts val="1200"/>
              </a:spcBef>
              <a:spcAft>
                <a:spcPts val="0"/>
              </a:spcAft>
              <a:buClr>
                <a:schemeClr val="dk1"/>
              </a:buClr>
              <a:buSzPts val="1100"/>
              <a:buFont typeface="Arial"/>
              <a:buNone/>
            </a:pPr>
            <a:r>
              <a:rPr lang="ru" sz="750">
                <a:solidFill>
                  <a:srgbClr val="0F4A85"/>
                </a:solidFill>
                <a:highlight>
                  <a:srgbClr val="FFFFFF"/>
                </a:highlight>
                <a:latin typeface="Courier New"/>
                <a:ea typeface="Courier New"/>
                <a:cs typeface="Courier New"/>
                <a:sym typeface="Courier New"/>
              </a:rPr>
              <a:t>def</a:t>
            </a:r>
            <a:r>
              <a:rPr lang="ru" sz="750">
                <a:solidFill>
                  <a:srgbClr val="292929"/>
                </a:solidFill>
                <a:highlight>
                  <a:srgbClr val="FFFFFF"/>
                </a:highlight>
                <a:latin typeface="Courier New"/>
                <a:ea typeface="Courier New"/>
                <a:cs typeface="Courier New"/>
                <a:sym typeface="Courier New"/>
              </a:rPr>
              <a:t> </a:t>
            </a:r>
            <a:r>
              <a:rPr lang="ru" sz="750">
                <a:solidFill>
                  <a:srgbClr val="5E2CBC"/>
                </a:solidFill>
                <a:highlight>
                  <a:srgbClr val="FFFFFF"/>
                </a:highlight>
                <a:latin typeface="Courier New"/>
                <a:ea typeface="Courier New"/>
                <a:cs typeface="Courier New"/>
                <a:sym typeface="Courier New"/>
              </a:rPr>
              <a:t>bench_subinterp</a:t>
            </a:r>
            <a:r>
              <a:rPr lang="ru" sz="750">
                <a:solidFill>
                  <a:srgbClr val="292929"/>
                </a:solidFill>
                <a:highlight>
                  <a:srgbClr val="FFFFFF"/>
                </a:highlight>
                <a:latin typeface="Courier New"/>
                <a:ea typeface="Courier New"/>
                <a:cs typeface="Courier New"/>
                <a:sym typeface="Courier New"/>
              </a:rPr>
              <a:t>() -&gt; </a:t>
            </a:r>
            <a:r>
              <a:rPr lang="ru" sz="750">
                <a:solidFill>
                  <a:srgbClr val="0F4A85"/>
                </a:solidFill>
                <a:highlight>
                  <a:srgbClr val="FFFFFF"/>
                </a:highlight>
                <a:latin typeface="Courier New"/>
                <a:ea typeface="Courier New"/>
                <a:cs typeface="Courier New"/>
                <a:sym typeface="Courier New"/>
              </a:rPr>
              <a:t>None</a:t>
            </a:r>
            <a:r>
              <a:rPr lang="ru" sz="750">
                <a:solidFill>
                  <a:srgbClr val="292929"/>
                </a:solidFill>
                <a:highlight>
                  <a:srgbClr val="FFFFFF"/>
                </a:highlight>
                <a:latin typeface="Courier New"/>
                <a:ea typeface="Courier New"/>
                <a:cs typeface="Courier New"/>
                <a:sym typeface="Courier New"/>
              </a:rPr>
              <a:t>:</a:t>
            </a:r>
            <a:endParaRPr sz="750">
              <a:solidFill>
                <a:srgbClr val="292929"/>
              </a:solidFill>
              <a:highlight>
                <a:srgbClr val="FFFFFF"/>
              </a:highlight>
              <a:latin typeface="Courier New"/>
              <a:ea typeface="Courier New"/>
              <a:cs typeface="Courier New"/>
              <a:sym typeface="Courier New"/>
            </a:endParaRPr>
          </a:p>
          <a:p>
            <a:pPr marL="0" lvl="0" indent="0" algn="l" rtl="0">
              <a:lnSpc>
                <a:spcPct val="135714"/>
              </a:lnSpc>
              <a:spcBef>
                <a:spcPts val="0"/>
              </a:spcBef>
              <a:spcAft>
                <a:spcPts val="0"/>
              </a:spcAft>
              <a:buClr>
                <a:schemeClr val="dk1"/>
              </a:buClr>
              <a:buSzPts val="1100"/>
              <a:buFont typeface="Arial"/>
              <a:buNone/>
            </a:pPr>
            <a:r>
              <a:rPr lang="ru" sz="750">
                <a:solidFill>
                  <a:srgbClr val="292929"/>
                </a:solidFill>
                <a:highlight>
                  <a:srgbClr val="FFFFFF"/>
                </a:highlight>
                <a:latin typeface="Courier New"/>
                <a:ea typeface="Courier New"/>
                <a:cs typeface="Courier New"/>
                <a:sym typeface="Courier New"/>
              </a:rPr>
              <a:t>    interp </a:t>
            </a:r>
            <a:r>
              <a:rPr lang="ru" sz="750">
                <a:solidFill>
                  <a:schemeClr val="dk1"/>
                </a:solidFill>
                <a:highlight>
                  <a:srgbClr val="FFFFFF"/>
                </a:highlight>
                <a:latin typeface="Courier New"/>
                <a:ea typeface="Courier New"/>
                <a:cs typeface="Courier New"/>
                <a:sym typeface="Courier New"/>
              </a:rPr>
              <a:t>=</a:t>
            </a:r>
            <a:r>
              <a:rPr lang="ru" sz="750">
                <a:solidFill>
                  <a:srgbClr val="292929"/>
                </a:solidFill>
                <a:highlight>
                  <a:srgbClr val="FFFFFF"/>
                </a:highlight>
                <a:latin typeface="Courier New"/>
                <a:ea typeface="Courier New"/>
                <a:cs typeface="Courier New"/>
                <a:sym typeface="Courier New"/>
              </a:rPr>
              <a:t> interpreters.create()</a:t>
            </a:r>
            <a:endParaRPr sz="750">
              <a:solidFill>
                <a:srgbClr val="292929"/>
              </a:solidFill>
              <a:highlight>
                <a:srgbClr val="FFFFFF"/>
              </a:highlight>
              <a:latin typeface="Courier New"/>
              <a:ea typeface="Courier New"/>
              <a:cs typeface="Courier New"/>
              <a:sym typeface="Courier New"/>
            </a:endParaRPr>
          </a:p>
          <a:p>
            <a:pPr marL="0" lvl="0" indent="0" algn="l" rtl="0">
              <a:lnSpc>
                <a:spcPct val="135714"/>
              </a:lnSpc>
              <a:spcBef>
                <a:spcPts val="0"/>
              </a:spcBef>
              <a:spcAft>
                <a:spcPts val="0"/>
              </a:spcAft>
              <a:buClr>
                <a:schemeClr val="dk1"/>
              </a:buClr>
              <a:buSzPts val="1100"/>
              <a:buFont typeface="Arial"/>
              <a:buNone/>
            </a:pPr>
            <a:r>
              <a:rPr lang="ru" sz="750">
                <a:solidFill>
                  <a:srgbClr val="292929"/>
                </a:solidFill>
                <a:highlight>
                  <a:srgbClr val="FFFFFF"/>
                </a:highlight>
                <a:latin typeface="Courier New"/>
                <a:ea typeface="Courier New"/>
                <a:cs typeface="Courier New"/>
                <a:sym typeface="Courier New"/>
              </a:rPr>
              <a:t>    t = interp.call_in_thread(empty_func)</a:t>
            </a:r>
            <a:endParaRPr sz="750">
              <a:solidFill>
                <a:srgbClr val="292929"/>
              </a:solidFill>
              <a:highlight>
                <a:srgbClr val="FFFFFF"/>
              </a:highlight>
              <a:latin typeface="Courier New"/>
              <a:ea typeface="Courier New"/>
              <a:cs typeface="Courier New"/>
              <a:sym typeface="Courier New"/>
            </a:endParaRPr>
          </a:p>
          <a:p>
            <a:pPr marL="0" lvl="0" indent="0" algn="l" rtl="0">
              <a:lnSpc>
                <a:spcPct val="135714"/>
              </a:lnSpc>
              <a:spcBef>
                <a:spcPts val="0"/>
              </a:spcBef>
              <a:spcAft>
                <a:spcPts val="0"/>
              </a:spcAft>
              <a:buClr>
                <a:schemeClr val="dk1"/>
              </a:buClr>
              <a:buSzPts val="1100"/>
              <a:buFont typeface="Arial"/>
              <a:buNone/>
            </a:pPr>
            <a:r>
              <a:rPr lang="ru" sz="750">
                <a:solidFill>
                  <a:srgbClr val="292929"/>
                </a:solidFill>
                <a:highlight>
                  <a:srgbClr val="FFFFFF"/>
                </a:highlight>
                <a:latin typeface="Courier New"/>
                <a:ea typeface="Courier New"/>
                <a:cs typeface="Courier New"/>
                <a:sym typeface="Courier New"/>
              </a:rPr>
              <a:t>    t.join()</a:t>
            </a:r>
            <a:endParaRPr sz="750">
              <a:solidFill>
                <a:srgbClr val="292929"/>
              </a:solidFill>
              <a:highlight>
                <a:srgbClr val="FFFFFF"/>
              </a:highlight>
              <a:latin typeface="Courier New"/>
              <a:ea typeface="Courier New"/>
              <a:cs typeface="Courier New"/>
              <a:sym typeface="Courier New"/>
            </a:endParaRPr>
          </a:p>
          <a:p>
            <a:pPr marL="0" lvl="0" indent="0" algn="l" rtl="0">
              <a:lnSpc>
                <a:spcPct val="135714"/>
              </a:lnSpc>
              <a:spcBef>
                <a:spcPts val="0"/>
              </a:spcBef>
              <a:spcAft>
                <a:spcPts val="0"/>
              </a:spcAft>
              <a:buNone/>
            </a:pPr>
            <a:r>
              <a:rPr lang="ru" sz="750">
                <a:solidFill>
                  <a:srgbClr val="292929"/>
                </a:solidFill>
                <a:highlight>
                  <a:srgbClr val="FFFFFF"/>
                </a:highlight>
                <a:latin typeface="Courier New"/>
                <a:ea typeface="Courier New"/>
                <a:cs typeface="Courier New"/>
                <a:sym typeface="Courier New"/>
              </a:rPr>
              <a:t>    interp.close()</a:t>
            </a:r>
            <a:endParaRPr/>
          </a:p>
        </p:txBody>
      </p:sp>
      <p:sp>
        <p:nvSpPr>
          <p:cNvPr id="135" name="Google Shape;135;p23"/>
          <p:cNvSpPr txBox="1">
            <a:spLocks noGrp="1"/>
          </p:cNvSpPr>
          <p:nvPr>
            <p:ph type="body" idx="1"/>
          </p:nvPr>
        </p:nvSpPr>
        <p:spPr>
          <a:xfrm>
            <a:off x="6515775" y="1152475"/>
            <a:ext cx="2367600" cy="1640700"/>
          </a:xfrm>
          <a:prstGeom prst="rect">
            <a:avLst/>
          </a:prstGeom>
          <a:ln w="9525" cap="flat" cmpd="sng">
            <a:solidFill>
              <a:schemeClr val="dk1"/>
            </a:solidFill>
            <a:prstDash val="solid"/>
            <a:round/>
            <a:headEnd type="none" w="sm" len="sm"/>
            <a:tailEnd type="none" w="sm" len="sm"/>
          </a:ln>
        </p:spPr>
        <p:txBody>
          <a:bodyPr spcFirstLastPara="1" wrap="square" lIns="91425" tIns="91425" rIns="91425" bIns="91425" anchor="t" anchorCtr="0">
            <a:normAutofit/>
          </a:bodyPr>
          <a:lstStyle/>
          <a:p>
            <a:pPr marL="0" lvl="0" indent="0" algn="l" rtl="0">
              <a:spcBef>
                <a:spcPts val="0"/>
              </a:spcBef>
              <a:spcAft>
                <a:spcPts val="0"/>
              </a:spcAft>
              <a:buNone/>
            </a:pPr>
            <a:r>
              <a:rPr lang="ru"/>
              <a:t>Multiprocessing:</a:t>
            </a:r>
            <a:endParaRPr/>
          </a:p>
          <a:p>
            <a:pPr marL="0" lvl="0" indent="0" algn="l" rtl="0">
              <a:lnSpc>
                <a:spcPct val="135714"/>
              </a:lnSpc>
              <a:spcBef>
                <a:spcPts val="1200"/>
              </a:spcBef>
              <a:spcAft>
                <a:spcPts val="0"/>
              </a:spcAft>
              <a:buClr>
                <a:schemeClr val="dk1"/>
              </a:buClr>
              <a:buSzPts val="1100"/>
              <a:buFont typeface="Arial"/>
              <a:buNone/>
            </a:pPr>
            <a:r>
              <a:rPr lang="ru" sz="750">
                <a:solidFill>
                  <a:srgbClr val="0F4A85"/>
                </a:solidFill>
                <a:highlight>
                  <a:srgbClr val="FFFFFF"/>
                </a:highlight>
                <a:latin typeface="Courier New"/>
                <a:ea typeface="Courier New"/>
                <a:cs typeface="Courier New"/>
                <a:sym typeface="Courier New"/>
              </a:rPr>
              <a:t>def</a:t>
            </a:r>
            <a:r>
              <a:rPr lang="ru" sz="750">
                <a:solidFill>
                  <a:srgbClr val="292929"/>
                </a:solidFill>
                <a:highlight>
                  <a:srgbClr val="FFFFFF"/>
                </a:highlight>
                <a:latin typeface="Courier New"/>
                <a:ea typeface="Courier New"/>
                <a:cs typeface="Courier New"/>
                <a:sym typeface="Courier New"/>
              </a:rPr>
              <a:t> </a:t>
            </a:r>
            <a:r>
              <a:rPr lang="ru" sz="750">
                <a:solidFill>
                  <a:srgbClr val="5E2CBC"/>
                </a:solidFill>
                <a:highlight>
                  <a:srgbClr val="FFFFFF"/>
                </a:highlight>
                <a:latin typeface="Courier New"/>
                <a:ea typeface="Courier New"/>
                <a:cs typeface="Courier New"/>
                <a:sym typeface="Courier New"/>
              </a:rPr>
              <a:t>bench_mp</a:t>
            </a:r>
            <a:r>
              <a:rPr lang="ru" sz="750">
                <a:solidFill>
                  <a:srgbClr val="292929"/>
                </a:solidFill>
                <a:highlight>
                  <a:srgbClr val="FFFFFF"/>
                </a:highlight>
                <a:latin typeface="Courier New"/>
                <a:ea typeface="Courier New"/>
                <a:cs typeface="Courier New"/>
                <a:sym typeface="Courier New"/>
              </a:rPr>
              <a:t>() -&gt; </a:t>
            </a:r>
            <a:r>
              <a:rPr lang="ru" sz="750">
                <a:solidFill>
                  <a:srgbClr val="0F4A85"/>
                </a:solidFill>
                <a:highlight>
                  <a:srgbClr val="FFFFFF"/>
                </a:highlight>
                <a:latin typeface="Courier New"/>
                <a:ea typeface="Courier New"/>
                <a:cs typeface="Courier New"/>
                <a:sym typeface="Courier New"/>
              </a:rPr>
              <a:t>None</a:t>
            </a:r>
            <a:r>
              <a:rPr lang="ru" sz="750">
                <a:solidFill>
                  <a:srgbClr val="292929"/>
                </a:solidFill>
                <a:highlight>
                  <a:srgbClr val="FFFFFF"/>
                </a:highlight>
                <a:latin typeface="Courier New"/>
                <a:ea typeface="Courier New"/>
                <a:cs typeface="Courier New"/>
                <a:sym typeface="Courier New"/>
              </a:rPr>
              <a:t>:</a:t>
            </a:r>
            <a:endParaRPr sz="750">
              <a:solidFill>
                <a:srgbClr val="292929"/>
              </a:solidFill>
              <a:highlight>
                <a:srgbClr val="FFFFFF"/>
              </a:highlight>
              <a:latin typeface="Courier New"/>
              <a:ea typeface="Courier New"/>
              <a:cs typeface="Courier New"/>
              <a:sym typeface="Courier New"/>
            </a:endParaRPr>
          </a:p>
          <a:p>
            <a:pPr marL="0" lvl="0" indent="0" algn="l" rtl="0">
              <a:lnSpc>
                <a:spcPct val="135714"/>
              </a:lnSpc>
              <a:spcBef>
                <a:spcPts val="0"/>
              </a:spcBef>
              <a:spcAft>
                <a:spcPts val="0"/>
              </a:spcAft>
              <a:buClr>
                <a:schemeClr val="dk1"/>
              </a:buClr>
              <a:buSzPts val="1100"/>
              <a:buFont typeface="Arial"/>
              <a:buNone/>
            </a:pPr>
            <a:r>
              <a:rPr lang="ru" sz="750">
                <a:solidFill>
                  <a:srgbClr val="292929"/>
                </a:solidFill>
                <a:highlight>
                  <a:srgbClr val="FFFFFF"/>
                </a:highlight>
                <a:latin typeface="Courier New"/>
                <a:ea typeface="Courier New"/>
                <a:cs typeface="Courier New"/>
                <a:sym typeface="Courier New"/>
              </a:rPr>
              <a:t>    ctx </a:t>
            </a:r>
            <a:r>
              <a:rPr lang="ru" sz="750">
                <a:solidFill>
                  <a:schemeClr val="dk1"/>
                </a:solidFill>
                <a:highlight>
                  <a:srgbClr val="FFFFFF"/>
                </a:highlight>
                <a:latin typeface="Courier New"/>
                <a:ea typeface="Courier New"/>
                <a:cs typeface="Courier New"/>
                <a:sym typeface="Courier New"/>
              </a:rPr>
              <a:t>=</a:t>
            </a:r>
            <a:r>
              <a:rPr lang="ru" sz="750">
                <a:solidFill>
                  <a:srgbClr val="292929"/>
                </a:solidFill>
                <a:highlight>
                  <a:srgbClr val="FFFFFF"/>
                </a:highlight>
                <a:latin typeface="Courier New"/>
                <a:ea typeface="Courier New"/>
                <a:cs typeface="Courier New"/>
                <a:sym typeface="Courier New"/>
              </a:rPr>
              <a:t> mp.get_context(</a:t>
            </a:r>
            <a:r>
              <a:rPr lang="ru" sz="750">
                <a:solidFill>
                  <a:srgbClr val="0F4A85"/>
                </a:solidFill>
                <a:highlight>
                  <a:srgbClr val="FFFFFF"/>
                </a:highlight>
                <a:latin typeface="Courier New"/>
                <a:ea typeface="Courier New"/>
                <a:cs typeface="Courier New"/>
                <a:sym typeface="Courier New"/>
              </a:rPr>
              <a:t>"spawn"</a:t>
            </a:r>
            <a:r>
              <a:rPr lang="ru" sz="750">
                <a:solidFill>
                  <a:srgbClr val="292929"/>
                </a:solidFill>
                <a:highlight>
                  <a:srgbClr val="FFFFFF"/>
                </a:highlight>
                <a:latin typeface="Courier New"/>
                <a:ea typeface="Courier New"/>
                <a:cs typeface="Courier New"/>
                <a:sym typeface="Courier New"/>
              </a:rPr>
              <a:t>)</a:t>
            </a:r>
            <a:endParaRPr sz="750">
              <a:solidFill>
                <a:srgbClr val="292929"/>
              </a:solidFill>
              <a:highlight>
                <a:srgbClr val="FFFFFF"/>
              </a:highlight>
              <a:latin typeface="Courier New"/>
              <a:ea typeface="Courier New"/>
              <a:cs typeface="Courier New"/>
              <a:sym typeface="Courier New"/>
            </a:endParaRPr>
          </a:p>
          <a:p>
            <a:pPr marL="0" lvl="0" indent="0" algn="l" rtl="0">
              <a:lnSpc>
                <a:spcPct val="135714"/>
              </a:lnSpc>
              <a:spcBef>
                <a:spcPts val="0"/>
              </a:spcBef>
              <a:spcAft>
                <a:spcPts val="0"/>
              </a:spcAft>
              <a:buClr>
                <a:schemeClr val="dk1"/>
              </a:buClr>
              <a:buSzPts val="1100"/>
              <a:buFont typeface="Arial"/>
              <a:buNone/>
            </a:pPr>
            <a:r>
              <a:rPr lang="ru" sz="750">
                <a:solidFill>
                  <a:srgbClr val="292929"/>
                </a:solidFill>
                <a:highlight>
                  <a:srgbClr val="FFFFFF"/>
                </a:highlight>
                <a:latin typeface="Courier New"/>
                <a:ea typeface="Courier New"/>
                <a:cs typeface="Courier New"/>
                <a:sym typeface="Courier New"/>
              </a:rPr>
              <a:t>    p </a:t>
            </a:r>
            <a:r>
              <a:rPr lang="ru" sz="750">
                <a:solidFill>
                  <a:schemeClr val="dk1"/>
                </a:solidFill>
                <a:highlight>
                  <a:srgbClr val="FFFFFF"/>
                </a:highlight>
                <a:latin typeface="Courier New"/>
                <a:ea typeface="Courier New"/>
                <a:cs typeface="Courier New"/>
                <a:sym typeface="Courier New"/>
              </a:rPr>
              <a:t>=</a:t>
            </a:r>
            <a:r>
              <a:rPr lang="ru" sz="750">
                <a:solidFill>
                  <a:srgbClr val="292929"/>
                </a:solidFill>
                <a:highlight>
                  <a:srgbClr val="FFFFFF"/>
                </a:highlight>
                <a:latin typeface="Courier New"/>
                <a:ea typeface="Courier New"/>
                <a:cs typeface="Courier New"/>
                <a:sym typeface="Courier New"/>
              </a:rPr>
              <a:t> ctx.Process(</a:t>
            </a:r>
            <a:r>
              <a:rPr lang="ru" sz="750">
                <a:solidFill>
                  <a:srgbClr val="001080"/>
                </a:solidFill>
                <a:highlight>
                  <a:srgbClr val="FFFFFF"/>
                </a:highlight>
                <a:latin typeface="Courier New"/>
                <a:ea typeface="Courier New"/>
                <a:cs typeface="Courier New"/>
                <a:sym typeface="Courier New"/>
              </a:rPr>
              <a:t>target</a:t>
            </a:r>
            <a:r>
              <a:rPr lang="ru" sz="750">
                <a:solidFill>
                  <a:schemeClr val="dk1"/>
                </a:solidFill>
                <a:highlight>
                  <a:srgbClr val="FFFFFF"/>
                </a:highlight>
                <a:latin typeface="Courier New"/>
                <a:ea typeface="Courier New"/>
                <a:cs typeface="Courier New"/>
                <a:sym typeface="Courier New"/>
              </a:rPr>
              <a:t>=</a:t>
            </a:r>
            <a:r>
              <a:rPr lang="ru" sz="750">
                <a:solidFill>
                  <a:srgbClr val="292929"/>
                </a:solidFill>
                <a:highlight>
                  <a:srgbClr val="FFFFFF"/>
                </a:highlight>
                <a:latin typeface="Courier New"/>
                <a:ea typeface="Courier New"/>
                <a:cs typeface="Courier New"/>
                <a:sym typeface="Courier New"/>
              </a:rPr>
              <a:t>empty_func)</a:t>
            </a:r>
            <a:endParaRPr sz="750">
              <a:solidFill>
                <a:srgbClr val="292929"/>
              </a:solidFill>
              <a:highlight>
                <a:srgbClr val="FFFFFF"/>
              </a:highlight>
              <a:latin typeface="Courier New"/>
              <a:ea typeface="Courier New"/>
              <a:cs typeface="Courier New"/>
              <a:sym typeface="Courier New"/>
            </a:endParaRPr>
          </a:p>
          <a:p>
            <a:pPr marL="0" lvl="0" indent="0" algn="l" rtl="0">
              <a:lnSpc>
                <a:spcPct val="135714"/>
              </a:lnSpc>
              <a:spcBef>
                <a:spcPts val="0"/>
              </a:spcBef>
              <a:spcAft>
                <a:spcPts val="0"/>
              </a:spcAft>
              <a:buClr>
                <a:schemeClr val="dk1"/>
              </a:buClr>
              <a:buSzPts val="1100"/>
              <a:buFont typeface="Arial"/>
              <a:buNone/>
            </a:pPr>
            <a:r>
              <a:rPr lang="ru" sz="750">
                <a:solidFill>
                  <a:srgbClr val="292929"/>
                </a:solidFill>
                <a:highlight>
                  <a:srgbClr val="FFFFFF"/>
                </a:highlight>
                <a:latin typeface="Courier New"/>
                <a:ea typeface="Courier New"/>
                <a:cs typeface="Courier New"/>
                <a:sym typeface="Courier New"/>
              </a:rPr>
              <a:t>    p.start()</a:t>
            </a:r>
            <a:endParaRPr sz="750">
              <a:solidFill>
                <a:srgbClr val="292929"/>
              </a:solidFill>
              <a:highlight>
                <a:srgbClr val="FFFFFF"/>
              </a:highlight>
              <a:latin typeface="Courier New"/>
              <a:ea typeface="Courier New"/>
              <a:cs typeface="Courier New"/>
              <a:sym typeface="Courier New"/>
            </a:endParaRPr>
          </a:p>
          <a:p>
            <a:pPr marL="0" lvl="0" indent="0" algn="l" rtl="0">
              <a:lnSpc>
                <a:spcPct val="135714"/>
              </a:lnSpc>
              <a:spcBef>
                <a:spcPts val="0"/>
              </a:spcBef>
              <a:spcAft>
                <a:spcPts val="0"/>
              </a:spcAft>
              <a:buClr>
                <a:schemeClr val="dk1"/>
              </a:buClr>
              <a:buSzPts val="1100"/>
              <a:buFont typeface="Arial"/>
              <a:buNone/>
            </a:pPr>
            <a:r>
              <a:rPr lang="ru" sz="750">
                <a:solidFill>
                  <a:srgbClr val="292929"/>
                </a:solidFill>
                <a:highlight>
                  <a:srgbClr val="FFFFFF"/>
                </a:highlight>
                <a:latin typeface="Courier New"/>
                <a:ea typeface="Courier New"/>
                <a:cs typeface="Courier New"/>
                <a:sym typeface="Courier New"/>
              </a:rPr>
              <a:t>    p.join()</a:t>
            </a:r>
            <a:endParaRPr sz="750">
              <a:solidFill>
                <a:srgbClr val="292929"/>
              </a:solidFill>
              <a:highlight>
                <a:srgbClr val="FFFFFF"/>
              </a:highlight>
              <a:latin typeface="Courier New"/>
              <a:ea typeface="Courier New"/>
              <a:cs typeface="Courier New"/>
              <a:sym typeface="Courier New"/>
            </a:endParaRPr>
          </a:p>
          <a:p>
            <a:pPr marL="0" lvl="0" indent="0" algn="l" rtl="0">
              <a:spcBef>
                <a:spcPts val="0"/>
              </a:spcBef>
              <a:spcAft>
                <a:spcPts val="1200"/>
              </a:spcAft>
              <a:buNone/>
            </a:pPr>
            <a:endParaRPr/>
          </a:p>
        </p:txBody>
      </p:sp>
      <p:sp>
        <p:nvSpPr>
          <p:cNvPr id="136" name="Google Shape;136;p23"/>
          <p:cNvSpPr txBox="1">
            <a:spLocks noGrp="1"/>
          </p:cNvSpPr>
          <p:nvPr>
            <p:ph type="body" idx="1"/>
          </p:nvPr>
        </p:nvSpPr>
        <p:spPr>
          <a:xfrm>
            <a:off x="2830375" y="1748725"/>
            <a:ext cx="429300" cy="448200"/>
          </a:xfrm>
          <a:prstGeom prst="rect">
            <a:avLst/>
          </a:prstGeom>
          <a:ln>
            <a:noFill/>
          </a:ln>
        </p:spPr>
        <p:txBody>
          <a:bodyPr spcFirstLastPara="1" wrap="square" lIns="91425" tIns="91425" rIns="91425" bIns="91425" anchor="t" anchorCtr="0">
            <a:noAutofit/>
          </a:bodyPr>
          <a:lstStyle/>
          <a:p>
            <a:pPr marL="0" lvl="0" indent="0" algn="l" rtl="0">
              <a:spcBef>
                <a:spcPts val="0"/>
              </a:spcBef>
              <a:spcAft>
                <a:spcPts val="1200"/>
              </a:spcAft>
              <a:buNone/>
            </a:pPr>
            <a:r>
              <a:rPr lang="ru" sz="1600" dirty="0"/>
              <a:t>vs</a:t>
            </a:r>
            <a:endParaRPr sz="1600" dirty="0"/>
          </a:p>
        </p:txBody>
      </p:sp>
      <p:sp>
        <p:nvSpPr>
          <p:cNvPr id="137" name="Google Shape;137;p23"/>
          <p:cNvSpPr txBox="1">
            <a:spLocks noGrp="1"/>
          </p:cNvSpPr>
          <p:nvPr>
            <p:ph type="body" idx="1"/>
          </p:nvPr>
        </p:nvSpPr>
        <p:spPr>
          <a:xfrm>
            <a:off x="6043613" y="1748725"/>
            <a:ext cx="429300" cy="448200"/>
          </a:xfrm>
          <a:prstGeom prst="rect">
            <a:avLst/>
          </a:prstGeom>
          <a:ln>
            <a:noFill/>
          </a:ln>
        </p:spPr>
        <p:txBody>
          <a:bodyPr spcFirstLastPara="1" wrap="square" lIns="91425" tIns="91425" rIns="91425" bIns="91425" anchor="t" anchorCtr="0">
            <a:noAutofit/>
          </a:bodyPr>
          <a:lstStyle/>
          <a:p>
            <a:pPr marL="0" lvl="0" indent="0" algn="l" rtl="0">
              <a:spcBef>
                <a:spcPts val="0"/>
              </a:spcBef>
              <a:spcAft>
                <a:spcPts val="1200"/>
              </a:spcAft>
              <a:buNone/>
            </a:pPr>
            <a:r>
              <a:rPr lang="ru" sz="1600" dirty="0"/>
              <a:t>vs</a:t>
            </a:r>
            <a:endParaRPr sz="1600" dirty="0"/>
          </a:p>
        </p:txBody>
      </p:sp>
      <p:sp>
        <p:nvSpPr>
          <p:cNvPr id="138" name="Google Shape;138;p23"/>
          <p:cNvSpPr txBox="1">
            <a:spLocks noGrp="1"/>
          </p:cNvSpPr>
          <p:nvPr>
            <p:ph type="body" idx="1"/>
          </p:nvPr>
        </p:nvSpPr>
        <p:spPr>
          <a:xfrm>
            <a:off x="6886575" y="3544575"/>
            <a:ext cx="1626000" cy="664500"/>
          </a:xfrm>
          <a:prstGeom prst="rect">
            <a:avLst/>
          </a:prstGeom>
          <a:ln w="9525" cap="flat" cmpd="sng">
            <a:solidFill>
              <a:schemeClr val="dk1"/>
            </a:solidFill>
            <a:prstDash val="solid"/>
            <a:round/>
            <a:headEnd type="none" w="sm" len="sm"/>
            <a:tailEnd type="none" w="sm" len="sm"/>
          </a:ln>
        </p:spPr>
        <p:txBody>
          <a:bodyPr spcFirstLastPara="1" wrap="square" lIns="91425" tIns="91425" rIns="91425" bIns="91425" anchor="t" anchorCtr="0">
            <a:normAutofit/>
          </a:bodyPr>
          <a:lstStyle/>
          <a:p>
            <a:pPr marL="0" lvl="0" indent="0" algn="l" rtl="0">
              <a:lnSpc>
                <a:spcPct val="135714"/>
              </a:lnSpc>
              <a:spcBef>
                <a:spcPts val="0"/>
              </a:spcBef>
              <a:spcAft>
                <a:spcPts val="0"/>
              </a:spcAft>
              <a:buClr>
                <a:schemeClr val="dk1"/>
              </a:buClr>
              <a:buSzPts val="1100"/>
              <a:buFont typeface="Arial"/>
              <a:buNone/>
            </a:pPr>
            <a:r>
              <a:rPr lang="ru" sz="1050">
                <a:solidFill>
                  <a:srgbClr val="0F4A85"/>
                </a:solidFill>
                <a:highlight>
                  <a:srgbClr val="FFFFFF"/>
                </a:highlight>
                <a:latin typeface="Courier New"/>
                <a:ea typeface="Courier New"/>
                <a:cs typeface="Courier New"/>
                <a:sym typeface="Courier New"/>
              </a:rPr>
              <a:t>def</a:t>
            </a:r>
            <a:r>
              <a:rPr lang="ru" sz="1050">
                <a:solidFill>
                  <a:srgbClr val="292929"/>
                </a:solidFill>
                <a:highlight>
                  <a:srgbClr val="FFFFFF"/>
                </a:highlight>
                <a:latin typeface="Courier New"/>
                <a:ea typeface="Courier New"/>
                <a:cs typeface="Courier New"/>
                <a:sym typeface="Courier New"/>
              </a:rPr>
              <a:t> </a:t>
            </a:r>
            <a:r>
              <a:rPr lang="ru" sz="1050">
                <a:solidFill>
                  <a:srgbClr val="5E2CBC"/>
                </a:solidFill>
                <a:highlight>
                  <a:srgbClr val="FFFFFF"/>
                </a:highlight>
                <a:latin typeface="Courier New"/>
                <a:ea typeface="Courier New"/>
                <a:cs typeface="Courier New"/>
                <a:sym typeface="Courier New"/>
              </a:rPr>
              <a:t>empty_func</a:t>
            </a:r>
            <a:r>
              <a:rPr lang="ru" sz="1050">
                <a:solidFill>
                  <a:srgbClr val="292929"/>
                </a:solidFill>
                <a:highlight>
                  <a:srgbClr val="FFFFFF"/>
                </a:highlight>
                <a:latin typeface="Courier New"/>
                <a:ea typeface="Courier New"/>
                <a:cs typeface="Courier New"/>
                <a:sym typeface="Courier New"/>
              </a:rPr>
              <a:t>():</a:t>
            </a:r>
            <a:endParaRPr sz="1050">
              <a:solidFill>
                <a:srgbClr val="292929"/>
              </a:solidFill>
              <a:highlight>
                <a:srgbClr val="FFFFFF"/>
              </a:highlight>
              <a:latin typeface="Courier New"/>
              <a:ea typeface="Courier New"/>
              <a:cs typeface="Courier New"/>
              <a:sym typeface="Courier New"/>
            </a:endParaRPr>
          </a:p>
          <a:p>
            <a:pPr marL="0" lvl="0" indent="0" algn="l" rtl="0">
              <a:lnSpc>
                <a:spcPct val="135714"/>
              </a:lnSpc>
              <a:spcBef>
                <a:spcPts val="0"/>
              </a:spcBef>
              <a:spcAft>
                <a:spcPts val="0"/>
              </a:spcAft>
              <a:buNone/>
            </a:pPr>
            <a:r>
              <a:rPr lang="ru" sz="1050">
                <a:solidFill>
                  <a:srgbClr val="292929"/>
                </a:solidFill>
                <a:highlight>
                  <a:srgbClr val="FFFFFF"/>
                </a:highlight>
                <a:latin typeface="Courier New"/>
                <a:ea typeface="Courier New"/>
                <a:cs typeface="Courier New"/>
                <a:sym typeface="Courier New"/>
              </a:rPr>
              <a:t>    </a:t>
            </a:r>
            <a:r>
              <a:rPr lang="ru" sz="1050">
                <a:solidFill>
                  <a:srgbClr val="B5200D"/>
                </a:solidFill>
                <a:highlight>
                  <a:srgbClr val="FFFFFF"/>
                </a:highlight>
                <a:latin typeface="Courier New"/>
                <a:ea typeface="Courier New"/>
                <a:cs typeface="Courier New"/>
                <a:sym typeface="Courier New"/>
              </a:rPr>
              <a:t>pass</a:t>
            </a:r>
            <a:endParaRPr/>
          </a:p>
        </p:txBody>
      </p:sp>
      <p:sp>
        <p:nvSpPr>
          <p:cNvPr id="139" name="Google Shape;139;p2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ru"/>
              <a:t>13</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43"/>
        <p:cNvGrpSpPr/>
        <p:nvPr/>
      </p:nvGrpSpPr>
      <p:grpSpPr>
        <a:xfrm>
          <a:off x="0" y="0"/>
          <a:ext cx="0" cy="0"/>
          <a:chOff x="0" y="0"/>
          <a:chExt cx="0" cy="0"/>
        </a:xfrm>
      </p:grpSpPr>
      <p:sp>
        <p:nvSpPr>
          <p:cNvPr id="144" name="Google Shape;144;p2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ru"/>
              <a:t>Start-Stop Time: Results</a:t>
            </a:r>
            <a:endParaRPr/>
          </a:p>
        </p:txBody>
      </p:sp>
      <p:pic>
        <p:nvPicPr>
          <p:cNvPr id="145" name="Google Shape;145;p24"/>
          <p:cNvPicPr preferRelativeResize="0"/>
          <p:nvPr/>
        </p:nvPicPr>
        <p:blipFill>
          <a:blip r:embed="rId3">
            <a:alphaModFix/>
          </a:blip>
          <a:stretch>
            <a:fillRect/>
          </a:stretch>
        </p:blipFill>
        <p:spPr>
          <a:xfrm>
            <a:off x="170950" y="1213625"/>
            <a:ext cx="8802099" cy="2716249"/>
          </a:xfrm>
          <a:prstGeom prst="rect">
            <a:avLst/>
          </a:prstGeom>
          <a:noFill/>
          <a:ln>
            <a:noFill/>
          </a:ln>
        </p:spPr>
      </p:pic>
      <p:sp>
        <p:nvSpPr>
          <p:cNvPr id="147" name="Google Shape;147;p2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ru"/>
              <a:t>14</a:t>
            </a:fld>
            <a:endParaRPr/>
          </a:p>
        </p:txBody>
      </p:sp>
      <p:sp>
        <p:nvSpPr>
          <p:cNvPr id="4" name="Google Shape;213;p32">
            <a:extLst>
              <a:ext uri="{FF2B5EF4-FFF2-40B4-BE49-F238E27FC236}">
                <a16:creationId xmlns:a16="http://schemas.microsoft.com/office/drawing/2014/main" id="{FFE8792F-504A-57AE-C73F-EBCB032CCF96}"/>
              </a:ext>
            </a:extLst>
          </p:cNvPr>
          <p:cNvSpPr txBox="1">
            <a:spLocks noGrp="1"/>
          </p:cNvSpPr>
          <p:nvPr>
            <p:ph type="body" idx="1"/>
          </p:nvPr>
        </p:nvSpPr>
        <p:spPr>
          <a:xfrm>
            <a:off x="5683469" y="4681217"/>
            <a:ext cx="3063339" cy="375600"/>
          </a:xfrm>
          <a:prstGeom prst="rect">
            <a:avLst/>
          </a:prstGeom>
        </p:spPr>
        <p:txBody>
          <a:bodyPr spcFirstLastPara="1" wrap="square" lIns="91425" tIns="91425" rIns="91425" bIns="91425" anchor="t" anchorCtr="0">
            <a:noAutofit/>
          </a:bodyPr>
          <a:lstStyle/>
          <a:p>
            <a:pPr marL="0" lvl="0" indent="0" algn="l" rtl="0">
              <a:spcBef>
                <a:spcPts val="0"/>
              </a:spcBef>
              <a:spcAft>
                <a:spcPts val="1200"/>
              </a:spcAft>
              <a:buNone/>
            </a:pPr>
            <a:r>
              <a:rPr lang="ru" sz="1000" dirty="0"/>
              <a:t>Runs on AMD Ryzen 7 7840HS</a:t>
            </a:r>
            <a:r>
              <a:rPr lang="en-US" sz="1000" dirty="0"/>
              <a:t> (Python 3.14.2)</a:t>
            </a:r>
            <a:endParaRPr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51"/>
        <p:cNvGrpSpPr/>
        <p:nvPr/>
      </p:nvGrpSpPr>
      <p:grpSpPr>
        <a:xfrm>
          <a:off x="0" y="0"/>
          <a:ext cx="0" cy="0"/>
          <a:chOff x="0" y="0"/>
          <a:chExt cx="0" cy="0"/>
        </a:xfrm>
      </p:grpSpPr>
      <p:sp>
        <p:nvSpPr>
          <p:cNvPr id="152" name="Google Shape;152;p2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Clr>
                <a:schemeClr val="dk1"/>
              </a:buClr>
              <a:buSzPct val="39285"/>
              <a:buFont typeface="Arial"/>
              <a:buNone/>
            </a:pPr>
            <a:r>
              <a:rPr lang="ru"/>
              <a:t>Inter-Worker Time (Ping-Pong test)</a:t>
            </a:r>
            <a:endParaRPr/>
          </a:p>
        </p:txBody>
      </p:sp>
      <p:sp>
        <p:nvSpPr>
          <p:cNvPr id="153" name="Google Shape;153;p25"/>
          <p:cNvSpPr txBox="1">
            <a:spLocks noGrp="1"/>
          </p:cNvSpPr>
          <p:nvPr>
            <p:ph type="body" idx="1"/>
          </p:nvPr>
        </p:nvSpPr>
        <p:spPr>
          <a:xfrm>
            <a:off x="311700" y="2904125"/>
            <a:ext cx="8520600" cy="1664700"/>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r>
              <a:rPr lang="ru" dirty="0"/>
              <a:t>In this test, only one additional </a:t>
            </a:r>
            <a:r>
              <a:rPr lang="ru" b="1" dirty="0"/>
              <a:t>Worker</a:t>
            </a:r>
            <a:r>
              <a:rPr lang="ru" dirty="0"/>
              <a:t> thread/process is created, after which the time is measured for the </a:t>
            </a:r>
            <a:r>
              <a:rPr lang="ru" b="1" dirty="0"/>
              <a:t>Main</a:t>
            </a:r>
            <a:r>
              <a:rPr lang="ru" dirty="0"/>
              <a:t> thread/process to send a non-zero message of size </a:t>
            </a:r>
            <a:r>
              <a:rPr lang="ru" b="1" dirty="0"/>
              <a:t>k bytes</a:t>
            </a:r>
            <a:r>
              <a:rPr lang="ru" dirty="0"/>
              <a:t> to the </a:t>
            </a:r>
            <a:r>
              <a:rPr lang="ru" b="1" dirty="0"/>
              <a:t>Worker</a:t>
            </a:r>
            <a:r>
              <a:rPr lang="ru" dirty="0"/>
              <a:t> via </a:t>
            </a:r>
            <a:r>
              <a:rPr lang="ru" b="1" dirty="0"/>
              <a:t>queue_in</a:t>
            </a:r>
            <a:r>
              <a:rPr lang="ru" dirty="0"/>
              <a:t> and receive another non-zero message of size </a:t>
            </a:r>
            <a:r>
              <a:rPr lang="ru" b="1" dirty="0"/>
              <a:t>k bytes</a:t>
            </a:r>
            <a:r>
              <a:rPr lang="ru" dirty="0"/>
              <a:t> from the </a:t>
            </a:r>
            <a:r>
              <a:rPr lang="ru" b="1" dirty="0"/>
              <a:t>Worker</a:t>
            </a:r>
            <a:r>
              <a:rPr lang="ru" dirty="0"/>
              <a:t> via </a:t>
            </a:r>
            <a:r>
              <a:rPr lang="ru" b="1" dirty="0"/>
              <a:t>queue_out</a:t>
            </a:r>
            <a:r>
              <a:rPr lang="ru" dirty="0"/>
              <a:t>.</a:t>
            </a:r>
            <a:endParaRPr dirty="0"/>
          </a:p>
        </p:txBody>
      </p:sp>
      <p:pic>
        <p:nvPicPr>
          <p:cNvPr id="154" name="Google Shape;154;p25"/>
          <p:cNvPicPr preferRelativeResize="0"/>
          <p:nvPr/>
        </p:nvPicPr>
        <p:blipFill>
          <a:blip r:embed="rId3">
            <a:alphaModFix/>
          </a:blip>
          <a:stretch>
            <a:fillRect/>
          </a:stretch>
        </p:blipFill>
        <p:spPr>
          <a:xfrm>
            <a:off x="2294576" y="1202600"/>
            <a:ext cx="4554845" cy="1664750"/>
          </a:xfrm>
          <a:prstGeom prst="rect">
            <a:avLst/>
          </a:prstGeom>
          <a:noFill/>
          <a:ln>
            <a:noFill/>
          </a:ln>
        </p:spPr>
      </p:pic>
      <p:sp>
        <p:nvSpPr>
          <p:cNvPr id="155" name="Google Shape;155;p2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ru"/>
              <a:t>15</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sp>
        <p:nvSpPr>
          <p:cNvPr id="160" name="Google Shape;160;p2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ru"/>
              <a:t>Inter-Worker Time (Ping-Pong test): Results</a:t>
            </a:r>
            <a:endParaRPr/>
          </a:p>
        </p:txBody>
      </p:sp>
      <p:pic>
        <p:nvPicPr>
          <p:cNvPr id="161" name="Google Shape;161;p26"/>
          <p:cNvPicPr preferRelativeResize="0"/>
          <p:nvPr/>
        </p:nvPicPr>
        <p:blipFill>
          <a:blip r:embed="rId3">
            <a:alphaModFix/>
          </a:blip>
          <a:stretch>
            <a:fillRect/>
          </a:stretch>
        </p:blipFill>
        <p:spPr>
          <a:xfrm>
            <a:off x="152400" y="1225088"/>
            <a:ext cx="8839203" cy="2693336"/>
          </a:xfrm>
          <a:prstGeom prst="rect">
            <a:avLst/>
          </a:prstGeom>
          <a:noFill/>
          <a:ln>
            <a:noFill/>
          </a:ln>
        </p:spPr>
      </p:pic>
      <p:sp>
        <p:nvSpPr>
          <p:cNvPr id="163" name="Google Shape;163;p2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ru"/>
              <a:t>16</a:t>
            </a:fld>
            <a:endParaRPr/>
          </a:p>
        </p:txBody>
      </p:sp>
      <p:sp>
        <p:nvSpPr>
          <p:cNvPr id="4" name="Google Shape;213;p32">
            <a:extLst>
              <a:ext uri="{FF2B5EF4-FFF2-40B4-BE49-F238E27FC236}">
                <a16:creationId xmlns:a16="http://schemas.microsoft.com/office/drawing/2014/main" id="{25BC8772-6355-2F33-815C-E015543BA151}"/>
              </a:ext>
            </a:extLst>
          </p:cNvPr>
          <p:cNvSpPr txBox="1">
            <a:spLocks noGrp="1"/>
          </p:cNvSpPr>
          <p:nvPr>
            <p:ph type="body" idx="1"/>
          </p:nvPr>
        </p:nvSpPr>
        <p:spPr>
          <a:xfrm>
            <a:off x="5683469" y="4681217"/>
            <a:ext cx="3063339" cy="375600"/>
          </a:xfrm>
          <a:prstGeom prst="rect">
            <a:avLst/>
          </a:prstGeom>
        </p:spPr>
        <p:txBody>
          <a:bodyPr spcFirstLastPara="1" wrap="square" lIns="91425" tIns="91425" rIns="91425" bIns="91425" anchor="t" anchorCtr="0">
            <a:noAutofit/>
          </a:bodyPr>
          <a:lstStyle/>
          <a:p>
            <a:pPr marL="0" lvl="0" indent="0" algn="l" rtl="0">
              <a:spcBef>
                <a:spcPts val="0"/>
              </a:spcBef>
              <a:spcAft>
                <a:spcPts val="1200"/>
              </a:spcAft>
              <a:buNone/>
            </a:pPr>
            <a:r>
              <a:rPr lang="ru" sz="1000" dirty="0"/>
              <a:t>Runs on AMD Ryzen 7 7840HS</a:t>
            </a:r>
            <a:r>
              <a:rPr lang="en-US" sz="1000" dirty="0"/>
              <a:t> (Python 3.14.2)</a:t>
            </a:r>
            <a:endParaRPr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67"/>
        <p:cNvGrpSpPr/>
        <p:nvPr/>
      </p:nvGrpSpPr>
      <p:grpSpPr>
        <a:xfrm>
          <a:off x="0" y="0"/>
          <a:ext cx="0" cy="0"/>
          <a:chOff x="0" y="0"/>
          <a:chExt cx="0" cy="0"/>
        </a:xfrm>
      </p:grpSpPr>
      <p:sp>
        <p:nvSpPr>
          <p:cNvPr id="168" name="Google Shape;168;p27"/>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Clr>
                <a:schemeClr val="dk1"/>
              </a:buClr>
              <a:buSzPct val="39285"/>
              <a:buFont typeface="Arial"/>
              <a:buNone/>
            </a:pPr>
            <a:r>
              <a:rPr lang="ru"/>
              <a:t>Inter-Worker Time (Ping-Pong test): Results</a:t>
            </a:r>
            <a:endParaRPr/>
          </a:p>
        </p:txBody>
      </p:sp>
      <p:pic>
        <p:nvPicPr>
          <p:cNvPr id="169" name="Google Shape;169;p27"/>
          <p:cNvPicPr preferRelativeResize="0"/>
          <p:nvPr/>
        </p:nvPicPr>
        <p:blipFill>
          <a:blip r:embed="rId3">
            <a:alphaModFix/>
          </a:blip>
          <a:stretch>
            <a:fillRect/>
          </a:stretch>
        </p:blipFill>
        <p:spPr>
          <a:xfrm>
            <a:off x="152400" y="1253550"/>
            <a:ext cx="8839200" cy="2636411"/>
          </a:xfrm>
          <a:prstGeom prst="rect">
            <a:avLst/>
          </a:prstGeom>
          <a:noFill/>
          <a:ln>
            <a:noFill/>
          </a:ln>
        </p:spPr>
      </p:pic>
      <p:sp>
        <p:nvSpPr>
          <p:cNvPr id="171" name="Google Shape;171;p2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ru"/>
              <a:t>17</a:t>
            </a:fld>
            <a:endParaRPr/>
          </a:p>
        </p:txBody>
      </p:sp>
      <p:sp>
        <p:nvSpPr>
          <p:cNvPr id="4" name="Google Shape;213;p32">
            <a:extLst>
              <a:ext uri="{FF2B5EF4-FFF2-40B4-BE49-F238E27FC236}">
                <a16:creationId xmlns:a16="http://schemas.microsoft.com/office/drawing/2014/main" id="{2E285DC2-3B8B-E616-458F-5B6FC867C1C8}"/>
              </a:ext>
            </a:extLst>
          </p:cNvPr>
          <p:cNvSpPr txBox="1">
            <a:spLocks noGrp="1"/>
          </p:cNvSpPr>
          <p:nvPr>
            <p:ph type="body" idx="1"/>
          </p:nvPr>
        </p:nvSpPr>
        <p:spPr>
          <a:xfrm>
            <a:off x="5683469" y="4681217"/>
            <a:ext cx="3063339" cy="375600"/>
          </a:xfrm>
          <a:prstGeom prst="rect">
            <a:avLst/>
          </a:prstGeom>
        </p:spPr>
        <p:txBody>
          <a:bodyPr spcFirstLastPara="1" wrap="square" lIns="91425" tIns="91425" rIns="91425" bIns="91425" anchor="t" anchorCtr="0">
            <a:noAutofit/>
          </a:bodyPr>
          <a:lstStyle/>
          <a:p>
            <a:pPr marL="0" lvl="0" indent="0" algn="l" rtl="0">
              <a:spcBef>
                <a:spcPts val="0"/>
              </a:spcBef>
              <a:spcAft>
                <a:spcPts val="1200"/>
              </a:spcAft>
              <a:buNone/>
            </a:pPr>
            <a:r>
              <a:rPr lang="ru" sz="1000" dirty="0"/>
              <a:t>Runs on AMD Ryzen 7 7840HS</a:t>
            </a:r>
            <a:r>
              <a:rPr lang="en-US" sz="1000" dirty="0"/>
              <a:t> (Python 3.14.2)</a:t>
            </a:r>
            <a:endParaRPr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75"/>
        <p:cNvGrpSpPr/>
        <p:nvPr/>
      </p:nvGrpSpPr>
      <p:grpSpPr>
        <a:xfrm>
          <a:off x="0" y="0"/>
          <a:ext cx="0" cy="0"/>
          <a:chOff x="0" y="0"/>
          <a:chExt cx="0" cy="0"/>
        </a:xfrm>
      </p:grpSpPr>
      <p:sp>
        <p:nvSpPr>
          <p:cNvPr id="176" name="Google Shape;176;p28"/>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Clr>
                <a:schemeClr val="dk1"/>
              </a:buClr>
              <a:buSzPct val="39285"/>
              <a:buFont typeface="Arial"/>
              <a:buNone/>
            </a:pPr>
            <a:r>
              <a:rPr lang="ru"/>
              <a:t>Full program work test: Calculation of a definite integral</a:t>
            </a:r>
            <a:endParaRPr/>
          </a:p>
        </p:txBody>
      </p:sp>
      <p:sp>
        <p:nvSpPr>
          <p:cNvPr id="177" name="Google Shape;177;p28"/>
          <p:cNvSpPr txBox="1">
            <a:spLocks noGrp="1"/>
          </p:cNvSpPr>
          <p:nvPr>
            <p:ph type="body" idx="1"/>
          </p:nvPr>
        </p:nvSpPr>
        <p:spPr>
          <a:xfrm>
            <a:off x="311700" y="3779175"/>
            <a:ext cx="8520600" cy="1219800"/>
          </a:xfrm>
          <a:prstGeom prst="rect">
            <a:avLst/>
          </a:prstGeom>
        </p:spPr>
        <p:txBody>
          <a:bodyPr spcFirstLastPara="1" wrap="square" lIns="91425" tIns="91425" rIns="91425" bIns="91425" anchor="t" anchorCtr="0">
            <a:normAutofit fontScale="85000" lnSpcReduction="20000"/>
          </a:bodyPr>
          <a:lstStyle/>
          <a:p>
            <a:pPr marL="0" lvl="0" indent="0" algn="l" rtl="0">
              <a:spcBef>
                <a:spcPts val="0"/>
              </a:spcBef>
              <a:spcAft>
                <a:spcPts val="1200"/>
              </a:spcAft>
              <a:buNone/>
            </a:pPr>
            <a:r>
              <a:rPr lang="ru" dirty="0"/>
              <a:t>This test checks the running time of a program that calculates a definite integral using </a:t>
            </a:r>
            <a:r>
              <a:rPr lang="ru" b="1" dirty="0"/>
              <a:t>the trapezoidal rule</a:t>
            </a:r>
            <a:r>
              <a:rPr lang="ru" dirty="0"/>
              <a:t>. The calculations are divided between several threads/processes </a:t>
            </a:r>
            <a:r>
              <a:rPr lang="ru" b="1" dirty="0"/>
              <a:t>(from 1 to 16 workers)</a:t>
            </a:r>
            <a:r>
              <a:rPr lang="ru" dirty="0"/>
              <a:t>. The integral is defined on the interval </a:t>
            </a:r>
            <a:r>
              <a:rPr lang="ru" b="1" dirty="0"/>
              <a:t>[-1.0; 1.0]</a:t>
            </a:r>
            <a:r>
              <a:rPr lang="ru" dirty="0"/>
              <a:t>. The number of divisions is </a:t>
            </a:r>
            <a:r>
              <a:rPr lang="ru" b="1" dirty="0"/>
              <a:t>N = 2000000</a:t>
            </a:r>
            <a:r>
              <a:rPr lang="ru" dirty="0"/>
              <a:t>.</a:t>
            </a:r>
            <a:endParaRPr dirty="0"/>
          </a:p>
        </p:txBody>
      </p:sp>
      <p:pic>
        <p:nvPicPr>
          <p:cNvPr id="178" name="Google Shape;178;p28"/>
          <p:cNvPicPr preferRelativeResize="0"/>
          <p:nvPr/>
        </p:nvPicPr>
        <p:blipFill>
          <a:blip r:embed="rId3">
            <a:alphaModFix/>
          </a:blip>
          <a:stretch>
            <a:fillRect/>
          </a:stretch>
        </p:blipFill>
        <p:spPr>
          <a:xfrm>
            <a:off x="924326" y="1175250"/>
            <a:ext cx="3231574" cy="2446400"/>
          </a:xfrm>
          <a:prstGeom prst="rect">
            <a:avLst/>
          </a:prstGeom>
          <a:noFill/>
          <a:ln>
            <a:noFill/>
          </a:ln>
        </p:spPr>
      </p:pic>
      <p:pic>
        <p:nvPicPr>
          <p:cNvPr id="179" name="Google Shape;179;p28"/>
          <p:cNvPicPr preferRelativeResize="0"/>
          <p:nvPr/>
        </p:nvPicPr>
        <p:blipFill>
          <a:blip r:embed="rId4">
            <a:alphaModFix/>
          </a:blip>
          <a:stretch>
            <a:fillRect/>
          </a:stretch>
        </p:blipFill>
        <p:spPr>
          <a:xfrm>
            <a:off x="5361917" y="1175250"/>
            <a:ext cx="2210991" cy="2446399"/>
          </a:xfrm>
          <a:prstGeom prst="rect">
            <a:avLst/>
          </a:prstGeom>
          <a:noFill/>
          <a:ln>
            <a:noFill/>
          </a:ln>
        </p:spPr>
      </p:pic>
      <p:sp>
        <p:nvSpPr>
          <p:cNvPr id="180" name="Google Shape;180;p2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ru"/>
              <a:t>18</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84"/>
        <p:cNvGrpSpPr/>
        <p:nvPr/>
      </p:nvGrpSpPr>
      <p:grpSpPr>
        <a:xfrm>
          <a:off x="0" y="0"/>
          <a:ext cx="0" cy="0"/>
          <a:chOff x="0" y="0"/>
          <a:chExt cx="0" cy="0"/>
        </a:xfrm>
      </p:grpSpPr>
      <p:sp>
        <p:nvSpPr>
          <p:cNvPr id="185" name="Google Shape;185;p29"/>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ru"/>
              <a:t>Full program work test: Results</a:t>
            </a:r>
            <a:endParaRPr/>
          </a:p>
        </p:txBody>
      </p:sp>
      <p:pic>
        <p:nvPicPr>
          <p:cNvPr id="186" name="Google Shape;186;p29"/>
          <p:cNvPicPr preferRelativeResize="0"/>
          <p:nvPr/>
        </p:nvPicPr>
        <p:blipFill>
          <a:blip r:embed="rId3">
            <a:alphaModFix/>
          </a:blip>
          <a:stretch>
            <a:fillRect/>
          </a:stretch>
        </p:blipFill>
        <p:spPr>
          <a:xfrm>
            <a:off x="311700" y="1303188"/>
            <a:ext cx="8520599" cy="2537124"/>
          </a:xfrm>
          <a:prstGeom prst="rect">
            <a:avLst/>
          </a:prstGeom>
          <a:noFill/>
          <a:ln>
            <a:noFill/>
          </a:ln>
        </p:spPr>
      </p:pic>
      <p:sp>
        <p:nvSpPr>
          <p:cNvPr id="188" name="Google Shape;188;p2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ru"/>
              <a:t>19</a:t>
            </a:fld>
            <a:endParaRPr/>
          </a:p>
        </p:txBody>
      </p:sp>
      <p:sp>
        <p:nvSpPr>
          <p:cNvPr id="4" name="Google Shape;213;p32">
            <a:extLst>
              <a:ext uri="{FF2B5EF4-FFF2-40B4-BE49-F238E27FC236}">
                <a16:creationId xmlns:a16="http://schemas.microsoft.com/office/drawing/2014/main" id="{C3A7E335-D80A-D71A-652D-4FAD2B97C352}"/>
              </a:ext>
            </a:extLst>
          </p:cNvPr>
          <p:cNvSpPr txBox="1">
            <a:spLocks noGrp="1"/>
          </p:cNvSpPr>
          <p:nvPr>
            <p:ph type="body" idx="1"/>
          </p:nvPr>
        </p:nvSpPr>
        <p:spPr>
          <a:xfrm>
            <a:off x="5683469" y="4681217"/>
            <a:ext cx="3063339" cy="375600"/>
          </a:xfrm>
          <a:prstGeom prst="rect">
            <a:avLst/>
          </a:prstGeom>
        </p:spPr>
        <p:txBody>
          <a:bodyPr spcFirstLastPara="1" wrap="square" lIns="91425" tIns="91425" rIns="91425" bIns="91425" anchor="t" anchorCtr="0">
            <a:noAutofit/>
          </a:bodyPr>
          <a:lstStyle/>
          <a:p>
            <a:pPr marL="0" lvl="0" indent="0" algn="l" rtl="0">
              <a:spcBef>
                <a:spcPts val="0"/>
              </a:spcBef>
              <a:spcAft>
                <a:spcPts val="1200"/>
              </a:spcAft>
              <a:buNone/>
            </a:pPr>
            <a:r>
              <a:rPr lang="ru" sz="1000" dirty="0"/>
              <a:t>Runs on AMD Ryzen 7 7840HS</a:t>
            </a:r>
            <a:r>
              <a:rPr lang="en-US" sz="1000" dirty="0"/>
              <a:t> (Python 3.14.2)</a:t>
            </a:r>
            <a:endParaRPr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92"/>
        <p:cNvGrpSpPr/>
        <p:nvPr/>
      </p:nvGrpSpPr>
      <p:grpSpPr>
        <a:xfrm>
          <a:off x="0" y="0"/>
          <a:ext cx="0" cy="0"/>
          <a:chOff x="0" y="0"/>
          <a:chExt cx="0" cy="0"/>
        </a:xfrm>
      </p:grpSpPr>
      <p:sp>
        <p:nvSpPr>
          <p:cNvPr id="193" name="Google Shape;193;p30"/>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ru"/>
              <a:t>Found benchmarks</a:t>
            </a:r>
            <a:endParaRPr/>
          </a:p>
        </p:txBody>
      </p:sp>
      <p:sp>
        <p:nvSpPr>
          <p:cNvPr id="194" name="Google Shape;194;p30"/>
          <p:cNvSpPr txBox="1">
            <a:spLocks noGrp="1"/>
          </p:cNvSpPr>
          <p:nvPr>
            <p:ph type="body" idx="1"/>
          </p:nvPr>
        </p:nvSpPr>
        <p:spPr>
          <a:xfrm>
            <a:off x="147950" y="1951925"/>
            <a:ext cx="3242400" cy="1727400"/>
          </a:xfrm>
          <a:prstGeom prst="rect">
            <a:avLst/>
          </a:prstGeom>
          <a:ln w="9525" cap="flat" cmpd="sng">
            <a:solidFill>
              <a:schemeClr val="dk1"/>
            </a:solidFill>
            <a:prstDash val="solid"/>
            <a:round/>
            <a:headEnd type="none" w="sm" len="sm"/>
            <a:tailEnd type="none" w="sm" len="sm"/>
          </a:ln>
        </p:spPr>
        <p:txBody>
          <a:bodyPr spcFirstLastPara="1" wrap="square" lIns="91425" tIns="91425" rIns="91425" bIns="91425" anchor="t" anchorCtr="0">
            <a:normAutofit/>
          </a:bodyPr>
          <a:lstStyle/>
          <a:p>
            <a:pPr marL="0" lvl="0" indent="0" algn="l" rtl="0">
              <a:lnSpc>
                <a:spcPct val="135714"/>
              </a:lnSpc>
              <a:spcBef>
                <a:spcPts val="0"/>
              </a:spcBef>
              <a:spcAft>
                <a:spcPts val="0"/>
              </a:spcAft>
              <a:buNone/>
            </a:pPr>
            <a:r>
              <a:rPr lang="ru" sz="1050">
                <a:solidFill>
                  <a:srgbClr val="0000FF"/>
                </a:solidFill>
                <a:highlight>
                  <a:srgbClr val="FFFFFF"/>
                </a:highlight>
                <a:latin typeface="Courier New"/>
                <a:ea typeface="Courier New"/>
                <a:cs typeface="Courier New"/>
                <a:sym typeface="Courier New"/>
              </a:rPr>
              <a:t>def</a:t>
            </a:r>
            <a:r>
              <a:rPr lang="ru" sz="1050">
                <a:solidFill>
                  <a:schemeClr val="dk1"/>
                </a:solidFill>
                <a:highlight>
                  <a:srgbClr val="FFFFFF"/>
                </a:highlight>
                <a:latin typeface="Courier New"/>
                <a:ea typeface="Courier New"/>
                <a:cs typeface="Courier New"/>
                <a:sym typeface="Courier New"/>
              </a:rPr>
              <a:t> </a:t>
            </a:r>
            <a:r>
              <a:rPr lang="ru" sz="1050">
                <a:solidFill>
                  <a:srgbClr val="74531F"/>
                </a:solidFill>
                <a:highlight>
                  <a:srgbClr val="FFFFFF"/>
                </a:highlight>
                <a:latin typeface="Courier New"/>
                <a:ea typeface="Courier New"/>
                <a:cs typeface="Courier New"/>
                <a:sym typeface="Courier New"/>
              </a:rPr>
              <a:t>worker_cpu</a:t>
            </a:r>
            <a:r>
              <a:rPr lang="ru" sz="1050">
                <a:solidFill>
                  <a:schemeClr val="dk1"/>
                </a:solidFill>
                <a:highlight>
                  <a:srgbClr val="FFFFFF"/>
                </a:highlight>
                <a:latin typeface="Courier New"/>
                <a:ea typeface="Courier New"/>
                <a:cs typeface="Courier New"/>
                <a:sym typeface="Courier New"/>
              </a:rPr>
              <a:t>(</a:t>
            </a:r>
            <a:r>
              <a:rPr lang="ru" sz="1050">
                <a:solidFill>
                  <a:srgbClr val="808080"/>
                </a:solidFill>
                <a:highlight>
                  <a:srgbClr val="FFFFFF"/>
                </a:highlight>
                <a:latin typeface="Courier New"/>
                <a:ea typeface="Courier New"/>
                <a:cs typeface="Courier New"/>
                <a:sym typeface="Courier New"/>
              </a:rPr>
              <a:t>arg</a:t>
            </a:r>
            <a:r>
              <a:rPr lang="ru" sz="1050">
                <a:solidFill>
                  <a:schemeClr val="dk1"/>
                </a:solidFill>
                <a:highlight>
                  <a:srgbClr val="FFFFFF"/>
                </a:highlight>
                <a:latin typeface="Courier New"/>
                <a:ea typeface="Courier New"/>
                <a:cs typeface="Courier New"/>
                <a:sym typeface="Courier New"/>
              </a:rPr>
              <a:t>: </a:t>
            </a:r>
            <a:r>
              <a:rPr lang="ru" sz="1050">
                <a:solidFill>
                  <a:srgbClr val="2B91AF"/>
                </a:solidFill>
                <a:highlight>
                  <a:srgbClr val="FFFFFF"/>
                </a:highlight>
                <a:latin typeface="Courier New"/>
                <a:ea typeface="Courier New"/>
                <a:cs typeface="Courier New"/>
                <a:sym typeface="Courier New"/>
              </a:rPr>
              <a:t>tuple</a:t>
            </a:r>
            <a:r>
              <a:rPr lang="ru" sz="1050">
                <a:solidFill>
                  <a:schemeClr val="dk1"/>
                </a:solidFill>
                <a:highlight>
                  <a:srgbClr val="FFFFFF"/>
                </a:highlight>
                <a:latin typeface="Courier New"/>
                <a:ea typeface="Courier New"/>
                <a:cs typeface="Courier New"/>
                <a:sym typeface="Courier New"/>
              </a:rPr>
              <a:t>[</a:t>
            </a:r>
            <a:r>
              <a:rPr lang="ru" sz="1050">
                <a:solidFill>
                  <a:srgbClr val="2B91AF"/>
                </a:solidFill>
                <a:highlight>
                  <a:srgbClr val="FFFFFF"/>
                </a:highlight>
                <a:latin typeface="Courier New"/>
                <a:ea typeface="Courier New"/>
                <a:cs typeface="Courier New"/>
                <a:sym typeface="Courier New"/>
              </a:rPr>
              <a:t>int</a:t>
            </a:r>
            <a:r>
              <a:rPr lang="ru" sz="1050">
                <a:solidFill>
                  <a:schemeClr val="dk1"/>
                </a:solidFill>
                <a:highlight>
                  <a:srgbClr val="FFFFFF"/>
                </a:highlight>
                <a:latin typeface="Courier New"/>
                <a:ea typeface="Courier New"/>
                <a:cs typeface="Courier New"/>
                <a:sym typeface="Courier New"/>
              </a:rPr>
              <a:t>, </a:t>
            </a:r>
            <a:r>
              <a:rPr lang="ru" sz="1050">
                <a:solidFill>
                  <a:srgbClr val="2B91AF"/>
                </a:solidFill>
                <a:highlight>
                  <a:srgbClr val="FFFFFF"/>
                </a:highlight>
                <a:latin typeface="Courier New"/>
                <a:ea typeface="Courier New"/>
                <a:cs typeface="Courier New"/>
                <a:sym typeface="Courier New"/>
              </a:rPr>
              <a:t>int</a:t>
            </a:r>
            <a:r>
              <a:rPr lang="ru" sz="1050">
                <a:solidFill>
                  <a:schemeClr val="dk1"/>
                </a:solidFill>
                <a:highlight>
                  <a:srgbClr val="FFFFFF"/>
                </a:highlight>
                <a:latin typeface="Courier New"/>
                <a:ea typeface="Courier New"/>
                <a:cs typeface="Courier New"/>
                <a:sym typeface="Courier New"/>
              </a:rPr>
              <a:t>]):</a:t>
            </a:r>
            <a:endParaRPr sz="1050">
              <a:solidFill>
                <a:schemeClr val="dk1"/>
              </a:solidFill>
              <a:highlight>
                <a:srgbClr val="FFFFFF"/>
              </a:highlight>
              <a:latin typeface="Courier New"/>
              <a:ea typeface="Courier New"/>
              <a:cs typeface="Courier New"/>
              <a:sym typeface="Courier New"/>
            </a:endParaRPr>
          </a:p>
          <a:p>
            <a:pPr marL="0" lvl="0" indent="0" algn="l" rtl="0">
              <a:lnSpc>
                <a:spcPct val="135714"/>
              </a:lnSpc>
              <a:spcBef>
                <a:spcPts val="0"/>
              </a:spcBef>
              <a:spcAft>
                <a:spcPts val="0"/>
              </a:spcAft>
              <a:buNone/>
            </a:pPr>
            <a:r>
              <a:rPr lang="ru" sz="1050">
                <a:solidFill>
                  <a:schemeClr val="dk1"/>
                </a:solidFill>
                <a:highlight>
                  <a:srgbClr val="FFFFFF"/>
                </a:highlight>
                <a:latin typeface="Courier New"/>
                <a:ea typeface="Courier New"/>
                <a:cs typeface="Courier New"/>
                <a:sym typeface="Courier New"/>
              </a:rPr>
              <a:t>    </a:t>
            </a:r>
            <a:r>
              <a:rPr lang="ru" sz="1050">
                <a:solidFill>
                  <a:srgbClr val="1F377F"/>
                </a:solidFill>
                <a:highlight>
                  <a:srgbClr val="FFFFFF"/>
                </a:highlight>
                <a:latin typeface="Courier New"/>
                <a:ea typeface="Courier New"/>
                <a:cs typeface="Courier New"/>
                <a:sym typeface="Courier New"/>
              </a:rPr>
              <a:t>start</a:t>
            </a:r>
            <a:r>
              <a:rPr lang="ru" sz="1050">
                <a:solidFill>
                  <a:schemeClr val="dk1"/>
                </a:solidFill>
                <a:highlight>
                  <a:srgbClr val="FFFFFF"/>
                </a:highlight>
                <a:latin typeface="Courier New"/>
                <a:ea typeface="Courier New"/>
                <a:cs typeface="Courier New"/>
                <a:sym typeface="Courier New"/>
              </a:rPr>
              <a:t>, </a:t>
            </a:r>
            <a:r>
              <a:rPr lang="ru" sz="1050">
                <a:solidFill>
                  <a:srgbClr val="1F377F"/>
                </a:solidFill>
                <a:highlight>
                  <a:srgbClr val="FFFFFF"/>
                </a:highlight>
                <a:latin typeface="Courier New"/>
                <a:ea typeface="Courier New"/>
                <a:cs typeface="Courier New"/>
                <a:sym typeface="Courier New"/>
              </a:rPr>
              <a:t>end</a:t>
            </a:r>
            <a:r>
              <a:rPr lang="ru" sz="1050">
                <a:solidFill>
                  <a:schemeClr val="dk1"/>
                </a:solidFill>
                <a:highlight>
                  <a:srgbClr val="FFFFFF"/>
                </a:highlight>
                <a:latin typeface="Courier New"/>
                <a:ea typeface="Courier New"/>
                <a:cs typeface="Courier New"/>
                <a:sym typeface="Courier New"/>
              </a:rPr>
              <a:t> = </a:t>
            </a:r>
            <a:r>
              <a:rPr lang="ru" sz="1050">
                <a:solidFill>
                  <a:srgbClr val="808080"/>
                </a:solidFill>
                <a:highlight>
                  <a:srgbClr val="FFFFFF"/>
                </a:highlight>
                <a:latin typeface="Courier New"/>
                <a:ea typeface="Courier New"/>
                <a:cs typeface="Courier New"/>
                <a:sym typeface="Courier New"/>
              </a:rPr>
              <a:t>arg</a:t>
            </a:r>
            <a:endParaRPr sz="1050">
              <a:solidFill>
                <a:srgbClr val="808080"/>
              </a:solidFill>
              <a:highlight>
                <a:srgbClr val="FFFFFF"/>
              </a:highlight>
              <a:latin typeface="Courier New"/>
              <a:ea typeface="Courier New"/>
              <a:cs typeface="Courier New"/>
              <a:sym typeface="Courier New"/>
            </a:endParaRPr>
          </a:p>
          <a:p>
            <a:pPr marL="0" lvl="0" indent="0" algn="l" rtl="0">
              <a:lnSpc>
                <a:spcPct val="135714"/>
              </a:lnSpc>
              <a:spcBef>
                <a:spcPts val="0"/>
              </a:spcBef>
              <a:spcAft>
                <a:spcPts val="0"/>
              </a:spcAft>
              <a:buNone/>
            </a:pPr>
            <a:r>
              <a:rPr lang="ru" sz="1050">
                <a:solidFill>
                  <a:schemeClr val="dk1"/>
                </a:solidFill>
                <a:highlight>
                  <a:srgbClr val="FFFFFF"/>
                </a:highlight>
                <a:latin typeface="Courier New"/>
                <a:ea typeface="Courier New"/>
                <a:cs typeface="Courier New"/>
                <a:sym typeface="Courier New"/>
              </a:rPr>
              <a:t>    </a:t>
            </a:r>
            <a:r>
              <a:rPr lang="ru" sz="1050">
                <a:solidFill>
                  <a:srgbClr val="1F377F"/>
                </a:solidFill>
                <a:highlight>
                  <a:srgbClr val="FFFFFF"/>
                </a:highlight>
                <a:latin typeface="Courier New"/>
                <a:ea typeface="Courier New"/>
                <a:cs typeface="Courier New"/>
                <a:sym typeface="Courier New"/>
              </a:rPr>
              <a:t>fact</a:t>
            </a:r>
            <a:r>
              <a:rPr lang="ru" sz="1050">
                <a:solidFill>
                  <a:schemeClr val="dk1"/>
                </a:solidFill>
                <a:highlight>
                  <a:srgbClr val="FFFFFF"/>
                </a:highlight>
                <a:latin typeface="Courier New"/>
                <a:ea typeface="Courier New"/>
                <a:cs typeface="Courier New"/>
                <a:sym typeface="Courier New"/>
              </a:rPr>
              <a:t> = </a:t>
            </a:r>
            <a:r>
              <a:rPr lang="ru" sz="1050">
                <a:solidFill>
                  <a:srgbClr val="098658"/>
                </a:solidFill>
                <a:highlight>
                  <a:srgbClr val="FFFFFF"/>
                </a:highlight>
                <a:latin typeface="Courier New"/>
                <a:ea typeface="Courier New"/>
                <a:cs typeface="Courier New"/>
                <a:sym typeface="Courier New"/>
              </a:rPr>
              <a:t>1</a:t>
            </a:r>
            <a:endParaRPr sz="1050">
              <a:solidFill>
                <a:srgbClr val="098658"/>
              </a:solidFill>
              <a:highlight>
                <a:srgbClr val="FFFFFF"/>
              </a:highlight>
              <a:latin typeface="Courier New"/>
              <a:ea typeface="Courier New"/>
              <a:cs typeface="Courier New"/>
              <a:sym typeface="Courier New"/>
            </a:endParaRPr>
          </a:p>
          <a:p>
            <a:pPr marL="0" lvl="0" indent="0" algn="l" rtl="0">
              <a:lnSpc>
                <a:spcPct val="135714"/>
              </a:lnSpc>
              <a:spcBef>
                <a:spcPts val="0"/>
              </a:spcBef>
              <a:spcAft>
                <a:spcPts val="0"/>
              </a:spcAft>
              <a:buNone/>
            </a:pPr>
            <a:r>
              <a:rPr lang="ru" sz="1050">
                <a:solidFill>
                  <a:schemeClr val="dk1"/>
                </a:solidFill>
                <a:highlight>
                  <a:srgbClr val="FFFFFF"/>
                </a:highlight>
                <a:latin typeface="Courier New"/>
                <a:ea typeface="Courier New"/>
                <a:cs typeface="Courier New"/>
                <a:sym typeface="Courier New"/>
              </a:rPr>
              <a:t>    </a:t>
            </a:r>
            <a:r>
              <a:rPr lang="ru" sz="1050">
                <a:solidFill>
                  <a:srgbClr val="8F08C4"/>
                </a:solidFill>
                <a:highlight>
                  <a:srgbClr val="FFFFFF"/>
                </a:highlight>
                <a:latin typeface="Courier New"/>
                <a:ea typeface="Courier New"/>
                <a:cs typeface="Courier New"/>
                <a:sym typeface="Courier New"/>
              </a:rPr>
              <a:t>for</a:t>
            </a:r>
            <a:r>
              <a:rPr lang="ru" sz="1050">
                <a:solidFill>
                  <a:schemeClr val="dk1"/>
                </a:solidFill>
                <a:highlight>
                  <a:srgbClr val="FFFFFF"/>
                </a:highlight>
                <a:latin typeface="Courier New"/>
                <a:ea typeface="Courier New"/>
                <a:cs typeface="Courier New"/>
                <a:sym typeface="Courier New"/>
              </a:rPr>
              <a:t> </a:t>
            </a:r>
            <a:r>
              <a:rPr lang="ru" sz="1050">
                <a:solidFill>
                  <a:srgbClr val="1F377F"/>
                </a:solidFill>
                <a:highlight>
                  <a:srgbClr val="FFFFFF"/>
                </a:highlight>
                <a:latin typeface="Courier New"/>
                <a:ea typeface="Courier New"/>
                <a:cs typeface="Courier New"/>
                <a:sym typeface="Courier New"/>
              </a:rPr>
              <a:t>i</a:t>
            </a:r>
            <a:r>
              <a:rPr lang="ru" sz="1050">
                <a:solidFill>
                  <a:schemeClr val="dk1"/>
                </a:solidFill>
                <a:highlight>
                  <a:srgbClr val="FFFFFF"/>
                </a:highlight>
                <a:latin typeface="Courier New"/>
                <a:ea typeface="Courier New"/>
                <a:cs typeface="Courier New"/>
                <a:sym typeface="Courier New"/>
              </a:rPr>
              <a:t> </a:t>
            </a:r>
            <a:r>
              <a:rPr lang="ru" sz="1050">
                <a:solidFill>
                  <a:srgbClr val="8F08C4"/>
                </a:solidFill>
                <a:highlight>
                  <a:srgbClr val="FFFFFF"/>
                </a:highlight>
                <a:latin typeface="Courier New"/>
                <a:ea typeface="Courier New"/>
                <a:cs typeface="Courier New"/>
                <a:sym typeface="Courier New"/>
              </a:rPr>
              <a:t>in</a:t>
            </a:r>
            <a:r>
              <a:rPr lang="ru" sz="1050">
                <a:solidFill>
                  <a:schemeClr val="dk1"/>
                </a:solidFill>
                <a:highlight>
                  <a:srgbClr val="FFFFFF"/>
                </a:highlight>
                <a:latin typeface="Courier New"/>
                <a:ea typeface="Courier New"/>
                <a:cs typeface="Courier New"/>
                <a:sym typeface="Courier New"/>
              </a:rPr>
              <a:t> </a:t>
            </a:r>
            <a:r>
              <a:rPr lang="ru" sz="1050">
                <a:solidFill>
                  <a:srgbClr val="2B91AF"/>
                </a:solidFill>
                <a:highlight>
                  <a:srgbClr val="FFFFFF"/>
                </a:highlight>
                <a:latin typeface="Courier New"/>
                <a:ea typeface="Courier New"/>
                <a:cs typeface="Courier New"/>
                <a:sym typeface="Courier New"/>
              </a:rPr>
              <a:t>range</a:t>
            </a:r>
            <a:r>
              <a:rPr lang="ru" sz="1050">
                <a:solidFill>
                  <a:schemeClr val="dk1"/>
                </a:solidFill>
                <a:highlight>
                  <a:srgbClr val="FFFFFF"/>
                </a:highlight>
                <a:latin typeface="Courier New"/>
                <a:ea typeface="Courier New"/>
                <a:cs typeface="Courier New"/>
                <a:sym typeface="Courier New"/>
              </a:rPr>
              <a:t>(</a:t>
            </a:r>
            <a:r>
              <a:rPr lang="ru" sz="1050">
                <a:solidFill>
                  <a:srgbClr val="1F377F"/>
                </a:solidFill>
                <a:highlight>
                  <a:srgbClr val="FFFFFF"/>
                </a:highlight>
                <a:latin typeface="Courier New"/>
                <a:ea typeface="Courier New"/>
                <a:cs typeface="Courier New"/>
                <a:sym typeface="Courier New"/>
              </a:rPr>
              <a:t>start</a:t>
            </a:r>
            <a:r>
              <a:rPr lang="ru" sz="1050">
                <a:solidFill>
                  <a:schemeClr val="dk1"/>
                </a:solidFill>
                <a:highlight>
                  <a:srgbClr val="FFFFFF"/>
                </a:highlight>
                <a:latin typeface="Courier New"/>
                <a:ea typeface="Courier New"/>
                <a:cs typeface="Courier New"/>
                <a:sym typeface="Courier New"/>
              </a:rPr>
              <a:t>, </a:t>
            </a:r>
            <a:r>
              <a:rPr lang="ru" sz="1050">
                <a:solidFill>
                  <a:srgbClr val="1F377F"/>
                </a:solidFill>
                <a:highlight>
                  <a:srgbClr val="FFFFFF"/>
                </a:highlight>
                <a:latin typeface="Courier New"/>
                <a:ea typeface="Courier New"/>
                <a:cs typeface="Courier New"/>
                <a:sym typeface="Courier New"/>
              </a:rPr>
              <a:t>end</a:t>
            </a:r>
            <a:r>
              <a:rPr lang="ru" sz="1050">
                <a:solidFill>
                  <a:schemeClr val="dk1"/>
                </a:solidFill>
                <a:highlight>
                  <a:srgbClr val="FFFFFF"/>
                </a:highlight>
                <a:latin typeface="Courier New"/>
                <a:ea typeface="Courier New"/>
                <a:cs typeface="Courier New"/>
                <a:sym typeface="Courier New"/>
              </a:rPr>
              <a:t> + </a:t>
            </a:r>
            <a:r>
              <a:rPr lang="ru" sz="1050">
                <a:solidFill>
                  <a:srgbClr val="098658"/>
                </a:solidFill>
                <a:highlight>
                  <a:srgbClr val="FFFFFF"/>
                </a:highlight>
                <a:latin typeface="Courier New"/>
                <a:ea typeface="Courier New"/>
                <a:cs typeface="Courier New"/>
                <a:sym typeface="Courier New"/>
              </a:rPr>
              <a:t>1</a:t>
            </a:r>
            <a:r>
              <a:rPr lang="ru" sz="1050">
                <a:solidFill>
                  <a:schemeClr val="dk1"/>
                </a:solidFill>
                <a:highlight>
                  <a:srgbClr val="FFFFFF"/>
                </a:highlight>
                <a:latin typeface="Courier New"/>
                <a:ea typeface="Courier New"/>
                <a:cs typeface="Courier New"/>
                <a:sym typeface="Courier New"/>
              </a:rPr>
              <a:t>):</a:t>
            </a:r>
            <a:endParaRPr sz="1050">
              <a:solidFill>
                <a:schemeClr val="dk1"/>
              </a:solidFill>
              <a:highlight>
                <a:srgbClr val="FFFFFF"/>
              </a:highlight>
              <a:latin typeface="Courier New"/>
              <a:ea typeface="Courier New"/>
              <a:cs typeface="Courier New"/>
              <a:sym typeface="Courier New"/>
            </a:endParaRPr>
          </a:p>
          <a:p>
            <a:pPr marL="0" lvl="0" indent="0" algn="l" rtl="0">
              <a:lnSpc>
                <a:spcPct val="135714"/>
              </a:lnSpc>
              <a:spcBef>
                <a:spcPts val="0"/>
              </a:spcBef>
              <a:spcAft>
                <a:spcPts val="0"/>
              </a:spcAft>
              <a:buNone/>
            </a:pPr>
            <a:r>
              <a:rPr lang="ru" sz="1050">
                <a:solidFill>
                  <a:schemeClr val="dk1"/>
                </a:solidFill>
                <a:highlight>
                  <a:srgbClr val="FFFFFF"/>
                </a:highlight>
                <a:latin typeface="Courier New"/>
                <a:ea typeface="Courier New"/>
                <a:cs typeface="Courier New"/>
                <a:sym typeface="Courier New"/>
              </a:rPr>
              <a:t>        </a:t>
            </a:r>
            <a:r>
              <a:rPr lang="ru" sz="1050">
                <a:solidFill>
                  <a:srgbClr val="1F377F"/>
                </a:solidFill>
                <a:highlight>
                  <a:srgbClr val="FFFFFF"/>
                </a:highlight>
                <a:latin typeface="Courier New"/>
                <a:ea typeface="Courier New"/>
                <a:cs typeface="Courier New"/>
                <a:sym typeface="Courier New"/>
              </a:rPr>
              <a:t>fact</a:t>
            </a:r>
            <a:r>
              <a:rPr lang="ru" sz="1050">
                <a:solidFill>
                  <a:schemeClr val="dk1"/>
                </a:solidFill>
                <a:highlight>
                  <a:srgbClr val="FFFFFF"/>
                </a:highlight>
                <a:latin typeface="Courier New"/>
                <a:ea typeface="Courier New"/>
                <a:cs typeface="Courier New"/>
                <a:sym typeface="Courier New"/>
              </a:rPr>
              <a:t> *= </a:t>
            </a:r>
            <a:r>
              <a:rPr lang="ru" sz="1050">
                <a:solidFill>
                  <a:srgbClr val="1F377F"/>
                </a:solidFill>
                <a:highlight>
                  <a:srgbClr val="FFFFFF"/>
                </a:highlight>
                <a:latin typeface="Courier New"/>
                <a:ea typeface="Courier New"/>
                <a:cs typeface="Courier New"/>
                <a:sym typeface="Courier New"/>
              </a:rPr>
              <a:t>i</a:t>
            </a:r>
            <a:endParaRPr sz="1050">
              <a:solidFill>
                <a:srgbClr val="1F377F"/>
              </a:solidFill>
              <a:highlight>
                <a:srgbClr val="FFFFFF"/>
              </a:highlight>
              <a:latin typeface="Courier New"/>
              <a:ea typeface="Courier New"/>
              <a:cs typeface="Courier New"/>
              <a:sym typeface="Courier New"/>
            </a:endParaRPr>
          </a:p>
          <a:p>
            <a:pPr marL="0" lvl="0" indent="0" algn="l" rtl="0">
              <a:spcBef>
                <a:spcPts val="0"/>
              </a:spcBef>
              <a:spcAft>
                <a:spcPts val="0"/>
              </a:spcAft>
              <a:buClr>
                <a:schemeClr val="dk1"/>
              </a:buClr>
              <a:buSzPct val="61111"/>
              <a:buFont typeface="Arial"/>
              <a:buNone/>
            </a:pPr>
            <a:endParaRPr/>
          </a:p>
          <a:p>
            <a:pPr marL="0" lvl="0" indent="0" algn="l" rtl="0">
              <a:spcBef>
                <a:spcPts val="1200"/>
              </a:spcBef>
              <a:spcAft>
                <a:spcPts val="1200"/>
              </a:spcAft>
              <a:buNone/>
            </a:pPr>
            <a:endParaRPr/>
          </a:p>
        </p:txBody>
      </p:sp>
      <p:sp>
        <p:nvSpPr>
          <p:cNvPr id="195" name="Google Shape;195;p30"/>
          <p:cNvSpPr txBox="1">
            <a:spLocks noGrp="1"/>
          </p:cNvSpPr>
          <p:nvPr>
            <p:ph type="body" idx="1"/>
          </p:nvPr>
        </p:nvSpPr>
        <p:spPr>
          <a:xfrm>
            <a:off x="3438300" y="1951925"/>
            <a:ext cx="5394000" cy="1727400"/>
          </a:xfrm>
          <a:prstGeom prst="rect">
            <a:avLst/>
          </a:prstGeom>
          <a:ln w="9525" cap="flat" cmpd="sng">
            <a:solidFill>
              <a:schemeClr val="dk1"/>
            </a:solidFill>
            <a:prstDash val="solid"/>
            <a:round/>
            <a:headEnd type="none" w="sm" len="sm"/>
            <a:tailEnd type="none" w="sm" len="sm"/>
          </a:ln>
        </p:spPr>
        <p:txBody>
          <a:bodyPr spcFirstLastPara="1" wrap="square" lIns="91425" tIns="91425" rIns="91425" bIns="91425" anchor="t" anchorCtr="0">
            <a:normAutofit fontScale="92500" lnSpcReduction="10000"/>
          </a:bodyPr>
          <a:lstStyle/>
          <a:p>
            <a:pPr marL="0" lvl="0" indent="0" algn="l" rtl="0">
              <a:lnSpc>
                <a:spcPct val="135714"/>
              </a:lnSpc>
              <a:spcBef>
                <a:spcPts val="0"/>
              </a:spcBef>
              <a:spcAft>
                <a:spcPts val="0"/>
              </a:spcAft>
              <a:buClr>
                <a:schemeClr val="dk1"/>
              </a:buClr>
              <a:buSzPct val="104761"/>
              <a:buFont typeface="Arial"/>
              <a:buNone/>
            </a:pPr>
            <a:r>
              <a:rPr lang="ru" sz="1050">
                <a:solidFill>
                  <a:srgbClr val="B5200D"/>
                </a:solidFill>
                <a:highlight>
                  <a:srgbClr val="FFFFFF"/>
                </a:highlight>
                <a:latin typeface="Courier New"/>
                <a:ea typeface="Courier New"/>
                <a:cs typeface="Courier New"/>
                <a:sym typeface="Courier New"/>
              </a:rPr>
              <a:t>import</a:t>
            </a:r>
            <a:r>
              <a:rPr lang="ru" sz="1050">
                <a:solidFill>
                  <a:srgbClr val="292929"/>
                </a:solidFill>
                <a:highlight>
                  <a:srgbClr val="FFFFFF"/>
                </a:highlight>
                <a:latin typeface="Courier New"/>
                <a:ea typeface="Courier New"/>
                <a:cs typeface="Courier New"/>
                <a:sym typeface="Courier New"/>
              </a:rPr>
              <a:t> httpx</a:t>
            </a:r>
            <a:endParaRPr sz="1050">
              <a:solidFill>
                <a:srgbClr val="292929"/>
              </a:solidFill>
              <a:highlight>
                <a:srgbClr val="FFFFFF"/>
              </a:highlight>
              <a:latin typeface="Courier New"/>
              <a:ea typeface="Courier New"/>
              <a:cs typeface="Courier New"/>
              <a:sym typeface="Courier New"/>
            </a:endParaRPr>
          </a:p>
          <a:p>
            <a:pPr marL="0" lvl="0" indent="0" algn="l" rtl="0">
              <a:lnSpc>
                <a:spcPct val="135714"/>
              </a:lnSpc>
              <a:spcBef>
                <a:spcPts val="0"/>
              </a:spcBef>
              <a:spcAft>
                <a:spcPts val="0"/>
              </a:spcAft>
              <a:buNone/>
            </a:pPr>
            <a:endParaRPr sz="1050">
              <a:solidFill>
                <a:srgbClr val="0000FF"/>
              </a:solidFill>
              <a:highlight>
                <a:srgbClr val="FFFFFF"/>
              </a:highlight>
              <a:latin typeface="Courier New"/>
              <a:ea typeface="Courier New"/>
              <a:cs typeface="Courier New"/>
              <a:sym typeface="Courier New"/>
            </a:endParaRPr>
          </a:p>
          <a:p>
            <a:pPr marL="0" lvl="0" indent="0" algn="l" rtl="0">
              <a:lnSpc>
                <a:spcPct val="135714"/>
              </a:lnSpc>
              <a:spcBef>
                <a:spcPts val="0"/>
              </a:spcBef>
              <a:spcAft>
                <a:spcPts val="0"/>
              </a:spcAft>
              <a:buClr>
                <a:schemeClr val="dk1"/>
              </a:buClr>
              <a:buSzPct val="104761"/>
              <a:buFont typeface="Arial"/>
              <a:buNone/>
            </a:pPr>
            <a:r>
              <a:rPr lang="ru" sz="1050">
                <a:solidFill>
                  <a:srgbClr val="0F4A85"/>
                </a:solidFill>
                <a:highlight>
                  <a:srgbClr val="FFFFFF"/>
                </a:highlight>
                <a:latin typeface="Courier New"/>
                <a:ea typeface="Courier New"/>
                <a:cs typeface="Courier New"/>
                <a:sym typeface="Courier New"/>
              </a:rPr>
              <a:t>def</a:t>
            </a:r>
            <a:r>
              <a:rPr lang="ru" sz="1050">
                <a:solidFill>
                  <a:srgbClr val="292929"/>
                </a:solidFill>
                <a:highlight>
                  <a:srgbClr val="FFFFFF"/>
                </a:highlight>
                <a:latin typeface="Courier New"/>
                <a:ea typeface="Courier New"/>
                <a:cs typeface="Courier New"/>
                <a:sym typeface="Courier New"/>
              </a:rPr>
              <a:t> </a:t>
            </a:r>
            <a:r>
              <a:rPr lang="ru" sz="1050">
                <a:solidFill>
                  <a:srgbClr val="5E2CBC"/>
                </a:solidFill>
                <a:highlight>
                  <a:srgbClr val="FFFFFF"/>
                </a:highlight>
                <a:latin typeface="Courier New"/>
                <a:ea typeface="Courier New"/>
                <a:cs typeface="Courier New"/>
                <a:sym typeface="Courier New"/>
              </a:rPr>
              <a:t>worker_io</a:t>
            </a:r>
            <a:r>
              <a:rPr lang="ru" sz="1050">
                <a:solidFill>
                  <a:srgbClr val="292929"/>
                </a:solidFill>
                <a:highlight>
                  <a:srgbClr val="FFFFFF"/>
                </a:highlight>
                <a:latin typeface="Courier New"/>
                <a:ea typeface="Courier New"/>
                <a:cs typeface="Courier New"/>
                <a:sym typeface="Courier New"/>
              </a:rPr>
              <a:t>(</a:t>
            </a:r>
            <a:r>
              <a:rPr lang="ru" sz="1050">
                <a:solidFill>
                  <a:srgbClr val="001080"/>
                </a:solidFill>
                <a:highlight>
                  <a:srgbClr val="FFFFFF"/>
                </a:highlight>
                <a:latin typeface="Courier New"/>
                <a:ea typeface="Courier New"/>
                <a:cs typeface="Courier New"/>
                <a:sym typeface="Courier New"/>
              </a:rPr>
              <a:t>arg</a:t>
            </a:r>
            <a:r>
              <a:rPr lang="ru" sz="1050">
                <a:solidFill>
                  <a:srgbClr val="292929"/>
                </a:solidFill>
                <a:highlight>
                  <a:srgbClr val="FFFFFF"/>
                </a:highlight>
                <a:latin typeface="Courier New"/>
                <a:ea typeface="Courier New"/>
                <a:cs typeface="Courier New"/>
                <a:sym typeface="Courier New"/>
              </a:rPr>
              <a:t>: tuple[</a:t>
            </a:r>
            <a:r>
              <a:rPr lang="ru" sz="1050">
                <a:solidFill>
                  <a:srgbClr val="185E73"/>
                </a:solidFill>
                <a:highlight>
                  <a:srgbClr val="FFFFFF"/>
                </a:highlight>
                <a:latin typeface="Courier New"/>
                <a:ea typeface="Courier New"/>
                <a:cs typeface="Courier New"/>
                <a:sym typeface="Courier New"/>
              </a:rPr>
              <a:t>int</a:t>
            </a:r>
            <a:r>
              <a:rPr lang="ru" sz="1050">
                <a:solidFill>
                  <a:srgbClr val="292929"/>
                </a:solidFill>
                <a:highlight>
                  <a:srgbClr val="FFFFFF"/>
                </a:highlight>
                <a:latin typeface="Courier New"/>
                <a:ea typeface="Courier New"/>
                <a:cs typeface="Courier New"/>
                <a:sym typeface="Courier New"/>
              </a:rPr>
              <a:t>, </a:t>
            </a:r>
            <a:r>
              <a:rPr lang="ru" sz="1050">
                <a:solidFill>
                  <a:srgbClr val="185E73"/>
                </a:solidFill>
                <a:highlight>
                  <a:srgbClr val="FFFFFF"/>
                </a:highlight>
                <a:latin typeface="Courier New"/>
                <a:ea typeface="Courier New"/>
                <a:cs typeface="Courier New"/>
                <a:sym typeface="Courier New"/>
              </a:rPr>
              <a:t>int</a:t>
            </a:r>
            <a:r>
              <a:rPr lang="ru" sz="1050">
                <a:solidFill>
                  <a:srgbClr val="292929"/>
                </a:solidFill>
                <a:highlight>
                  <a:srgbClr val="FFFFFF"/>
                </a:highlight>
                <a:latin typeface="Courier New"/>
                <a:ea typeface="Courier New"/>
                <a:cs typeface="Courier New"/>
                <a:sym typeface="Courier New"/>
              </a:rPr>
              <a:t>]):</a:t>
            </a:r>
            <a:endParaRPr sz="1050">
              <a:solidFill>
                <a:srgbClr val="292929"/>
              </a:solidFill>
              <a:highlight>
                <a:srgbClr val="FFFFFF"/>
              </a:highlight>
              <a:latin typeface="Courier New"/>
              <a:ea typeface="Courier New"/>
              <a:cs typeface="Courier New"/>
              <a:sym typeface="Courier New"/>
            </a:endParaRPr>
          </a:p>
          <a:p>
            <a:pPr marL="0" lvl="0" indent="0" algn="l" rtl="0">
              <a:lnSpc>
                <a:spcPct val="135714"/>
              </a:lnSpc>
              <a:spcBef>
                <a:spcPts val="0"/>
              </a:spcBef>
              <a:spcAft>
                <a:spcPts val="0"/>
              </a:spcAft>
              <a:buClr>
                <a:schemeClr val="dk1"/>
              </a:buClr>
              <a:buSzPct val="104761"/>
              <a:buFont typeface="Arial"/>
              <a:buNone/>
            </a:pPr>
            <a:r>
              <a:rPr lang="ru" sz="1050">
                <a:solidFill>
                  <a:srgbClr val="292929"/>
                </a:solidFill>
                <a:highlight>
                  <a:srgbClr val="FFFFFF"/>
                </a:highlight>
                <a:latin typeface="Courier New"/>
                <a:ea typeface="Courier New"/>
                <a:cs typeface="Courier New"/>
                <a:sym typeface="Courier New"/>
              </a:rPr>
              <a:t>    start, end </a:t>
            </a:r>
            <a:r>
              <a:rPr lang="ru" sz="1050">
                <a:solidFill>
                  <a:schemeClr val="dk1"/>
                </a:solidFill>
                <a:highlight>
                  <a:srgbClr val="FFFFFF"/>
                </a:highlight>
                <a:latin typeface="Courier New"/>
                <a:ea typeface="Courier New"/>
                <a:cs typeface="Courier New"/>
                <a:sym typeface="Courier New"/>
              </a:rPr>
              <a:t>=</a:t>
            </a:r>
            <a:r>
              <a:rPr lang="ru" sz="1050">
                <a:solidFill>
                  <a:srgbClr val="292929"/>
                </a:solidFill>
                <a:highlight>
                  <a:srgbClr val="FFFFFF"/>
                </a:highlight>
                <a:latin typeface="Courier New"/>
                <a:ea typeface="Courier New"/>
                <a:cs typeface="Courier New"/>
                <a:sym typeface="Courier New"/>
              </a:rPr>
              <a:t> arg</a:t>
            </a:r>
            <a:endParaRPr sz="1050">
              <a:solidFill>
                <a:srgbClr val="292929"/>
              </a:solidFill>
              <a:highlight>
                <a:srgbClr val="FFFFFF"/>
              </a:highlight>
              <a:latin typeface="Courier New"/>
              <a:ea typeface="Courier New"/>
              <a:cs typeface="Courier New"/>
              <a:sym typeface="Courier New"/>
            </a:endParaRPr>
          </a:p>
          <a:p>
            <a:pPr marL="0" lvl="0" indent="0" algn="l" rtl="0">
              <a:lnSpc>
                <a:spcPct val="135714"/>
              </a:lnSpc>
              <a:spcBef>
                <a:spcPts val="0"/>
              </a:spcBef>
              <a:spcAft>
                <a:spcPts val="0"/>
              </a:spcAft>
              <a:buClr>
                <a:schemeClr val="dk1"/>
              </a:buClr>
              <a:buSzPct val="104761"/>
              <a:buFont typeface="Arial"/>
              <a:buNone/>
            </a:pPr>
            <a:r>
              <a:rPr lang="ru" sz="1050">
                <a:solidFill>
                  <a:srgbClr val="292929"/>
                </a:solidFill>
                <a:highlight>
                  <a:srgbClr val="FFFFFF"/>
                </a:highlight>
                <a:latin typeface="Courier New"/>
                <a:ea typeface="Courier New"/>
                <a:cs typeface="Courier New"/>
                <a:sym typeface="Courier New"/>
              </a:rPr>
              <a:t>    </a:t>
            </a:r>
            <a:r>
              <a:rPr lang="ru" sz="1050">
                <a:solidFill>
                  <a:srgbClr val="B5200D"/>
                </a:solidFill>
                <a:highlight>
                  <a:srgbClr val="FFFFFF"/>
                </a:highlight>
                <a:latin typeface="Courier New"/>
                <a:ea typeface="Courier New"/>
                <a:cs typeface="Courier New"/>
                <a:sym typeface="Courier New"/>
              </a:rPr>
              <a:t>with</a:t>
            </a:r>
            <a:r>
              <a:rPr lang="ru" sz="1050">
                <a:solidFill>
                  <a:srgbClr val="292929"/>
                </a:solidFill>
                <a:highlight>
                  <a:srgbClr val="FFFFFF"/>
                </a:highlight>
                <a:latin typeface="Courier New"/>
                <a:ea typeface="Courier New"/>
                <a:cs typeface="Courier New"/>
                <a:sym typeface="Courier New"/>
              </a:rPr>
              <a:t> httpx.Client() </a:t>
            </a:r>
            <a:r>
              <a:rPr lang="ru" sz="1050">
                <a:solidFill>
                  <a:srgbClr val="B5200D"/>
                </a:solidFill>
                <a:highlight>
                  <a:srgbClr val="FFFFFF"/>
                </a:highlight>
                <a:latin typeface="Courier New"/>
                <a:ea typeface="Courier New"/>
                <a:cs typeface="Courier New"/>
                <a:sym typeface="Courier New"/>
              </a:rPr>
              <a:t>as</a:t>
            </a:r>
            <a:r>
              <a:rPr lang="ru" sz="1050">
                <a:solidFill>
                  <a:srgbClr val="292929"/>
                </a:solidFill>
                <a:highlight>
                  <a:srgbClr val="FFFFFF"/>
                </a:highlight>
                <a:latin typeface="Courier New"/>
                <a:ea typeface="Courier New"/>
                <a:cs typeface="Courier New"/>
                <a:sym typeface="Courier New"/>
              </a:rPr>
              <a:t> client:</a:t>
            </a:r>
            <a:endParaRPr sz="1050">
              <a:solidFill>
                <a:srgbClr val="292929"/>
              </a:solidFill>
              <a:highlight>
                <a:srgbClr val="FFFFFF"/>
              </a:highlight>
              <a:latin typeface="Courier New"/>
              <a:ea typeface="Courier New"/>
              <a:cs typeface="Courier New"/>
              <a:sym typeface="Courier New"/>
            </a:endParaRPr>
          </a:p>
          <a:p>
            <a:pPr marL="0" lvl="0" indent="0" algn="l" rtl="0">
              <a:lnSpc>
                <a:spcPct val="135714"/>
              </a:lnSpc>
              <a:spcBef>
                <a:spcPts val="0"/>
              </a:spcBef>
              <a:spcAft>
                <a:spcPts val="0"/>
              </a:spcAft>
              <a:buClr>
                <a:schemeClr val="dk1"/>
              </a:buClr>
              <a:buSzPct val="104761"/>
              <a:buFont typeface="Arial"/>
              <a:buNone/>
            </a:pPr>
            <a:r>
              <a:rPr lang="ru" sz="1050">
                <a:solidFill>
                  <a:srgbClr val="292929"/>
                </a:solidFill>
                <a:highlight>
                  <a:srgbClr val="FFFFFF"/>
                </a:highlight>
                <a:latin typeface="Courier New"/>
                <a:ea typeface="Courier New"/>
                <a:cs typeface="Courier New"/>
                <a:sym typeface="Courier New"/>
              </a:rPr>
              <a:t>        </a:t>
            </a:r>
            <a:r>
              <a:rPr lang="ru" sz="1050">
                <a:solidFill>
                  <a:srgbClr val="B5200D"/>
                </a:solidFill>
                <a:highlight>
                  <a:srgbClr val="FFFFFF"/>
                </a:highlight>
                <a:latin typeface="Courier New"/>
                <a:ea typeface="Courier New"/>
                <a:cs typeface="Courier New"/>
                <a:sym typeface="Courier New"/>
              </a:rPr>
              <a:t>for</a:t>
            </a:r>
            <a:r>
              <a:rPr lang="ru" sz="1050">
                <a:solidFill>
                  <a:srgbClr val="292929"/>
                </a:solidFill>
                <a:highlight>
                  <a:srgbClr val="FFFFFF"/>
                </a:highlight>
                <a:latin typeface="Courier New"/>
                <a:ea typeface="Courier New"/>
                <a:cs typeface="Courier New"/>
                <a:sym typeface="Courier New"/>
              </a:rPr>
              <a:t> i </a:t>
            </a:r>
            <a:r>
              <a:rPr lang="ru" sz="1050">
                <a:solidFill>
                  <a:srgbClr val="B5200D"/>
                </a:solidFill>
                <a:highlight>
                  <a:srgbClr val="FFFFFF"/>
                </a:highlight>
                <a:latin typeface="Courier New"/>
                <a:ea typeface="Courier New"/>
                <a:cs typeface="Courier New"/>
                <a:sym typeface="Courier New"/>
              </a:rPr>
              <a:t>in</a:t>
            </a:r>
            <a:r>
              <a:rPr lang="ru" sz="1050">
                <a:solidFill>
                  <a:srgbClr val="292929"/>
                </a:solidFill>
                <a:highlight>
                  <a:srgbClr val="FFFFFF"/>
                </a:highlight>
                <a:latin typeface="Courier New"/>
                <a:ea typeface="Courier New"/>
                <a:cs typeface="Courier New"/>
                <a:sym typeface="Courier New"/>
              </a:rPr>
              <a:t> </a:t>
            </a:r>
            <a:r>
              <a:rPr lang="ru" sz="1050">
                <a:solidFill>
                  <a:srgbClr val="5E2CBC"/>
                </a:solidFill>
                <a:highlight>
                  <a:srgbClr val="FFFFFF"/>
                </a:highlight>
                <a:latin typeface="Courier New"/>
                <a:ea typeface="Courier New"/>
                <a:cs typeface="Courier New"/>
                <a:sym typeface="Courier New"/>
              </a:rPr>
              <a:t>range</a:t>
            </a:r>
            <a:r>
              <a:rPr lang="ru" sz="1050">
                <a:solidFill>
                  <a:srgbClr val="292929"/>
                </a:solidFill>
                <a:highlight>
                  <a:srgbClr val="FFFFFF"/>
                </a:highlight>
                <a:latin typeface="Courier New"/>
                <a:ea typeface="Courier New"/>
                <a:cs typeface="Courier New"/>
                <a:sym typeface="Courier New"/>
              </a:rPr>
              <a:t>(start, end </a:t>
            </a:r>
            <a:r>
              <a:rPr lang="ru" sz="1050">
                <a:solidFill>
                  <a:schemeClr val="dk1"/>
                </a:solidFill>
                <a:highlight>
                  <a:srgbClr val="FFFFFF"/>
                </a:highlight>
                <a:latin typeface="Courier New"/>
                <a:ea typeface="Courier New"/>
                <a:cs typeface="Courier New"/>
                <a:sym typeface="Courier New"/>
              </a:rPr>
              <a:t>+</a:t>
            </a:r>
            <a:r>
              <a:rPr lang="ru" sz="1050">
                <a:solidFill>
                  <a:srgbClr val="292929"/>
                </a:solidFill>
                <a:highlight>
                  <a:srgbClr val="FFFFFF"/>
                </a:highlight>
                <a:latin typeface="Courier New"/>
                <a:ea typeface="Courier New"/>
                <a:cs typeface="Courier New"/>
                <a:sym typeface="Courier New"/>
              </a:rPr>
              <a:t> </a:t>
            </a:r>
            <a:r>
              <a:rPr lang="ru" sz="1050">
                <a:solidFill>
                  <a:srgbClr val="096D48"/>
                </a:solidFill>
                <a:highlight>
                  <a:srgbClr val="FFFFFF"/>
                </a:highlight>
                <a:latin typeface="Courier New"/>
                <a:ea typeface="Courier New"/>
                <a:cs typeface="Courier New"/>
                <a:sym typeface="Courier New"/>
              </a:rPr>
              <a:t>1</a:t>
            </a:r>
            <a:r>
              <a:rPr lang="ru" sz="1050">
                <a:solidFill>
                  <a:srgbClr val="292929"/>
                </a:solidFill>
                <a:highlight>
                  <a:srgbClr val="FFFFFF"/>
                </a:highlight>
                <a:latin typeface="Courier New"/>
                <a:ea typeface="Courier New"/>
                <a:cs typeface="Courier New"/>
                <a:sym typeface="Courier New"/>
              </a:rPr>
              <a:t>):</a:t>
            </a:r>
            <a:endParaRPr sz="1050">
              <a:solidFill>
                <a:srgbClr val="292929"/>
              </a:solidFill>
              <a:highlight>
                <a:srgbClr val="FFFFFF"/>
              </a:highlight>
              <a:latin typeface="Courier New"/>
              <a:ea typeface="Courier New"/>
              <a:cs typeface="Courier New"/>
              <a:sym typeface="Courier New"/>
            </a:endParaRPr>
          </a:p>
          <a:p>
            <a:pPr marL="0" lvl="0" indent="0" algn="l" rtl="0">
              <a:lnSpc>
                <a:spcPct val="135714"/>
              </a:lnSpc>
              <a:spcBef>
                <a:spcPts val="0"/>
              </a:spcBef>
              <a:spcAft>
                <a:spcPts val="0"/>
              </a:spcAft>
              <a:buNone/>
            </a:pPr>
            <a:r>
              <a:rPr lang="ru" sz="1050">
                <a:solidFill>
                  <a:srgbClr val="292929"/>
                </a:solidFill>
                <a:highlight>
                  <a:srgbClr val="FFFFFF"/>
                </a:highlight>
                <a:latin typeface="Courier New"/>
                <a:ea typeface="Courier New"/>
                <a:cs typeface="Courier New"/>
                <a:sym typeface="Courier New"/>
              </a:rPr>
              <a:t>          client.get(</a:t>
            </a:r>
            <a:r>
              <a:rPr lang="ru" sz="1050">
                <a:solidFill>
                  <a:srgbClr val="0F4A85"/>
                </a:solidFill>
                <a:highlight>
                  <a:srgbClr val="FFFFFF"/>
                </a:highlight>
                <a:latin typeface="Courier New"/>
                <a:ea typeface="Courier New"/>
                <a:cs typeface="Courier New"/>
                <a:sym typeface="Courier New"/>
              </a:rPr>
              <a:t>f'http://jsonplaceholder.typicode.com/posts/{</a:t>
            </a:r>
            <a:r>
              <a:rPr lang="ru" sz="1050">
                <a:solidFill>
                  <a:srgbClr val="292929"/>
                </a:solidFill>
                <a:highlight>
                  <a:srgbClr val="FFFFFF"/>
                </a:highlight>
                <a:latin typeface="Courier New"/>
                <a:ea typeface="Courier New"/>
                <a:cs typeface="Courier New"/>
                <a:sym typeface="Courier New"/>
              </a:rPr>
              <a:t>i</a:t>
            </a:r>
            <a:r>
              <a:rPr lang="ru" sz="1050">
                <a:solidFill>
                  <a:srgbClr val="0F4A85"/>
                </a:solidFill>
                <a:highlight>
                  <a:srgbClr val="FFFFFF"/>
                </a:highlight>
                <a:latin typeface="Courier New"/>
                <a:ea typeface="Courier New"/>
                <a:cs typeface="Courier New"/>
                <a:sym typeface="Courier New"/>
              </a:rPr>
              <a:t>}'</a:t>
            </a:r>
            <a:r>
              <a:rPr lang="ru" sz="1050">
                <a:solidFill>
                  <a:srgbClr val="292929"/>
                </a:solidFill>
                <a:highlight>
                  <a:srgbClr val="FFFFFF"/>
                </a:highlight>
                <a:latin typeface="Courier New"/>
                <a:ea typeface="Courier New"/>
                <a:cs typeface="Courier New"/>
                <a:sym typeface="Courier New"/>
              </a:rPr>
              <a:t>)</a:t>
            </a:r>
            <a:endParaRPr/>
          </a:p>
          <a:p>
            <a:pPr marL="0" lvl="0" indent="0" algn="l" rtl="0">
              <a:spcBef>
                <a:spcPts val="0"/>
              </a:spcBef>
              <a:spcAft>
                <a:spcPts val="1200"/>
              </a:spcAft>
              <a:buNone/>
            </a:pPr>
            <a:endParaRPr/>
          </a:p>
        </p:txBody>
      </p:sp>
      <p:sp>
        <p:nvSpPr>
          <p:cNvPr id="196" name="Google Shape;196;p30"/>
          <p:cNvSpPr txBox="1">
            <a:spLocks noGrp="1"/>
          </p:cNvSpPr>
          <p:nvPr>
            <p:ph type="body" idx="1"/>
          </p:nvPr>
        </p:nvSpPr>
        <p:spPr>
          <a:xfrm>
            <a:off x="147950" y="1345100"/>
            <a:ext cx="3242400" cy="533100"/>
          </a:xfrm>
          <a:prstGeom prst="rect">
            <a:avLst/>
          </a:prstGeom>
        </p:spPr>
        <p:txBody>
          <a:bodyPr spcFirstLastPara="1" wrap="square" lIns="91425" tIns="91425" rIns="91425" bIns="91425" anchor="t" anchorCtr="0">
            <a:normAutofit fontScale="70000" lnSpcReduction="20000"/>
          </a:bodyPr>
          <a:lstStyle/>
          <a:p>
            <a:pPr marL="0" lvl="0" indent="0" algn="l" rtl="0">
              <a:spcBef>
                <a:spcPts val="0"/>
              </a:spcBef>
              <a:spcAft>
                <a:spcPts val="1200"/>
              </a:spcAft>
              <a:buNone/>
            </a:pPr>
            <a:r>
              <a:rPr lang="ru"/>
              <a:t>CPU-bound:</a:t>
            </a:r>
            <a:endParaRPr/>
          </a:p>
        </p:txBody>
      </p:sp>
      <p:sp>
        <p:nvSpPr>
          <p:cNvPr id="197" name="Google Shape;197;p30"/>
          <p:cNvSpPr txBox="1">
            <a:spLocks noGrp="1"/>
          </p:cNvSpPr>
          <p:nvPr>
            <p:ph type="body" idx="1"/>
          </p:nvPr>
        </p:nvSpPr>
        <p:spPr>
          <a:xfrm>
            <a:off x="3438300" y="1345100"/>
            <a:ext cx="5394000" cy="533100"/>
          </a:xfrm>
          <a:prstGeom prst="rect">
            <a:avLst/>
          </a:prstGeom>
        </p:spPr>
        <p:txBody>
          <a:bodyPr spcFirstLastPara="1" wrap="square" lIns="91425" tIns="91425" rIns="91425" bIns="91425" anchor="t" anchorCtr="0">
            <a:normAutofit fontScale="70000" lnSpcReduction="20000"/>
          </a:bodyPr>
          <a:lstStyle/>
          <a:p>
            <a:pPr marL="0" lvl="0" indent="0" algn="l" rtl="0">
              <a:spcBef>
                <a:spcPts val="0"/>
              </a:spcBef>
              <a:spcAft>
                <a:spcPts val="1200"/>
              </a:spcAft>
              <a:buNone/>
            </a:pPr>
            <a:r>
              <a:rPr lang="ru"/>
              <a:t>IO-bound:</a:t>
            </a:r>
            <a:endParaRPr/>
          </a:p>
        </p:txBody>
      </p:sp>
      <p:sp>
        <p:nvSpPr>
          <p:cNvPr id="198" name="Google Shape;198;p3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ru"/>
              <a:t>20</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02"/>
        <p:cNvGrpSpPr/>
        <p:nvPr/>
      </p:nvGrpSpPr>
      <p:grpSpPr>
        <a:xfrm>
          <a:off x="0" y="0"/>
          <a:ext cx="0" cy="0"/>
          <a:chOff x="0" y="0"/>
          <a:chExt cx="0" cy="0"/>
        </a:xfrm>
      </p:grpSpPr>
      <p:sp>
        <p:nvSpPr>
          <p:cNvPr id="203" name="Google Shape;203;p31"/>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ru"/>
              <a:t>CPU-bound test: Results</a:t>
            </a:r>
            <a:endParaRPr/>
          </a:p>
        </p:txBody>
      </p:sp>
      <p:pic>
        <p:nvPicPr>
          <p:cNvPr id="204" name="Google Shape;204;p31"/>
          <p:cNvPicPr preferRelativeResize="0"/>
          <p:nvPr/>
        </p:nvPicPr>
        <p:blipFill>
          <a:blip r:embed="rId3">
            <a:alphaModFix/>
          </a:blip>
          <a:srcRect t="8304"/>
          <a:stretch>
            <a:fillRect/>
          </a:stretch>
        </p:blipFill>
        <p:spPr>
          <a:xfrm>
            <a:off x="153000" y="1291084"/>
            <a:ext cx="8838000" cy="2561331"/>
          </a:xfrm>
          <a:prstGeom prst="rect">
            <a:avLst/>
          </a:prstGeom>
          <a:noFill/>
          <a:ln>
            <a:noFill/>
          </a:ln>
        </p:spPr>
      </p:pic>
      <p:sp>
        <p:nvSpPr>
          <p:cNvPr id="206" name="Google Shape;206;p3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ru"/>
              <a:t>21</a:t>
            </a:fld>
            <a:endParaRPr/>
          </a:p>
        </p:txBody>
      </p:sp>
      <p:sp>
        <p:nvSpPr>
          <p:cNvPr id="4" name="Google Shape;213;p32">
            <a:extLst>
              <a:ext uri="{FF2B5EF4-FFF2-40B4-BE49-F238E27FC236}">
                <a16:creationId xmlns:a16="http://schemas.microsoft.com/office/drawing/2014/main" id="{4E8EA90E-7D4C-9D77-A791-3C839089350E}"/>
              </a:ext>
            </a:extLst>
          </p:cNvPr>
          <p:cNvSpPr txBox="1">
            <a:spLocks/>
          </p:cNvSpPr>
          <p:nvPr/>
        </p:nvSpPr>
        <p:spPr>
          <a:xfrm>
            <a:off x="5683469" y="4681217"/>
            <a:ext cx="3063339" cy="3756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pPr marL="0" indent="0">
              <a:spcAft>
                <a:spcPts val="1200"/>
              </a:spcAft>
              <a:buFont typeface="Arial"/>
              <a:buNone/>
            </a:pPr>
            <a:r>
              <a:rPr lang="fi-FI" sz="1000" dirty="0"/>
              <a:t>Runs on AMD Ryzen 7 7840HS (Python 3.14.2)</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10"/>
        <p:cNvGrpSpPr/>
        <p:nvPr/>
      </p:nvGrpSpPr>
      <p:grpSpPr>
        <a:xfrm>
          <a:off x="0" y="0"/>
          <a:ext cx="0" cy="0"/>
          <a:chOff x="0" y="0"/>
          <a:chExt cx="0" cy="0"/>
        </a:xfrm>
      </p:grpSpPr>
      <p:sp>
        <p:nvSpPr>
          <p:cNvPr id="211" name="Google Shape;211;p32"/>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Clr>
                <a:schemeClr val="dk1"/>
              </a:buClr>
              <a:buSzPct val="39285"/>
              <a:buFont typeface="Arial"/>
              <a:buNone/>
            </a:pPr>
            <a:r>
              <a:rPr lang="ru"/>
              <a:t>IO-bound test: Results</a:t>
            </a:r>
            <a:endParaRPr/>
          </a:p>
        </p:txBody>
      </p:sp>
      <p:pic>
        <p:nvPicPr>
          <p:cNvPr id="212" name="Google Shape;212;p32"/>
          <p:cNvPicPr preferRelativeResize="0"/>
          <p:nvPr/>
        </p:nvPicPr>
        <p:blipFill>
          <a:blip r:embed="rId3">
            <a:alphaModFix/>
          </a:blip>
          <a:stretch>
            <a:fillRect/>
          </a:stretch>
        </p:blipFill>
        <p:spPr>
          <a:xfrm>
            <a:off x="152399" y="1288942"/>
            <a:ext cx="8839201" cy="2565615"/>
          </a:xfrm>
          <a:prstGeom prst="rect">
            <a:avLst/>
          </a:prstGeom>
          <a:noFill/>
          <a:ln>
            <a:noFill/>
          </a:ln>
        </p:spPr>
      </p:pic>
      <p:sp>
        <p:nvSpPr>
          <p:cNvPr id="213" name="Google Shape;213;p32"/>
          <p:cNvSpPr txBox="1">
            <a:spLocks noGrp="1"/>
          </p:cNvSpPr>
          <p:nvPr>
            <p:ph type="body" idx="1"/>
          </p:nvPr>
        </p:nvSpPr>
        <p:spPr>
          <a:xfrm>
            <a:off x="5683469" y="4681217"/>
            <a:ext cx="3063339" cy="375600"/>
          </a:xfrm>
          <a:prstGeom prst="rect">
            <a:avLst/>
          </a:prstGeom>
        </p:spPr>
        <p:txBody>
          <a:bodyPr spcFirstLastPara="1" wrap="square" lIns="91425" tIns="91425" rIns="91425" bIns="91425" anchor="t" anchorCtr="0">
            <a:noAutofit/>
          </a:bodyPr>
          <a:lstStyle/>
          <a:p>
            <a:pPr marL="0" lvl="0" indent="0" algn="l" rtl="0">
              <a:spcBef>
                <a:spcPts val="0"/>
              </a:spcBef>
              <a:spcAft>
                <a:spcPts val="1200"/>
              </a:spcAft>
              <a:buNone/>
            </a:pPr>
            <a:r>
              <a:rPr lang="ru" sz="1000" dirty="0"/>
              <a:t>Runs on AMD Ryzen 7 7840HS</a:t>
            </a:r>
            <a:r>
              <a:rPr lang="en-US" sz="1000" dirty="0"/>
              <a:t> (Python 3.14.2)</a:t>
            </a:r>
            <a:endParaRPr sz="1000" dirty="0"/>
          </a:p>
        </p:txBody>
      </p:sp>
      <p:sp>
        <p:nvSpPr>
          <p:cNvPr id="214" name="Google Shape;214;p3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ru"/>
              <a:t>22</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18"/>
        <p:cNvGrpSpPr/>
        <p:nvPr/>
      </p:nvGrpSpPr>
      <p:grpSpPr>
        <a:xfrm>
          <a:off x="0" y="0"/>
          <a:ext cx="0" cy="0"/>
          <a:chOff x="0" y="0"/>
          <a:chExt cx="0" cy="0"/>
        </a:xfrm>
      </p:grpSpPr>
      <p:sp>
        <p:nvSpPr>
          <p:cNvPr id="219" name="Google Shape;219;p33"/>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ru" dirty="0"/>
              <a:t>Results</a:t>
            </a:r>
            <a:endParaRPr dirty="0"/>
          </a:p>
        </p:txBody>
      </p:sp>
      <p:sp>
        <p:nvSpPr>
          <p:cNvPr id="220" name="Google Shape;220;p33"/>
          <p:cNvSpPr txBox="1">
            <a:spLocks noGrp="1"/>
          </p:cNvSpPr>
          <p:nvPr>
            <p:ph type="body" idx="1"/>
          </p:nvPr>
        </p:nvSpPr>
        <p:spPr>
          <a:xfrm>
            <a:off x="311700" y="1152475"/>
            <a:ext cx="4260300" cy="3416400"/>
          </a:xfrm>
          <a:prstGeom prst="rect">
            <a:avLst/>
          </a:prstGeom>
        </p:spPr>
        <p:txBody>
          <a:bodyPr spcFirstLastPara="1" wrap="square" lIns="91425" tIns="91425" rIns="91425" bIns="91425" anchor="t" anchorCtr="0">
            <a:normAutofit/>
          </a:bodyPr>
          <a:lstStyle/>
          <a:p>
            <a:pPr marL="114300" lvl="0" indent="0">
              <a:buNone/>
            </a:pPr>
            <a:r>
              <a:rPr lang="en-US" sz="2000" dirty="0"/>
              <a:t>Advantages:</a:t>
            </a:r>
          </a:p>
          <a:p>
            <a:pPr marL="457200" lvl="0" indent="-342900" algn="l" rtl="0">
              <a:spcBef>
                <a:spcPts val="0"/>
              </a:spcBef>
              <a:spcAft>
                <a:spcPts val="0"/>
              </a:spcAft>
              <a:buSzPts val="1800"/>
              <a:buChar char="●"/>
            </a:pPr>
            <a:r>
              <a:rPr lang="ru" dirty="0"/>
              <a:t>Creating a subinterpreter and running code on a new thread is an order of magnitude faster than creating a new process</a:t>
            </a:r>
            <a:endParaRPr lang="en-US" dirty="0"/>
          </a:p>
          <a:p>
            <a:pPr lvl="0"/>
            <a:r>
              <a:rPr lang="en-US" dirty="0"/>
              <a:t>Allows isolating Python execution environments inside one process, simplifying lifecycle management compared to process-based isolation in multiprocessing</a:t>
            </a:r>
            <a:endParaRPr dirty="0"/>
          </a:p>
        </p:txBody>
      </p:sp>
      <p:sp>
        <p:nvSpPr>
          <p:cNvPr id="221" name="Google Shape;221;p3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ru"/>
              <a:t>23</a:t>
            </a:fld>
            <a:endParaRPr/>
          </a:p>
        </p:txBody>
      </p:sp>
      <p:sp>
        <p:nvSpPr>
          <p:cNvPr id="2" name="Google Shape;220;p33">
            <a:extLst>
              <a:ext uri="{FF2B5EF4-FFF2-40B4-BE49-F238E27FC236}">
                <a16:creationId xmlns:a16="http://schemas.microsoft.com/office/drawing/2014/main" id="{F8108B9F-E7D3-B853-8E99-1B07DDDA8181}"/>
              </a:ext>
            </a:extLst>
          </p:cNvPr>
          <p:cNvSpPr txBox="1">
            <a:spLocks/>
          </p:cNvSpPr>
          <p:nvPr/>
        </p:nvSpPr>
        <p:spPr>
          <a:xfrm>
            <a:off x="4572000" y="1152475"/>
            <a:ext cx="4260300" cy="3416400"/>
          </a:xfrm>
          <a:prstGeom prst="rect">
            <a:avLst/>
          </a:prstGeom>
          <a:noFill/>
          <a:ln>
            <a:noFill/>
          </a:ln>
        </p:spPr>
        <p:txBody>
          <a:bodyPr spcFirstLastPara="1" wrap="square" lIns="91425" tIns="91425" rIns="91425" bIns="91425" anchor="t" anchorCtr="0">
            <a:normAutofit/>
          </a:bodyPr>
          <a:lstStyle>
            <a:defPPr marR="0" lvl="0" algn="l" rtl="0">
              <a:lnSpc>
                <a:spcPct val="100000"/>
              </a:lnSpc>
              <a:spcBef>
                <a:spcPts val="0"/>
              </a:spcBef>
              <a:spcAft>
                <a:spcPts val="0"/>
              </a:spcAft>
            </a:defPPr>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pPr marL="114300" indent="0">
              <a:buNone/>
            </a:pPr>
            <a:r>
              <a:rPr lang="en-US" sz="2000" dirty="0"/>
              <a:t>Disadvantages:</a:t>
            </a:r>
          </a:p>
          <a:p>
            <a:r>
              <a:rPr lang="en-US" dirty="0"/>
              <a:t>multiprocessing.Queue faster than concurrent.interpreters.Queue</a:t>
            </a:r>
          </a:p>
          <a:p>
            <a:r>
              <a:rPr lang="en-US" dirty="0"/>
              <a:t>In CPU-bound and IO-bound tests, subinterpreters don’t give a significant advantage in comparison with other parallelism methods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25"/>
        <p:cNvGrpSpPr/>
        <p:nvPr/>
      </p:nvGrpSpPr>
      <p:grpSpPr>
        <a:xfrm>
          <a:off x="0" y="0"/>
          <a:ext cx="0" cy="0"/>
          <a:chOff x="0" y="0"/>
          <a:chExt cx="0" cy="0"/>
        </a:xfrm>
      </p:grpSpPr>
      <p:sp>
        <p:nvSpPr>
          <p:cNvPr id="226" name="Google Shape;226;p3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ru" dirty="0"/>
              <a:t>References</a:t>
            </a:r>
            <a:endParaRPr dirty="0"/>
          </a:p>
        </p:txBody>
      </p:sp>
      <p:sp>
        <p:nvSpPr>
          <p:cNvPr id="227" name="Google Shape;227;p34"/>
          <p:cNvSpPr txBox="1">
            <a:spLocks noGrp="1"/>
          </p:cNvSpPr>
          <p:nvPr>
            <p:ph type="body" idx="1"/>
          </p:nvPr>
        </p:nvSpPr>
        <p:spPr>
          <a:xfrm>
            <a:off x="311700" y="1152475"/>
            <a:ext cx="8520600" cy="3779100"/>
          </a:xfrm>
          <a:prstGeom prst="rect">
            <a:avLst/>
          </a:prstGeom>
        </p:spPr>
        <p:txBody>
          <a:bodyPr spcFirstLastPara="1" wrap="square" lIns="91425" tIns="91425" rIns="91425" bIns="91425" anchor="t" anchorCtr="0">
            <a:normAutofit fontScale="85000" lnSpcReduction="20000"/>
          </a:bodyPr>
          <a:lstStyle/>
          <a:p>
            <a:pPr marL="0" lvl="0" indent="0" algn="l" rtl="0">
              <a:spcBef>
                <a:spcPts val="0"/>
              </a:spcBef>
              <a:spcAft>
                <a:spcPts val="0"/>
              </a:spcAft>
              <a:buNone/>
            </a:pPr>
            <a:r>
              <a:rPr lang="ru" u="sng" dirty="0">
                <a:solidFill>
                  <a:schemeClr val="hlink"/>
                </a:solidFill>
                <a:hlinkClick r:id="rId3"/>
              </a:rPr>
              <a:t>https://peps.python.org/pep-0554/</a:t>
            </a:r>
            <a:endParaRPr dirty="0"/>
          </a:p>
          <a:p>
            <a:pPr marL="0" lvl="0" indent="0" algn="l" rtl="0">
              <a:spcBef>
                <a:spcPts val="1200"/>
              </a:spcBef>
              <a:spcAft>
                <a:spcPts val="0"/>
              </a:spcAft>
              <a:buNone/>
            </a:pPr>
            <a:r>
              <a:rPr lang="ru" u="sng" dirty="0">
                <a:solidFill>
                  <a:schemeClr val="hlink"/>
                </a:solidFill>
                <a:hlinkClick r:id="rId4"/>
              </a:rPr>
              <a:t>https://peps.python.org/pep-0683/</a:t>
            </a:r>
            <a:endParaRPr dirty="0"/>
          </a:p>
          <a:p>
            <a:pPr marL="0" lvl="0" indent="0" algn="l" rtl="0">
              <a:spcBef>
                <a:spcPts val="1200"/>
              </a:spcBef>
              <a:spcAft>
                <a:spcPts val="0"/>
              </a:spcAft>
              <a:buNone/>
            </a:pPr>
            <a:r>
              <a:rPr lang="ru" u="sng" dirty="0">
                <a:solidFill>
                  <a:schemeClr val="hlink"/>
                </a:solidFill>
                <a:hlinkClick r:id="rId5"/>
              </a:rPr>
              <a:t>https://peps.python.org/pep-0684/</a:t>
            </a:r>
            <a:endParaRPr dirty="0"/>
          </a:p>
          <a:p>
            <a:pPr marL="0" lvl="0" indent="0" algn="l" rtl="0">
              <a:spcBef>
                <a:spcPts val="1200"/>
              </a:spcBef>
              <a:spcAft>
                <a:spcPts val="0"/>
              </a:spcAft>
              <a:buNone/>
            </a:pPr>
            <a:r>
              <a:rPr lang="ru" u="sng" dirty="0">
                <a:solidFill>
                  <a:schemeClr val="hlink"/>
                </a:solidFill>
                <a:hlinkClick r:id="rId6"/>
              </a:rPr>
              <a:t>https://peps.python.org/pep-0687/</a:t>
            </a:r>
            <a:endParaRPr dirty="0"/>
          </a:p>
          <a:p>
            <a:pPr marL="0" lvl="0" indent="0" algn="l" rtl="0">
              <a:spcBef>
                <a:spcPts val="1200"/>
              </a:spcBef>
              <a:spcAft>
                <a:spcPts val="0"/>
              </a:spcAft>
              <a:buNone/>
            </a:pPr>
            <a:r>
              <a:rPr lang="ru" u="sng" dirty="0">
                <a:solidFill>
                  <a:schemeClr val="hlink"/>
                </a:solidFill>
                <a:hlinkClick r:id="rId7"/>
              </a:rPr>
              <a:t>https://peps.python.org/pep-0734/</a:t>
            </a:r>
            <a:endParaRPr dirty="0"/>
          </a:p>
          <a:p>
            <a:pPr marL="0" lvl="0" indent="0" algn="l" rtl="0">
              <a:spcBef>
                <a:spcPts val="1200"/>
              </a:spcBef>
              <a:spcAft>
                <a:spcPts val="0"/>
              </a:spcAft>
              <a:buNone/>
            </a:pPr>
            <a:r>
              <a:rPr lang="ru" u="sng" dirty="0">
                <a:solidFill>
                  <a:schemeClr val="hlink"/>
                </a:solidFill>
                <a:hlinkClick r:id="rId8"/>
              </a:rPr>
              <a:t>https://docs.python.org/3/library/concurrent.interpreters.html#module-concurrent.interpreters</a:t>
            </a:r>
            <a:endParaRPr dirty="0"/>
          </a:p>
          <a:p>
            <a:pPr marL="0" lvl="0" indent="0" algn="l" rtl="0">
              <a:spcBef>
                <a:spcPts val="1200"/>
              </a:spcBef>
              <a:spcAft>
                <a:spcPts val="0"/>
              </a:spcAft>
              <a:buNone/>
            </a:pPr>
            <a:r>
              <a:rPr lang="ru" u="sng" dirty="0">
                <a:solidFill>
                  <a:schemeClr val="hlink"/>
                </a:solidFill>
                <a:hlinkClick r:id="rId9"/>
              </a:rPr>
              <a:t>https://habr.com/ru/companies/timeweb/articles/922314/</a:t>
            </a:r>
            <a:endParaRPr dirty="0"/>
          </a:p>
          <a:p>
            <a:pPr marL="0" lvl="0" indent="0" algn="l" rtl="0">
              <a:spcBef>
                <a:spcPts val="1200"/>
              </a:spcBef>
              <a:spcAft>
                <a:spcPts val="0"/>
              </a:spcAft>
              <a:buNone/>
            </a:pPr>
            <a:r>
              <a:rPr lang="ru" u="sng" dirty="0">
                <a:solidFill>
                  <a:schemeClr val="hlink"/>
                </a:solidFill>
                <a:hlinkClick r:id="rId10"/>
              </a:rPr>
              <a:t>https://youtu.be/VBiaNNpLzWA?si=yLqYuN3pbb5TpHGe</a:t>
            </a:r>
            <a:endParaRPr dirty="0"/>
          </a:p>
          <a:p>
            <a:pPr marL="0" lvl="0" indent="0" algn="l" rtl="0">
              <a:spcBef>
                <a:spcPts val="1200"/>
              </a:spcBef>
              <a:spcAft>
                <a:spcPts val="0"/>
              </a:spcAft>
              <a:buNone/>
            </a:pPr>
            <a:r>
              <a:rPr lang="ru" u="sng" dirty="0">
                <a:solidFill>
                  <a:schemeClr val="hlink"/>
                </a:solidFill>
                <a:hlinkClick r:id="rId11"/>
              </a:rPr>
              <a:t>https://gist.github.com/sobolevn/149a461c629f6e03aef3a772c7422b2e</a:t>
            </a:r>
            <a:endParaRPr lang="en-US" u="sng" dirty="0">
              <a:solidFill>
                <a:schemeClr val="hlink"/>
              </a:solidFill>
            </a:endParaRPr>
          </a:p>
          <a:p>
            <a:pPr marL="0" lvl="0" indent="0">
              <a:spcBef>
                <a:spcPts val="1200"/>
              </a:spcBef>
              <a:buNone/>
            </a:pPr>
            <a:r>
              <a:rPr lang="en-US" dirty="0">
                <a:hlinkClick r:id="rId12"/>
              </a:rPr>
              <a:t>https://github.com/SSStas/mipt-python-course/tree/main/subinterpreters_project</a:t>
            </a:r>
            <a:endParaRPr lang="en-US" dirty="0"/>
          </a:p>
          <a:p>
            <a:pPr marL="0" lvl="0" indent="0">
              <a:spcBef>
                <a:spcPts val="1200"/>
              </a:spcBef>
              <a:buNone/>
            </a:pPr>
            <a:endParaRPr lang="en-US" dirty="0"/>
          </a:p>
          <a:p>
            <a:pPr marL="0" lvl="0" indent="0">
              <a:spcBef>
                <a:spcPts val="1200"/>
              </a:spcBef>
              <a:buNone/>
            </a:pPr>
            <a:endParaRPr lang="en-US" dirty="0"/>
          </a:p>
          <a:p>
            <a:pPr marL="0" lvl="0" indent="0">
              <a:spcBef>
                <a:spcPts val="1200"/>
              </a:spcBef>
              <a:buNone/>
            </a:pPr>
            <a:endParaRPr dirty="0"/>
          </a:p>
          <a:p>
            <a:pPr marL="0" lvl="0" indent="0" algn="l" rtl="0">
              <a:spcBef>
                <a:spcPts val="1200"/>
              </a:spcBef>
              <a:spcAft>
                <a:spcPts val="1200"/>
              </a:spcAft>
              <a:buNone/>
            </a:pPr>
            <a:endParaRPr dirty="0"/>
          </a:p>
        </p:txBody>
      </p:sp>
      <p:sp>
        <p:nvSpPr>
          <p:cNvPr id="228" name="Google Shape;228;p3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ru"/>
              <a:t>24</a:t>
            </a:fld>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260</TotalTime>
  <Words>1665</Words>
  <Application>Microsoft Office PowerPoint</Application>
  <PresentationFormat>Экран (16:9)</PresentationFormat>
  <Paragraphs>204</Paragraphs>
  <Slides>24</Slides>
  <Notes>24</Notes>
  <HiddenSlides>0</HiddenSlides>
  <MMClips>0</MMClips>
  <ScaleCrop>false</ScaleCrop>
  <HeadingPairs>
    <vt:vector size="6" baseType="variant">
      <vt:variant>
        <vt:lpstr>Использованные шрифты</vt:lpstr>
      </vt:variant>
      <vt:variant>
        <vt:i4>3</vt:i4>
      </vt:variant>
      <vt:variant>
        <vt:lpstr>Тема</vt:lpstr>
      </vt:variant>
      <vt:variant>
        <vt:i4>1</vt:i4>
      </vt:variant>
      <vt:variant>
        <vt:lpstr>Заголовки слайдов</vt:lpstr>
      </vt:variant>
      <vt:variant>
        <vt:i4>24</vt:i4>
      </vt:variant>
    </vt:vector>
  </HeadingPairs>
  <TitlesOfParts>
    <vt:vector size="28" baseType="lpstr">
      <vt:lpstr>Arial</vt:lpstr>
      <vt:lpstr>Consolas</vt:lpstr>
      <vt:lpstr>Courier New</vt:lpstr>
      <vt:lpstr>Simple Light</vt:lpstr>
      <vt:lpstr>Subinterpreters</vt:lpstr>
      <vt:lpstr>Definition</vt:lpstr>
      <vt:lpstr>Development history</vt:lpstr>
      <vt:lpstr>Development history</vt:lpstr>
      <vt:lpstr>Development history</vt:lpstr>
      <vt:lpstr>How parallelism works</vt:lpstr>
      <vt:lpstr>How to run code on a subinterpreter</vt:lpstr>
      <vt:lpstr>Subinterpreters states isolation check</vt:lpstr>
      <vt:lpstr>How to run code on a subinterpreter in a new thread</vt:lpstr>
      <vt:lpstr>Data transfer between interpreters</vt:lpstr>
      <vt:lpstr>Shareable and non-shareable objects in subinterpreters</vt:lpstr>
      <vt:lpstr>Alternatives for parallelism</vt:lpstr>
      <vt:lpstr>Start-Stop Time Test</vt:lpstr>
      <vt:lpstr>Start-Stop Time: Results</vt:lpstr>
      <vt:lpstr>Inter-Worker Time (Ping-Pong test)</vt:lpstr>
      <vt:lpstr>Inter-Worker Time (Ping-Pong test): Results</vt:lpstr>
      <vt:lpstr>Inter-Worker Time (Ping-Pong test): Results</vt:lpstr>
      <vt:lpstr>Full program work test: Calculation of a definite integral</vt:lpstr>
      <vt:lpstr>Full program work test: Results</vt:lpstr>
      <vt:lpstr>Found benchmarks</vt:lpstr>
      <vt:lpstr>CPU-bound test: Results</vt:lpstr>
      <vt:lpstr>IO-bound test: Results</vt:lpstr>
      <vt:lpstr>Results</vt:lpstr>
      <vt:lpstr>References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Stas Nikitin</cp:lastModifiedBy>
  <cp:revision>21</cp:revision>
  <dcterms:modified xsi:type="dcterms:W3CDTF">2026-01-14T21:07:03Z</dcterms:modified>
</cp:coreProperties>
</file>